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0" r:id="rId1"/>
  </p:sldMasterIdLst>
  <p:notesMasterIdLst>
    <p:notesMasterId r:id="rId21"/>
  </p:notesMasterIdLst>
  <p:sldIdLst>
    <p:sldId id="256" r:id="rId2"/>
    <p:sldId id="271" r:id="rId3"/>
    <p:sldId id="280" r:id="rId4"/>
    <p:sldId id="283" r:id="rId5"/>
    <p:sldId id="281" r:id="rId6"/>
    <p:sldId id="282" r:id="rId7"/>
    <p:sldId id="284" r:id="rId8"/>
    <p:sldId id="260" r:id="rId9"/>
    <p:sldId id="263" r:id="rId10"/>
    <p:sldId id="273" r:id="rId11"/>
    <p:sldId id="285" r:id="rId12"/>
    <p:sldId id="274" r:id="rId13"/>
    <p:sldId id="264" r:id="rId14"/>
    <p:sldId id="265" r:id="rId15"/>
    <p:sldId id="277" r:id="rId16"/>
    <p:sldId id="278" r:id="rId17"/>
    <p:sldId id="266" r:id="rId18"/>
    <p:sldId id="267" r:id="rId19"/>
    <p:sldId id="279" r:id="rId20"/>
  </p:sldIdLst>
  <p:sldSz cx="12192000" cy="6858000"/>
  <p:notesSz cx="6858000" cy="12192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43" autoAdjust="0"/>
    <p:restoredTop sz="94610"/>
  </p:normalViewPr>
  <p:slideViewPr>
    <p:cSldViewPr snapToGrid="0" snapToObjects="1">
      <p:cViewPr varScale="1">
        <p:scale>
          <a:sx n="48" d="100"/>
          <a:sy n="48" d="100"/>
        </p:scale>
        <p:origin x="53" y="8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8051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introducing the overall testing project and explain that the Selenium IDE videos will be inserted into the placeholders in the following slides.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CEBF44-B035-C453-9109-48A067A2D0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897BF5-AB25-F1D0-78A2-C5495171F9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6D55F6-8887-A865-DEE9-977356AC3B1B}"/>
              </a:ext>
            </a:extLst>
          </p:cNvPr>
          <p:cNvSpPr>
            <a:spLocks noGrp="1"/>
          </p:cNvSpPr>
          <p:nvPr>
            <p:ph type="body" idx="1"/>
          </p:nvPr>
        </p:nvSpPr>
        <p:spPr/>
        <p:txBody>
          <a:bodyPr/>
          <a:lstStyle/>
          <a:p>
            <a:r>
              <a:rPr lang="en-US" dirty="0"/>
              <a:t>When presenting, play the login recording and point out that Dashboard is the success condition.</a:t>
            </a:r>
          </a:p>
        </p:txBody>
      </p:sp>
      <p:sp>
        <p:nvSpPr>
          <p:cNvPr id="4" name="Slide Number Placeholder 3">
            <a:extLst>
              <a:ext uri="{FF2B5EF4-FFF2-40B4-BE49-F238E27FC236}">
                <a16:creationId xmlns:a16="http://schemas.microsoft.com/office/drawing/2014/main" id="{97D07C4D-C4AC-7713-ED3F-057829E6B57F}"/>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287337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presenting, play the login recording and point out that Dashboard is the success condition.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most core functions were consistent, while the main risks were browser-specific UI differences and unstable demo data.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B9AEB-AC9F-7871-9879-0E80D0630D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BF3A90-1C3E-F574-7580-13CE4FB449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C67AA2-10B8-D79E-7358-E437C0F4BB8F}"/>
              </a:ext>
            </a:extLst>
          </p:cNvPr>
          <p:cNvSpPr>
            <a:spLocks noGrp="1"/>
          </p:cNvSpPr>
          <p:nvPr>
            <p:ph type="body" idx="1"/>
          </p:nvPr>
        </p:nvSpPr>
        <p:spPr/>
        <p:txBody>
          <a:bodyPr/>
          <a:lstStyle/>
          <a:p>
            <a:r>
              <a:rPr lang="en-US" dirty="0"/>
              <a:t>Explain that most core functions were consistent, while the main risks were browser-specific UI differences and unstable demo data.</a:t>
            </a:r>
          </a:p>
        </p:txBody>
      </p:sp>
      <p:sp>
        <p:nvSpPr>
          <p:cNvPr id="4" name="Slide Number Placeholder 3">
            <a:extLst>
              <a:ext uri="{FF2B5EF4-FFF2-40B4-BE49-F238E27FC236}">
                <a16:creationId xmlns:a16="http://schemas.microsoft.com/office/drawing/2014/main" id="{D292A4CA-81FF-06B7-21CC-833126B698C2}"/>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7543106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most core functions were consistent, while the main risks were browser-specific UI differences and unstable demo data.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9DB89-2CC5-83AD-A4CF-680E696F4E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0B3785-EE47-0350-D407-1AD8AC213B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99FE43-AED1-118D-5DB4-F6169CF612AE}"/>
              </a:ext>
            </a:extLst>
          </p:cNvPr>
          <p:cNvSpPr>
            <a:spLocks noGrp="1"/>
          </p:cNvSpPr>
          <p:nvPr>
            <p:ph type="body" idx="1"/>
          </p:nvPr>
        </p:nvSpPr>
        <p:spPr/>
        <p:txBody>
          <a:bodyPr/>
          <a:lstStyle/>
          <a:p>
            <a:r>
              <a:rPr lang="en-US" dirty="0"/>
              <a:t>Explain that most core functions were consistent, while the main risks were browser-specific UI differences and unstable demo data.</a:t>
            </a:r>
          </a:p>
        </p:txBody>
      </p:sp>
      <p:sp>
        <p:nvSpPr>
          <p:cNvPr id="4" name="Slide Number Placeholder 3">
            <a:extLst>
              <a:ext uri="{FF2B5EF4-FFF2-40B4-BE49-F238E27FC236}">
                <a16:creationId xmlns:a16="http://schemas.microsoft.com/office/drawing/2014/main" id="{614A49AE-7D79-5340-4B6A-D1920EAC68AB}"/>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7117455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summarize the performance report. The key story is that the system is stable at low load, degrades at 100 users, reaches breaking point near 300 users, and fails under 600-user stress.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 screenshot evidence to the Nielsen principles: status visibility, real-world match, user control, consistency, error prevention, and recovery.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B5EB1-3575-2B5A-02D1-DC801F0903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59841D-DA91-1C3F-CD5D-37C40D5FC6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B64A05-9BBF-5709-FFF9-0D80D951ADED}"/>
              </a:ext>
            </a:extLst>
          </p:cNvPr>
          <p:cNvSpPr>
            <a:spLocks noGrp="1"/>
          </p:cNvSpPr>
          <p:nvPr>
            <p:ph type="body" idx="1"/>
          </p:nvPr>
        </p:nvSpPr>
        <p:spPr/>
        <p:txBody>
          <a:bodyPr/>
          <a:lstStyle/>
          <a:p>
            <a:r>
              <a:rPr lang="en-US" dirty="0"/>
              <a:t>Connect the screenshot evidence to the Nielsen principles: status visibility, real-world match, user control, consistency, error prevention, and recovery.</a:t>
            </a:r>
          </a:p>
        </p:txBody>
      </p:sp>
      <p:sp>
        <p:nvSpPr>
          <p:cNvPr id="4" name="Slide Number Placeholder 3">
            <a:extLst>
              <a:ext uri="{FF2B5EF4-FFF2-40B4-BE49-F238E27FC236}">
                <a16:creationId xmlns:a16="http://schemas.microsoft.com/office/drawing/2014/main" id="{7309A9F4-8753-FA3C-B25E-2A41F9D67218}"/>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23589920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322E9-014E-A3EA-BAC6-A597394E51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DEF398-69D8-3BCB-7B06-E9123BBE60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8B9A1F-35AF-C361-2C1D-39667F5EC5F6}"/>
              </a:ext>
            </a:extLst>
          </p:cNvPr>
          <p:cNvSpPr>
            <a:spLocks noGrp="1"/>
          </p:cNvSpPr>
          <p:nvPr>
            <p:ph type="body" idx="1"/>
          </p:nvPr>
        </p:nvSpPr>
        <p:spPr/>
        <p:txBody>
          <a:bodyPr/>
          <a:lstStyle/>
          <a:p>
            <a:r>
              <a:rPr lang="en-US" dirty="0"/>
              <a:t>Connect the screenshot evidence to the Nielsen principles: status visibility, real-world match, user control, consistency, error prevention, and recovery.</a:t>
            </a:r>
          </a:p>
        </p:txBody>
      </p:sp>
      <p:sp>
        <p:nvSpPr>
          <p:cNvPr id="4" name="Slide Number Placeholder 3">
            <a:extLst>
              <a:ext uri="{FF2B5EF4-FFF2-40B4-BE49-F238E27FC236}">
                <a16:creationId xmlns:a16="http://schemas.microsoft.com/office/drawing/2014/main" id="{3AC212B8-4E67-2F1B-FB9B-4D4040EA14D8}"/>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6625812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conclusion before the final recommendation slide. Keep it short in the oral presentation.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guide slide for the live demo section.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final slide.</a:t>
            </a:r>
          </a:p>
        </p:txBody>
      </p:sp>
      <p:sp>
        <p:nvSpPr>
          <p:cNvPr id="4" name="Slide Number Placeholder 3"/>
          <p:cNvSpPr>
            <a:spLocks noGrp="1"/>
          </p:cNvSpPr>
          <p:nvPr>
            <p:ph type="sldNum" sz="quarter"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6BDA716-E02D-FB7B-5174-15908DDF846D}"/>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0ED8ED3B-3165-EA2D-F66E-67EE9C2A55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34810AE0-FC07-4ABB-1C30-608E2C5E3203}"/>
              </a:ext>
            </a:extLst>
          </p:cNvPr>
          <p:cNvSpPr>
            <a:spLocks noGrp="1"/>
          </p:cNvSpPr>
          <p:nvPr>
            <p:ph type="dt" sz="half" idx="10"/>
          </p:nvPr>
        </p:nvSpPr>
        <p:spPr/>
        <p:txBody>
          <a:bodyPr/>
          <a:lstStyle/>
          <a:p>
            <a:fld id="{C764DE79-268F-4C1A-8933-263129D2AF90}" type="datetimeFigureOut">
              <a:rPr lang="en-US" smtClean="0"/>
              <a:t>5/4/2026</a:t>
            </a:fld>
            <a:endParaRPr lang="en-US" dirty="0"/>
          </a:p>
        </p:txBody>
      </p:sp>
      <p:sp>
        <p:nvSpPr>
          <p:cNvPr id="5" name="Alt Bilgi Yer Tutucusu 4">
            <a:extLst>
              <a:ext uri="{FF2B5EF4-FFF2-40B4-BE49-F238E27FC236}">
                <a16:creationId xmlns:a16="http://schemas.microsoft.com/office/drawing/2014/main" id="{0EBA414C-2B5C-6538-E57F-F3AF2455385D}"/>
              </a:ext>
            </a:extLst>
          </p:cNvPr>
          <p:cNvSpPr>
            <a:spLocks noGrp="1"/>
          </p:cNvSpPr>
          <p:nvPr>
            <p:ph type="ftr" sz="quarter" idx="11"/>
          </p:nvPr>
        </p:nvSpPr>
        <p:spPr/>
        <p:txBody>
          <a:bodyPr/>
          <a:lstStyle/>
          <a:p>
            <a:endParaRPr lang="en-US" dirty="0"/>
          </a:p>
        </p:txBody>
      </p:sp>
      <p:sp>
        <p:nvSpPr>
          <p:cNvPr id="6" name="Slayt Numarası Yer Tutucusu 5">
            <a:extLst>
              <a:ext uri="{FF2B5EF4-FFF2-40B4-BE49-F238E27FC236}">
                <a16:creationId xmlns:a16="http://schemas.microsoft.com/office/drawing/2014/main" id="{1D7BC754-99CE-0D0F-2542-36940EA5734A}"/>
              </a:ext>
            </a:extLst>
          </p:cNvPr>
          <p:cNvSpPr>
            <a:spLocks noGrp="1"/>
          </p:cNvSpPr>
          <p:nvPr>
            <p:ph type="sldNum" sz="quarter" idx="12"/>
          </p:nvPr>
        </p:nvSpPr>
        <p:spPr/>
        <p:txBody>
          <a:body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11026308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081D161-B7B3-1E50-E522-8BBEB5D42E53}"/>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E208033F-5AF4-0436-9CDE-5E81A96030EB}"/>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BFC8567A-B460-FCB8-CCA1-0F5F7DC1DD20}"/>
              </a:ext>
            </a:extLst>
          </p:cNvPr>
          <p:cNvSpPr>
            <a:spLocks noGrp="1"/>
          </p:cNvSpPr>
          <p:nvPr>
            <p:ph type="dt" sz="half" idx="10"/>
          </p:nvPr>
        </p:nvSpPr>
        <p:spPr/>
        <p:txBody>
          <a:bodyPr/>
          <a:lstStyle/>
          <a:p>
            <a:fld id="{C764DE79-268F-4C1A-8933-263129D2AF90}" type="datetimeFigureOut">
              <a:rPr lang="en-US" smtClean="0"/>
              <a:t>5/4/2026</a:t>
            </a:fld>
            <a:endParaRPr lang="en-US" dirty="0"/>
          </a:p>
        </p:txBody>
      </p:sp>
      <p:sp>
        <p:nvSpPr>
          <p:cNvPr id="5" name="Alt Bilgi Yer Tutucusu 4">
            <a:extLst>
              <a:ext uri="{FF2B5EF4-FFF2-40B4-BE49-F238E27FC236}">
                <a16:creationId xmlns:a16="http://schemas.microsoft.com/office/drawing/2014/main" id="{16FEAD3F-BB81-0063-492D-7D2A420F7481}"/>
              </a:ext>
            </a:extLst>
          </p:cNvPr>
          <p:cNvSpPr>
            <a:spLocks noGrp="1"/>
          </p:cNvSpPr>
          <p:nvPr>
            <p:ph type="ftr" sz="quarter" idx="11"/>
          </p:nvPr>
        </p:nvSpPr>
        <p:spPr/>
        <p:txBody>
          <a:bodyPr/>
          <a:lstStyle/>
          <a:p>
            <a:endParaRPr lang="en-US" dirty="0"/>
          </a:p>
        </p:txBody>
      </p:sp>
      <p:sp>
        <p:nvSpPr>
          <p:cNvPr id="6" name="Slayt Numarası Yer Tutucusu 5">
            <a:extLst>
              <a:ext uri="{FF2B5EF4-FFF2-40B4-BE49-F238E27FC236}">
                <a16:creationId xmlns:a16="http://schemas.microsoft.com/office/drawing/2014/main" id="{C6B0EDED-67ED-FDAF-6A63-887688D47F05}"/>
              </a:ext>
            </a:extLst>
          </p:cNvPr>
          <p:cNvSpPr>
            <a:spLocks noGrp="1"/>
          </p:cNvSpPr>
          <p:nvPr>
            <p:ph type="sldNum" sz="quarter" idx="12"/>
          </p:nvPr>
        </p:nvSpPr>
        <p:spPr/>
        <p:txBody>
          <a:body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281430981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58C6AB2-0032-2551-1FDB-1A3AA71A5F05}"/>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A508FB3E-712C-8D44-27AF-BEB5642B572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8D1F0E75-7517-D9AF-D88A-5148CD179D2E}"/>
              </a:ext>
            </a:extLst>
          </p:cNvPr>
          <p:cNvSpPr>
            <a:spLocks noGrp="1"/>
          </p:cNvSpPr>
          <p:nvPr>
            <p:ph type="dt" sz="half" idx="10"/>
          </p:nvPr>
        </p:nvSpPr>
        <p:spPr/>
        <p:txBody>
          <a:bodyPr/>
          <a:lstStyle/>
          <a:p>
            <a:fld id="{C764DE79-268F-4C1A-8933-263129D2AF90}" type="datetimeFigureOut">
              <a:rPr lang="en-US" smtClean="0"/>
              <a:t>5/4/2026</a:t>
            </a:fld>
            <a:endParaRPr lang="en-US" dirty="0"/>
          </a:p>
        </p:txBody>
      </p:sp>
      <p:sp>
        <p:nvSpPr>
          <p:cNvPr id="5" name="Alt Bilgi Yer Tutucusu 4">
            <a:extLst>
              <a:ext uri="{FF2B5EF4-FFF2-40B4-BE49-F238E27FC236}">
                <a16:creationId xmlns:a16="http://schemas.microsoft.com/office/drawing/2014/main" id="{398A0A69-4EE1-0537-4248-9A0D02A38408}"/>
              </a:ext>
            </a:extLst>
          </p:cNvPr>
          <p:cNvSpPr>
            <a:spLocks noGrp="1"/>
          </p:cNvSpPr>
          <p:nvPr>
            <p:ph type="ftr" sz="quarter" idx="11"/>
          </p:nvPr>
        </p:nvSpPr>
        <p:spPr/>
        <p:txBody>
          <a:bodyPr/>
          <a:lstStyle/>
          <a:p>
            <a:endParaRPr lang="en-US" dirty="0"/>
          </a:p>
        </p:txBody>
      </p:sp>
      <p:sp>
        <p:nvSpPr>
          <p:cNvPr id="6" name="Slayt Numarası Yer Tutucusu 5">
            <a:extLst>
              <a:ext uri="{FF2B5EF4-FFF2-40B4-BE49-F238E27FC236}">
                <a16:creationId xmlns:a16="http://schemas.microsoft.com/office/drawing/2014/main" id="{087906CB-2CDB-456F-FFC3-F77B749E1DD1}"/>
              </a:ext>
            </a:extLst>
          </p:cNvPr>
          <p:cNvSpPr>
            <a:spLocks noGrp="1"/>
          </p:cNvSpPr>
          <p:nvPr>
            <p:ph type="sldNum" sz="quarter" idx="12"/>
          </p:nvPr>
        </p:nvSpPr>
        <p:spPr/>
        <p:txBody>
          <a:body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346199430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279610F-27E6-A098-50DB-9966978C3925}"/>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4274B22D-6C33-DF4D-3410-762572BFCFE4}"/>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50CB609B-4E00-796F-7C35-C4034786B093}"/>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04FA3088-3AFA-74EE-F096-F79769EA3D85}"/>
              </a:ext>
            </a:extLst>
          </p:cNvPr>
          <p:cNvSpPr>
            <a:spLocks noGrp="1"/>
          </p:cNvSpPr>
          <p:nvPr>
            <p:ph type="dt" sz="half" idx="10"/>
          </p:nvPr>
        </p:nvSpPr>
        <p:spPr/>
        <p:txBody>
          <a:bodyPr/>
          <a:lstStyle/>
          <a:p>
            <a:fld id="{C764DE79-268F-4C1A-8933-263129D2AF90}" type="datetimeFigureOut">
              <a:rPr lang="en-US" smtClean="0"/>
              <a:t>5/4/2026</a:t>
            </a:fld>
            <a:endParaRPr lang="en-US" dirty="0"/>
          </a:p>
        </p:txBody>
      </p:sp>
      <p:sp>
        <p:nvSpPr>
          <p:cNvPr id="6" name="Alt Bilgi Yer Tutucusu 5">
            <a:extLst>
              <a:ext uri="{FF2B5EF4-FFF2-40B4-BE49-F238E27FC236}">
                <a16:creationId xmlns:a16="http://schemas.microsoft.com/office/drawing/2014/main" id="{062B4180-13C8-965B-FF32-D4C487D3A8D4}"/>
              </a:ext>
            </a:extLst>
          </p:cNvPr>
          <p:cNvSpPr>
            <a:spLocks noGrp="1"/>
          </p:cNvSpPr>
          <p:nvPr>
            <p:ph type="ftr" sz="quarter" idx="11"/>
          </p:nvPr>
        </p:nvSpPr>
        <p:spPr/>
        <p:txBody>
          <a:bodyPr/>
          <a:lstStyle/>
          <a:p>
            <a:endParaRPr lang="en-US" dirty="0"/>
          </a:p>
        </p:txBody>
      </p:sp>
      <p:sp>
        <p:nvSpPr>
          <p:cNvPr id="7" name="Slayt Numarası Yer Tutucusu 6">
            <a:extLst>
              <a:ext uri="{FF2B5EF4-FFF2-40B4-BE49-F238E27FC236}">
                <a16:creationId xmlns:a16="http://schemas.microsoft.com/office/drawing/2014/main" id="{D481F1D6-0287-4236-D759-FC8E155D8F9A}"/>
              </a:ext>
            </a:extLst>
          </p:cNvPr>
          <p:cNvSpPr>
            <a:spLocks noGrp="1"/>
          </p:cNvSpPr>
          <p:nvPr>
            <p:ph type="sldNum" sz="quarter" idx="12"/>
          </p:nvPr>
        </p:nvSpPr>
        <p:spPr/>
        <p:txBody>
          <a:body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5134297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1997D49-D47B-E51A-47A7-D355030A5E10}"/>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CBC3F504-FDE3-DF11-EBD0-4161603377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9BA51E29-24D9-FAB9-6EA4-645C5E022C3C}"/>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7D3A24C8-CE17-289C-294D-EDEF7FC7382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ADBC4134-63B7-5332-DD2C-A14D9DDD833B}"/>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505BCFB0-7AB3-37C9-83E9-3610438DEA64}"/>
              </a:ext>
            </a:extLst>
          </p:cNvPr>
          <p:cNvSpPr>
            <a:spLocks noGrp="1"/>
          </p:cNvSpPr>
          <p:nvPr>
            <p:ph type="dt" sz="half" idx="10"/>
          </p:nvPr>
        </p:nvSpPr>
        <p:spPr/>
        <p:txBody>
          <a:bodyPr/>
          <a:lstStyle/>
          <a:p>
            <a:fld id="{C764DE79-268F-4C1A-8933-263129D2AF90}" type="datetimeFigureOut">
              <a:rPr lang="en-US" smtClean="0"/>
              <a:t>5/4/2026</a:t>
            </a:fld>
            <a:endParaRPr lang="en-US" dirty="0"/>
          </a:p>
        </p:txBody>
      </p:sp>
      <p:sp>
        <p:nvSpPr>
          <p:cNvPr id="8" name="Alt Bilgi Yer Tutucusu 7">
            <a:extLst>
              <a:ext uri="{FF2B5EF4-FFF2-40B4-BE49-F238E27FC236}">
                <a16:creationId xmlns:a16="http://schemas.microsoft.com/office/drawing/2014/main" id="{05AC56C7-3562-E6E6-3DF2-CE17DA4E9DB4}"/>
              </a:ext>
            </a:extLst>
          </p:cNvPr>
          <p:cNvSpPr>
            <a:spLocks noGrp="1"/>
          </p:cNvSpPr>
          <p:nvPr>
            <p:ph type="ftr" sz="quarter" idx="11"/>
          </p:nvPr>
        </p:nvSpPr>
        <p:spPr/>
        <p:txBody>
          <a:bodyPr/>
          <a:lstStyle/>
          <a:p>
            <a:endParaRPr lang="en-US" dirty="0"/>
          </a:p>
        </p:txBody>
      </p:sp>
      <p:sp>
        <p:nvSpPr>
          <p:cNvPr id="9" name="Slayt Numarası Yer Tutucusu 8">
            <a:extLst>
              <a:ext uri="{FF2B5EF4-FFF2-40B4-BE49-F238E27FC236}">
                <a16:creationId xmlns:a16="http://schemas.microsoft.com/office/drawing/2014/main" id="{A606BCCB-BA9D-1B21-2617-5FE28159DB6C}"/>
              </a:ext>
            </a:extLst>
          </p:cNvPr>
          <p:cNvSpPr>
            <a:spLocks noGrp="1"/>
          </p:cNvSpPr>
          <p:nvPr>
            <p:ph type="sldNum" sz="quarter" idx="12"/>
          </p:nvPr>
        </p:nvSpPr>
        <p:spPr/>
        <p:txBody>
          <a:body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318611203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9FF7622-C44C-B787-47A9-0AB08E6F8439}"/>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F58778FE-CA8A-6324-0268-5DA792379C01}"/>
              </a:ext>
            </a:extLst>
          </p:cNvPr>
          <p:cNvSpPr>
            <a:spLocks noGrp="1"/>
          </p:cNvSpPr>
          <p:nvPr>
            <p:ph type="dt" sz="half" idx="10"/>
          </p:nvPr>
        </p:nvSpPr>
        <p:spPr/>
        <p:txBody>
          <a:bodyPr/>
          <a:lstStyle/>
          <a:p>
            <a:fld id="{C764DE79-268F-4C1A-8933-263129D2AF90}" type="datetimeFigureOut">
              <a:rPr lang="en-US" smtClean="0"/>
              <a:t>5/4/2026</a:t>
            </a:fld>
            <a:endParaRPr lang="en-US" dirty="0"/>
          </a:p>
        </p:txBody>
      </p:sp>
      <p:sp>
        <p:nvSpPr>
          <p:cNvPr id="4" name="Alt Bilgi Yer Tutucusu 3">
            <a:extLst>
              <a:ext uri="{FF2B5EF4-FFF2-40B4-BE49-F238E27FC236}">
                <a16:creationId xmlns:a16="http://schemas.microsoft.com/office/drawing/2014/main" id="{E0D87D31-A42B-BA34-FFB6-0628C0287450}"/>
              </a:ext>
            </a:extLst>
          </p:cNvPr>
          <p:cNvSpPr>
            <a:spLocks noGrp="1"/>
          </p:cNvSpPr>
          <p:nvPr>
            <p:ph type="ftr" sz="quarter" idx="11"/>
          </p:nvPr>
        </p:nvSpPr>
        <p:spPr/>
        <p:txBody>
          <a:bodyPr/>
          <a:lstStyle/>
          <a:p>
            <a:endParaRPr lang="en-US" dirty="0"/>
          </a:p>
        </p:txBody>
      </p:sp>
      <p:sp>
        <p:nvSpPr>
          <p:cNvPr id="5" name="Slayt Numarası Yer Tutucusu 4">
            <a:extLst>
              <a:ext uri="{FF2B5EF4-FFF2-40B4-BE49-F238E27FC236}">
                <a16:creationId xmlns:a16="http://schemas.microsoft.com/office/drawing/2014/main" id="{427A503F-8367-DBEE-7086-9302FD4C4296}"/>
              </a:ext>
            </a:extLst>
          </p:cNvPr>
          <p:cNvSpPr>
            <a:spLocks noGrp="1"/>
          </p:cNvSpPr>
          <p:nvPr>
            <p:ph type="sldNum" sz="quarter" idx="12"/>
          </p:nvPr>
        </p:nvSpPr>
        <p:spPr/>
        <p:txBody>
          <a:body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63641783"/>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D2974DA3-46C4-B255-3ED3-437E4E5DE5EE}"/>
              </a:ext>
            </a:extLst>
          </p:cNvPr>
          <p:cNvSpPr>
            <a:spLocks noGrp="1"/>
          </p:cNvSpPr>
          <p:nvPr>
            <p:ph type="dt" sz="half" idx="10"/>
          </p:nvPr>
        </p:nvSpPr>
        <p:spPr/>
        <p:txBody>
          <a:bodyPr/>
          <a:lstStyle/>
          <a:p>
            <a:fld id="{C764DE79-268F-4C1A-8933-263129D2AF90}" type="datetimeFigureOut">
              <a:rPr lang="en-US" smtClean="0"/>
              <a:t>5/4/2026</a:t>
            </a:fld>
            <a:endParaRPr lang="en-US" dirty="0"/>
          </a:p>
        </p:txBody>
      </p:sp>
      <p:sp>
        <p:nvSpPr>
          <p:cNvPr id="3" name="Alt Bilgi Yer Tutucusu 2">
            <a:extLst>
              <a:ext uri="{FF2B5EF4-FFF2-40B4-BE49-F238E27FC236}">
                <a16:creationId xmlns:a16="http://schemas.microsoft.com/office/drawing/2014/main" id="{D69686C3-41F4-7B9B-607E-336557947E7B}"/>
              </a:ext>
            </a:extLst>
          </p:cNvPr>
          <p:cNvSpPr>
            <a:spLocks noGrp="1"/>
          </p:cNvSpPr>
          <p:nvPr>
            <p:ph type="ftr" sz="quarter" idx="11"/>
          </p:nvPr>
        </p:nvSpPr>
        <p:spPr/>
        <p:txBody>
          <a:bodyPr/>
          <a:lstStyle/>
          <a:p>
            <a:endParaRPr lang="en-US" dirty="0"/>
          </a:p>
        </p:txBody>
      </p:sp>
      <p:sp>
        <p:nvSpPr>
          <p:cNvPr id="4" name="Slayt Numarası Yer Tutucusu 3">
            <a:extLst>
              <a:ext uri="{FF2B5EF4-FFF2-40B4-BE49-F238E27FC236}">
                <a16:creationId xmlns:a16="http://schemas.microsoft.com/office/drawing/2014/main" id="{95108811-AE02-ADC9-FB32-1C32D9B58B3D}"/>
              </a:ext>
            </a:extLst>
          </p:cNvPr>
          <p:cNvSpPr>
            <a:spLocks noGrp="1"/>
          </p:cNvSpPr>
          <p:nvPr>
            <p:ph type="sldNum" sz="quarter" idx="12"/>
          </p:nvPr>
        </p:nvSpPr>
        <p:spPr/>
        <p:txBody>
          <a:body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275734286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B2A7AC0-13AA-7FCF-0E19-AE014A95BC9E}"/>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DA66F3C4-984D-F3CA-435F-ECB53ADDB3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42324115-9B9A-7B6B-B0E0-18A2D0DF6B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A3C9A7E5-17EA-CF7B-8DEF-264870FFD637}"/>
              </a:ext>
            </a:extLst>
          </p:cNvPr>
          <p:cNvSpPr>
            <a:spLocks noGrp="1"/>
          </p:cNvSpPr>
          <p:nvPr>
            <p:ph type="dt" sz="half" idx="10"/>
          </p:nvPr>
        </p:nvSpPr>
        <p:spPr/>
        <p:txBody>
          <a:bodyPr/>
          <a:lstStyle/>
          <a:p>
            <a:fld id="{C764DE79-268F-4C1A-8933-263129D2AF90}" type="datetimeFigureOut">
              <a:rPr lang="en-US" smtClean="0"/>
              <a:t>5/4/2026</a:t>
            </a:fld>
            <a:endParaRPr lang="en-US" dirty="0"/>
          </a:p>
        </p:txBody>
      </p:sp>
      <p:sp>
        <p:nvSpPr>
          <p:cNvPr id="6" name="Alt Bilgi Yer Tutucusu 5">
            <a:extLst>
              <a:ext uri="{FF2B5EF4-FFF2-40B4-BE49-F238E27FC236}">
                <a16:creationId xmlns:a16="http://schemas.microsoft.com/office/drawing/2014/main" id="{4D2100FC-D67D-CA79-1AAB-518238893ED1}"/>
              </a:ext>
            </a:extLst>
          </p:cNvPr>
          <p:cNvSpPr>
            <a:spLocks noGrp="1"/>
          </p:cNvSpPr>
          <p:nvPr>
            <p:ph type="ftr" sz="quarter" idx="11"/>
          </p:nvPr>
        </p:nvSpPr>
        <p:spPr/>
        <p:txBody>
          <a:bodyPr/>
          <a:lstStyle/>
          <a:p>
            <a:endParaRPr lang="en-US" dirty="0"/>
          </a:p>
        </p:txBody>
      </p:sp>
      <p:sp>
        <p:nvSpPr>
          <p:cNvPr id="7" name="Slayt Numarası Yer Tutucusu 6">
            <a:extLst>
              <a:ext uri="{FF2B5EF4-FFF2-40B4-BE49-F238E27FC236}">
                <a16:creationId xmlns:a16="http://schemas.microsoft.com/office/drawing/2014/main" id="{42691098-3A62-3BC2-D1FE-3DA1D4DF7A33}"/>
              </a:ext>
            </a:extLst>
          </p:cNvPr>
          <p:cNvSpPr>
            <a:spLocks noGrp="1"/>
          </p:cNvSpPr>
          <p:nvPr>
            <p:ph type="sldNum" sz="quarter" idx="12"/>
          </p:nvPr>
        </p:nvSpPr>
        <p:spPr/>
        <p:txBody>
          <a:body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181129703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38A2D5D-93E7-22AC-CBBA-5D2B3D5D79A0}"/>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8B90CBE1-B2E3-B0D3-CECD-CE644B5F4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F973F00A-B618-05CF-064A-F7E8D6164E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A6DD6FB0-3BC0-19F0-A0C8-C14A86121680}"/>
              </a:ext>
            </a:extLst>
          </p:cNvPr>
          <p:cNvSpPr>
            <a:spLocks noGrp="1"/>
          </p:cNvSpPr>
          <p:nvPr>
            <p:ph type="dt" sz="half" idx="10"/>
          </p:nvPr>
        </p:nvSpPr>
        <p:spPr/>
        <p:txBody>
          <a:bodyPr/>
          <a:lstStyle/>
          <a:p>
            <a:fld id="{C764DE79-268F-4C1A-8933-263129D2AF90}" type="datetimeFigureOut">
              <a:rPr lang="en-US" smtClean="0"/>
              <a:t>5/4/2026</a:t>
            </a:fld>
            <a:endParaRPr lang="en-US" dirty="0"/>
          </a:p>
        </p:txBody>
      </p:sp>
      <p:sp>
        <p:nvSpPr>
          <p:cNvPr id="6" name="Alt Bilgi Yer Tutucusu 5">
            <a:extLst>
              <a:ext uri="{FF2B5EF4-FFF2-40B4-BE49-F238E27FC236}">
                <a16:creationId xmlns:a16="http://schemas.microsoft.com/office/drawing/2014/main" id="{E81B8D18-569C-96A8-BE89-6BB8134901DA}"/>
              </a:ext>
            </a:extLst>
          </p:cNvPr>
          <p:cNvSpPr>
            <a:spLocks noGrp="1"/>
          </p:cNvSpPr>
          <p:nvPr>
            <p:ph type="ftr" sz="quarter" idx="11"/>
          </p:nvPr>
        </p:nvSpPr>
        <p:spPr/>
        <p:txBody>
          <a:bodyPr/>
          <a:lstStyle/>
          <a:p>
            <a:endParaRPr lang="en-US" dirty="0"/>
          </a:p>
        </p:txBody>
      </p:sp>
      <p:sp>
        <p:nvSpPr>
          <p:cNvPr id="7" name="Slayt Numarası Yer Tutucusu 6">
            <a:extLst>
              <a:ext uri="{FF2B5EF4-FFF2-40B4-BE49-F238E27FC236}">
                <a16:creationId xmlns:a16="http://schemas.microsoft.com/office/drawing/2014/main" id="{51B962FE-1FA2-BC0F-BEBD-9B3D8879C859}"/>
              </a:ext>
            </a:extLst>
          </p:cNvPr>
          <p:cNvSpPr>
            <a:spLocks noGrp="1"/>
          </p:cNvSpPr>
          <p:nvPr>
            <p:ph type="sldNum" sz="quarter" idx="12"/>
          </p:nvPr>
        </p:nvSpPr>
        <p:spPr/>
        <p:txBody>
          <a:body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171499521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8A357AB-4D0B-0C6C-B4D9-897A07FBAE53}"/>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BD84C507-DE95-E5CD-D830-DDFEE1014F4C}"/>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91235F77-B8E9-A7DD-3BAB-83FC21A7A7BB}"/>
              </a:ext>
            </a:extLst>
          </p:cNvPr>
          <p:cNvSpPr>
            <a:spLocks noGrp="1"/>
          </p:cNvSpPr>
          <p:nvPr>
            <p:ph type="dt" sz="half" idx="10"/>
          </p:nvPr>
        </p:nvSpPr>
        <p:spPr/>
        <p:txBody>
          <a:bodyPr/>
          <a:lstStyle/>
          <a:p>
            <a:fld id="{C764DE79-268F-4C1A-8933-263129D2AF90}" type="datetimeFigureOut">
              <a:rPr lang="en-US" smtClean="0"/>
              <a:t>5/4/2026</a:t>
            </a:fld>
            <a:endParaRPr lang="en-US" dirty="0"/>
          </a:p>
        </p:txBody>
      </p:sp>
      <p:sp>
        <p:nvSpPr>
          <p:cNvPr id="5" name="Alt Bilgi Yer Tutucusu 4">
            <a:extLst>
              <a:ext uri="{FF2B5EF4-FFF2-40B4-BE49-F238E27FC236}">
                <a16:creationId xmlns:a16="http://schemas.microsoft.com/office/drawing/2014/main" id="{75B0A9E6-8BE2-BD3C-771A-639DB019D664}"/>
              </a:ext>
            </a:extLst>
          </p:cNvPr>
          <p:cNvSpPr>
            <a:spLocks noGrp="1"/>
          </p:cNvSpPr>
          <p:nvPr>
            <p:ph type="ftr" sz="quarter" idx="11"/>
          </p:nvPr>
        </p:nvSpPr>
        <p:spPr/>
        <p:txBody>
          <a:bodyPr/>
          <a:lstStyle/>
          <a:p>
            <a:endParaRPr lang="en-US" dirty="0"/>
          </a:p>
        </p:txBody>
      </p:sp>
      <p:sp>
        <p:nvSpPr>
          <p:cNvPr id="6" name="Slayt Numarası Yer Tutucusu 5">
            <a:extLst>
              <a:ext uri="{FF2B5EF4-FFF2-40B4-BE49-F238E27FC236}">
                <a16:creationId xmlns:a16="http://schemas.microsoft.com/office/drawing/2014/main" id="{A5240215-63EE-19A7-5676-0DD962DD72D8}"/>
              </a:ext>
            </a:extLst>
          </p:cNvPr>
          <p:cNvSpPr>
            <a:spLocks noGrp="1"/>
          </p:cNvSpPr>
          <p:nvPr>
            <p:ph type="sldNum" sz="quarter" idx="12"/>
          </p:nvPr>
        </p:nvSpPr>
        <p:spPr/>
        <p:txBody>
          <a:body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425251903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D87C6AD7-CA0B-A28E-794B-43DB9314E07C}"/>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1E2EBA66-DCA5-21E1-5949-926EF58E2FFF}"/>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1F0CBF82-BE0A-EFC4-DFAE-108D16DD11D1}"/>
              </a:ext>
            </a:extLst>
          </p:cNvPr>
          <p:cNvSpPr>
            <a:spLocks noGrp="1"/>
          </p:cNvSpPr>
          <p:nvPr>
            <p:ph type="dt" sz="half" idx="10"/>
          </p:nvPr>
        </p:nvSpPr>
        <p:spPr/>
        <p:txBody>
          <a:bodyPr/>
          <a:lstStyle/>
          <a:p>
            <a:fld id="{C764DE79-268F-4C1A-8933-263129D2AF90}" type="datetimeFigureOut">
              <a:rPr lang="en-US" smtClean="0"/>
              <a:t>5/4/2026</a:t>
            </a:fld>
            <a:endParaRPr lang="en-US" dirty="0"/>
          </a:p>
        </p:txBody>
      </p:sp>
      <p:sp>
        <p:nvSpPr>
          <p:cNvPr id="5" name="Alt Bilgi Yer Tutucusu 4">
            <a:extLst>
              <a:ext uri="{FF2B5EF4-FFF2-40B4-BE49-F238E27FC236}">
                <a16:creationId xmlns:a16="http://schemas.microsoft.com/office/drawing/2014/main" id="{7C4D9E9F-5884-03B7-BC1F-293BAA450932}"/>
              </a:ext>
            </a:extLst>
          </p:cNvPr>
          <p:cNvSpPr>
            <a:spLocks noGrp="1"/>
          </p:cNvSpPr>
          <p:nvPr>
            <p:ph type="ftr" sz="quarter" idx="11"/>
          </p:nvPr>
        </p:nvSpPr>
        <p:spPr/>
        <p:txBody>
          <a:bodyPr/>
          <a:lstStyle/>
          <a:p>
            <a:endParaRPr lang="en-US" dirty="0"/>
          </a:p>
        </p:txBody>
      </p:sp>
      <p:sp>
        <p:nvSpPr>
          <p:cNvPr id="6" name="Slayt Numarası Yer Tutucusu 5">
            <a:extLst>
              <a:ext uri="{FF2B5EF4-FFF2-40B4-BE49-F238E27FC236}">
                <a16:creationId xmlns:a16="http://schemas.microsoft.com/office/drawing/2014/main" id="{516246A4-DB34-8548-AD6A-9D9ADD4C2C0A}"/>
              </a:ext>
            </a:extLst>
          </p:cNvPr>
          <p:cNvSpPr>
            <a:spLocks noGrp="1"/>
          </p:cNvSpPr>
          <p:nvPr>
            <p:ph type="sldNum" sz="quarter" idx="12"/>
          </p:nvPr>
        </p:nvSpPr>
        <p:spPr/>
        <p:txBody>
          <a:body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180757672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MASTER">
    <p:bg>
      <p:bgPr>
        <a:solidFill>
          <a:srgbClr val="F7F8FA"/>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11128"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67085"/>
                </a:solidFill>
                <a:latin typeface="Aptos"/>
                <a:ea typeface="Aptos"/>
                <a:cs typeface="Aptos"/>
              </a:defRPr>
            </a:lvl1pPr>
          </a:lstStyle>
          <a:p>
            <a:pPr algn="l"/>
            <a:fld id="{F7021451-1387-4CA6-816F-3879F97B5CBC}" type="slidenum">
              <a:rPr lang="en-US" b="0"/>
              <a:t>‹#›</a:t>
            </a:fld>
            <a:endParaRPr lang="en-US"/>
          </a:p>
        </p:txBody>
      </p:sp>
    </p:spTree>
    <p:extLst>
      <p:ext uri="{BB962C8B-B14F-4D97-AF65-F5344CB8AC3E}">
        <p14:creationId xmlns:p14="http://schemas.microsoft.com/office/powerpoint/2010/main" val="33984670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A1FA6070-FAC1-179C-B238-A934F31B04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09543214-E1C2-3CFA-712D-E0EB3B74F7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A4941DC6-6D5D-2120-889A-27FFE8B594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t>5/4/2026</a:t>
            </a:fld>
            <a:endParaRPr lang="en-US" dirty="0"/>
          </a:p>
        </p:txBody>
      </p:sp>
      <p:sp>
        <p:nvSpPr>
          <p:cNvPr id="5" name="Alt Bilgi Yer Tutucusu 4">
            <a:extLst>
              <a:ext uri="{FF2B5EF4-FFF2-40B4-BE49-F238E27FC236}">
                <a16:creationId xmlns:a16="http://schemas.microsoft.com/office/drawing/2014/main" id="{587D9909-41A8-324B-D036-6501FC6BC6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ayt Numarası Yer Tutucusu 5">
            <a:extLst>
              <a:ext uri="{FF2B5EF4-FFF2-40B4-BE49-F238E27FC236}">
                <a16:creationId xmlns:a16="http://schemas.microsoft.com/office/drawing/2014/main" id="{CF7D699B-4AFA-526D-4860-BDBBC504F5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lgn="l"/>
            <a:fld id="{F7021451-1387-4CA6-816F-3879F97B5CBC}" type="slidenum">
              <a:rPr lang="en-US" b="0" smtClean="0"/>
              <a:t>‹#›</a:t>
            </a:fld>
            <a:endParaRPr lang="en-US"/>
          </a:p>
        </p:txBody>
      </p:sp>
    </p:spTree>
    <p:extLst>
      <p:ext uri="{BB962C8B-B14F-4D97-AF65-F5344CB8AC3E}">
        <p14:creationId xmlns:p14="http://schemas.microsoft.com/office/powerpoint/2010/main" val="3548645307"/>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14.png"/><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hyperlink" Target="https://www.youtube.com/playlist?list=PLA7jdNyJUyh9hd5oqIkwVSdPIk4ItsIv5&amp;jct=_6cF2tXdfKcUY7WDy-uSRg" TargetMode="External"/><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7FA"/>
        </a:solidFill>
        <a:effectLst/>
      </p:bgPr>
    </p:bg>
    <p:spTree>
      <p:nvGrpSpPr>
        <p:cNvPr id="1" name=""/>
        <p:cNvGrpSpPr/>
        <p:nvPr/>
      </p:nvGrpSpPr>
      <p:grpSpPr>
        <a:xfrm>
          <a:off x="0" y="0"/>
          <a:ext cx="0" cy="0"/>
          <a:chOff x="0" y="0"/>
          <a:chExt cx="0" cy="0"/>
        </a:xfrm>
      </p:grpSpPr>
      <p:sp>
        <p:nvSpPr>
          <p:cNvPr id="2" name="TextBox 1"/>
          <p:cNvSpPr txBox="1"/>
          <p:nvPr/>
        </p:nvSpPr>
        <p:spPr>
          <a:xfrm>
            <a:off x="475488" y="256032"/>
            <a:ext cx="3291840" cy="228600"/>
          </a:xfrm>
          <a:prstGeom prst="rect">
            <a:avLst/>
          </a:prstGeom>
          <a:noFill/>
        </p:spPr>
        <p:txBody>
          <a:bodyPr wrap="none" lIns="0" tIns="0" rIns="0" bIns="0" anchor="t">
            <a:spAutoFit/>
          </a:bodyPr>
          <a:lstStyle/>
          <a:p>
            <a:pPr algn="l"/>
            <a:r>
              <a:rPr sz="900" b="1">
                <a:solidFill>
                  <a:srgbClr val="FF6F0F"/>
                </a:solidFill>
                <a:latin typeface="Aptos"/>
              </a:rPr>
              <a:t>SE 2226 TESTING PROJECT</a:t>
            </a:r>
          </a:p>
        </p:txBody>
      </p:sp>
      <p:sp>
        <p:nvSpPr>
          <p:cNvPr id="3" name="Rectangle 2"/>
          <p:cNvSpPr/>
          <p:nvPr/>
        </p:nvSpPr>
        <p:spPr>
          <a:xfrm>
            <a:off x="0" y="0"/>
            <a:ext cx="118872" cy="6858000"/>
          </a:xfrm>
          <a:prstGeom prst="rect">
            <a:avLst/>
          </a:prstGeom>
          <a:solidFill>
            <a:srgbClr val="FF6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732520" y="0"/>
            <a:ext cx="3456432" cy="6858000"/>
          </a:xfrm>
          <a:prstGeom prst="rect">
            <a:avLst/>
          </a:prstGeom>
          <a:solidFill>
            <a:srgbClr val="0C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bg2">
                  <a:lumMod val="90000"/>
                </a:schemeClr>
              </a:solidFill>
            </a:endParaRPr>
          </a:p>
        </p:txBody>
      </p:sp>
      <p:sp>
        <p:nvSpPr>
          <p:cNvPr id="5" name="Rectangle 4"/>
          <p:cNvSpPr/>
          <p:nvPr/>
        </p:nvSpPr>
        <p:spPr>
          <a:xfrm>
            <a:off x="8732520" y="0"/>
            <a:ext cx="73152" cy="6858000"/>
          </a:xfrm>
          <a:prstGeom prst="rect">
            <a:avLst/>
          </a:prstGeom>
          <a:solidFill>
            <a:srgbClr val="FF6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89720" y="1051560"/>
            <a:ext cx="2167128" cy="615553"/>
          </a:xfrm>
          <a:prstGeom prst="rect">
            <a:avLst/>
          </a:prstGeom>
          <a:noFill/>
        </p:spPr>
        <p:txBody>
          <a:bodyPr wrap="square" lIns="0" tIns="0" rIns="0" bIns="0" anchor="t">
            <a:spAutoFit/>
          </a:bodyPr>
          <a:lstStyle/>
          <a:p>
            <a:r>
              <a:rPr lang="tr-TR" sz="2000" b="1" dirty="0">
                <a:solidFill>
                  <a:schemeClr val="bg2">
                    <a:lumMod val="90000"/>
                  </a:schemeClr>
                </a:solidFill>
                <a:latin typeface="Aptos" panose="020B0004020202020204" pitchFamily="34" charset="0"/>
              </a:rPr>
              <a:t>TESTING STACK &amp; METHODOLOGY</a:t>
            </a:r>
            <a:endParaRPr sz="2000" b="1" dirty="0">
              <a:solidFill>
                <a:schemeClr val="bg2">
                  <a:lumMod val="90000"/>
                </a:schemeClr>
              </a:solidFill>
              <a:latin typeface="Aptos" panose="020B0004020202020204" pitchFamily="34" charset="0"/>
            </a:endParaRPr>
          </a:p>
        </p:txBody>
      </p:sp>
      <p:cxnSp>
        <p:nvCxnSpPr>
          <p:cNvPr id="7" name="Connector 6"/>
          <p:cNvCxnSpPr/>
          <p:nvPr/>
        </p:nvCxnSpPr>
        <p:spPr>
          <a:xfrm>
            <a:off x="9189720" y="2057400"/>
            <a:ext cx="2103120" cy="0"/>
          </a:xfrm>
          <a:prstGeom prst="line">
            <a:avLst/>
          </a:prstGeom>
          <a:ln w="38100">
            <a:solidFill>
              <a:srgbClr val="FF6F0F"/>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9189720" y="2514600"/>
            <a:ext cx="2331720" cy="347472"/>
          </a:xfrm>
          <a:prstGeom prst="roundRect">
            <a:avLst/>
          </a:prstGeom>
          <a:solidFill>
            <a:srgbClr val="1C2638"/>
          </a:solidFill>
          <a:ln>
            <a:solidFill>
              <a:srgbClr val="323E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45168" y="2587752"/>
            <a:ext cx="2011680" cy="164592"/>
          </a:xfrm>
          <a:prstGeom prst="rect">
            <a:avLst/>
          </a:prstGeom>
          <a:noFill/>
        </p:spPr>
        <p:txBody>
          <a:bodyPr wrap="none" lIns="0" tIns="0" rIns="0" bIns="0" anchor="t">
            <a:spAutoFit/>
          </a:bodyPr>
          <a:lstStyle/>
          <a:p>
            <a:pPr algn="l"/>
            <a:r>
              <a:rPr sz="1000" b="1">
                <a:solidFill>
                  <a:srgbClr val="DCE4F0"/>
                </a:solidFill>
                <a:latin typeface="Aptos"/>
              </a:rPr>
              <a:t>Selenium IDE</a:t>
            </a:r>
          </a:p>
        </p:txBody>
      </p:sp>
      <p:sp>
        <p:nvSpPr>
          <p:cNvPr id="10" name="Rounded Rectangle 9"/>
          <p:cNvSpPr/>
          <p:nvPr/>
        </p:nvSpPr>
        <p:spPr>
          <a:xfrm>
            <a:off x="9189720" y="3063240"/>
            <a:ext cx="2331720" cy="347472"/>
          </a:xfrm>
          <a:prstGeom prst="roundRect">
            <a:avLst/>
          </a:prstGeom>
          <a:solidFill>
            <a:srgbClr val="1C2638"/>
          </a:solidFill>
          <a:ln>
            <a:solidFill>
              <a:srgbClr val="323E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45168" y="3136392"/>
            <a:ext cx="2011680" cy="164592"/>
          </a:xfrm>
          <a:prstGeom prst="rect">
            <a:avLst/>
          </a:prstGeom>
          <a:noFill/>
        </p:spPr>
        <p:txBody>
          <a:bodyPr wrap="none" lIns="0" tIns="0" rIns="0" bIns="0" anchor="t">
            <a:spAutoFit/>
          </a:bodyPr>
          <a:lstStyle/>
          <a:p>
            <a:pPr algn="l"/>
            <a:r>
              <a:rPr sz="1000" b="1">
                <a:solidFill>
                  <a:srgbClr val="DCE4F0"/>
                </a:solidFill>
                <a:latin typeface="Aptos"/>
              </a:rPr>
              <a:t>JMeter</a:t>
            </a:r>
          </a:p>
        </p:txBody>
      </p:sp>
      <p:sp>
        <p:nvSpPr>
          <p:cNvPr id="12" name="Rounded Rectangle 11"/>
          <p:cNvSpPr/>
          <p:nvPr/>
        </p:nvSpPr>
        <p:spPr>
          <a:xfrm>
            <a:off x="9189720" y="3611880"/>
            <a:ext cx="2331720" cy="347472"/>
          </a:xfrm>
          <a:prstGeom prst="roundRect">
            <a:avLst/>
          </a:prstGeom>
          <a:solidFill>
            <a:srgbClr val="1C2638"/>
          </a:solidFill>
          <a:ln>
            <a:solidFill>
              <a:srgbClr val="323E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345168" y="3685032"/>
            <a:ext cx="2011680" cy="164592"/>
          </a:xfrm>
          <a:prstGeom prst="rect">
            <a:avLst/>
          </a:prstGeom>
          <a:noFill/>
        </p:spPr>
        <p:txBody>
          <a:bodyPr wrap="none" lIns="0" tIns="0" rIns="0" bIns="0" anchor="t">
            <a:spAutoFit/>
          </a:bodyPr>
          <a:lstStyle/>
          <a:p>
            <a:pPr algn="l"/>
            <a:r>
              <a:rPr sz="1000" b="1">
                <a:solidFill>
                  <a:srgbClr val="DCE4F0"/>
                </a:solidFill>
                <a:latin typeface="Aptos"/>
              </a:rPr>
              <a:t>Jest / Supertest</a:t>
            </a:r>
          </a:p>
        </p:txBody>
      </p:sp>
      <p:sp>
        <p:nvSpPr>
          <p:cNvPr id="14" name="Rounded Rectangle 13"/>
          <p:cNvSpPr/>
          <p:nvPr/>
        </p:nvSpPr>
        <p:spPr>
          <a:xfrm>
            <a:off x="9189720" y="4160520"/>
            <a:ext cx="2331720" cy="347472"/>
          </a:xfrm>
          <a:prstGeom prst="roundRect">
            <a:avLst/>
          </a:prstGeom>
          <a:solidFill>
            <a:srgbClr val="1C2638"/>
          </a:solidFill>
          <a:ln>
            <a:solidFill>
              <a:srgbClr val="323E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45168" y="4233672"/>
            <a:ext cx="2011680" cy="164592"/>
          </a:xfrm>
          <a:prstGeom prst="rect">
            <a:avLst/>
          </a:prstGeom>
          <a:noFill/>
        </p:spPr>
        <p:txBody>
          <a:bodyPr wrap="none" lIns="0" tIns="0" rIns="0" bIns="0" anchor="t">
            <a:spAutoFit/>
          </a:bodyPr>
          <a:lstStyle/>
          <a:p>
            <a:pPr algn="l"/>
            <a:r>
              <a:rPr sz="1000" b="1">
                <a:solidFill>
                  <a:srgbClr val="DCE4F0"/>
                </a:solidFill>
                <a:latin typeface="Aptos"/>
              </a:rPr>
              <a:t>Stryker Mutation</a:t>
            </a:r>
          </a:p>
        </p:txBody>
      </p:sp>
      <p:sp>
        <p:nvSpPr>
          <p:cNvPr id="16" name="Rounded Rectangle 15"/>
          <p:cNvSpPr/>
          <p:nvPr/>
        </p:nvSpPr>
        <p:spPr>
          <a:xfrm>
            <a:off x="9189720" y="4709160"/>
            <a:ext cx="2331720" cy="347472"/>
          </a:xfrm>
          <a:prstGeom prst="roundRect">
            <a:avLst/>
          </a:prstGeom>
          <a:solidFill>
            <a:srgbClr val="1C2638"/>
          </a:solidFill>
          <a:ln>
            <a:solidFill>
              <a:srgbClr val="323E5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345168" y="4782312"/>
            <a:ext cx="2011680" cy="164592"/>
          </a:xfrm>
          <a:prstGeom prst="rect">
            <a:avLst/>
          </a:prstGeom>
          <a:noFill/>
        </p:spPr>
        <p:txBody>
          <a:bodyPr wrap="none" lIns="0" tIns="0" rIns="0" bIns="0" anchor="t">
            <a:spAutoFit/>
          </a:bodyPr>
          <a:lstStyle/>
          <a:p>
            <a:pPr algn="l"/>
            <a:r>
              <a:rPr sz="1000" b="1">
                <a:solidFill>
                  <a:srgbClr val="DCE4F0"/>
                </a:solidFill>
                <a:latin typeface="Aptos"/>
              </a:rPr>
              <a:t>Cross-Browser</a:t>
            </a:r>
          </a:p>
        </p:txBody>
      </p:sp>
      <p:sp>
        <p:nvSpPr>
          <p:cNvPr id="18" name="TextBox 17"/>
          <p:cNvSpPr txBox="1"/>
          <p:nvPr/>
        </p:nvSpPr>
        <p:spPr>
          <a:xfrm>
            <a:off x="713232" y="1170432"/>
            <a:ext cx="2560320" cy="548640"/>
          </a:xfrm>
          <a:prstGeom prst="rect">
            <a:avLst/>
          </a:prstGeom>
          <a:noFill/>
        </p:spPr>
        <p:txBody>
          <a:bodyPr wrap="none" lIns="0" tIns="0" rIns="0" bIns="0" anchor="t">
            <a:spAutoFit/>
          </a:bodyPr>
          <a:lstStyle/>
          <a:p>
            <a:pPr algn="l"/>
            <a:r>
              <a:rPr sz="2800" b="1">
                <a:solidFill>
                  <a:srgbClr val="FF6F0F"/>
                </a:solidFill>
                <a:latin typeface="Aptos"/>
              </a:rPr>
              <a:t>SE 2226</a:t>
            </a:r>
          </a:p>
        </p:txBody>
      </p:sp>
      <p:sp>
        <p:nvSpPr>
          <p:cNvPr id="19" name="TextBox 18"/>
          <p:cNvSpPr txBox="1"/>
          <p:nvPr/>
        </p:nvSpPr>
        <p:spPr>
          <a:xfrm>
            <a:off x="713232" y="1664208"/>
            <a:ext cx="7040880" cy="1371600"/>
          </a:xfrm>
          <a:prstGeom prst="rect">
            <a:avLst/>
          </a:prstGeom>
          <a:noFill/>
        </p:spPr>
        <p:txBody>
          <a:bodyPr wrap="none" lIns="0" tIns="0" rIns="0" bIns="0" anchor="t">
            <a:spAutoFit/>
          </a:bodyPr>
          <a:lstStyle/>
          <a:p>
            <a:pPr algn="l"/>
            <a:r>
              <a:rPr sz="4600" b="1">
                <a:solidFill>
                  <a:srgbClr val="0C121E"/>
                </a:solidFill>
                <a:latin typeface="Aptos"/>
              </a:rPr>
              <a:t>Software Testing
Project</a:t>
            </a:r>
          </a:p>
        </p:txBody>
      </p:sp>
      <p:sp>
        <p:nvSpPr>
          <p:cNvPr id="20" name="TextBox 19"/>
          <p:cNvSpPr txBox="1"/>
          <p:nvPr/>
        </p:nvSpPr>
        <p:spPr>
          <a:xfrm>
            <a:off x="749808" y="3154680"/>
            <a:ext cx="6766560" cy="411480"/>
          </a:xfrm>
          <a:prstGeom prst="rect">
            <a:avLst/>
          </a:prstGeom>
          <a:noFill/>
        </p:spPr>
        <p:txBody>
          <a:bodyPr wrap="none" lIns="0" tIns="0" rIns="0" bIns="0" anchor="t">
            <a:spAutoFit/>
          </a:bodyPr>
          <a:lstStyle/>
          <a:p>
            <a:pPr algn="l"/>
            <a:r>
              <a:rPr sz="2200" b="0">
                <a:solidFill>
                  <a:srgbClr val="646F82"/>
                </a:solidFill>
                <a:latin typeface="Aptos"/>
              </a:rPr>
              <a:t>OrangeHRM Automation + Quality Evaluation</a:t>
            </a:r>
          </a:p>
        </p:txBody>
      </p:sp>
      <p:cxnSp>
        <p:nvCxnSpPr>
          <p:cNvPr id="21" name="Connector 20"/>
          <p:cNvCxnSpPr/>
          <p:nvPr/>
        </p:nvCxnSpPr>
        <p:spPr>
          <a:xfrm>
            <a:off x="749808" y="3767328"/>
            <a:ext cx="3227831" cy="0"/>
          </a:xfrm>
          <a:prstGeom prst="line">
            <a:avLst/>
          </a:prstGeom>
          <a:ln w="50800">
            <a:solidFill>
              <a:srgbClr val="FF6F0F"/>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49808" y="4160520"/>
            <a:ext cx="6537960" cy="1325880"/>
          </a:xfrm>
          <a:prstGeom prst="roundRect">
            <a:avLst/>
          </a:prstGeom>
          <a:solidFill>
            <a:srgbClr val="FFFFFF"/>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87552" y="4343400"/>
            <a:ext cx="4023360" cy="868680"/>
          </a:xfrm>
          <a:prstGeom prst="rect">
            <a:avLst/>
          </a:prstGeom>
          <a:noFill/>
        </p:spPr>
        <p:txBody>
          <a:bodyPr wrap="none" lIns="0" tIns="0" rIns="0" bIns="0" anchor="t">
            <a:spAutoFit/>
          </a:bodyPr>
          <a:lstStyle/>
          <a:p>
            <a:pPr algn="l"/>
            <a:r>
              <a:rPr sz="1300" b="0">
                <a:solidFill>
                  <a:srgbClr val="202530"/>
                </a:solidFill>
                <a:latin typeface="Aptos"/>
              </a:rPr>
              <a:t>Deniz Berfin Acar 24070006021
Aslı Zeynep Akhan 23070006010
Helin Güler 23070006014
Şevval Demir 23070006077</a:t>
            </a:r>
          </a:p>
        </p:txBody>
      </p:sp>
      <p:sp>
        <p:nvSpPr>
          <p:cNvPr id="24" name="TextBox 23"/>
          <p:cNvSpPr txBox="1"/>
          <p:nvPr/>
        </p:nvSpPr>
        <p:spPr>
          <a:xfrm>
            <a:off x="5577840" y="4443984"/>
            <a:ext cx="1371600" cy="640080"/>
          </a:xfrm>
          <a:prstGeom prst="rect">
            <a:avLst/>
          </a:prstGeom>
          <a:noFill/>
        </p:spPr>
        <p:txBody>
          <a:bodyPr wrap="none" lIns="0" tIns="0" rIns="0" bIns="0" anchor="t">
            <a:spAutoFit/>
          </a:bodyPr>
          <a:lstStyle/>
          <a:p>
            <a:pPr algn="r"/>
            <a:r>
              <a:rPr sz="1200" b="1">
                <a:solidFill>
                  <a:srgbClr val="646F82"/>
                </a:solidFill>
                <a:latin typeface="Aptos"/>
              </a:rPr>
              <a:t>Instructor
Korhan Karabulut</a:t>
            </a:r>
          </a:p>
        </p:txBody>
      </p:sp>
      <p:sp>
        <p:nvSpPr>
          <p:cNvPr id="25" name="TextBox 24"/>
          <p:cNvSpPr txBox="1"/>
          <p:nvPr/>
        </p:nvSpPr>
        <p:spPr>
          <a:xfrm>
            <a:off x="11558016" y="6565392"/>
            <a:ext cx="228600" cy="137160"/>
          </a:xfrm>
          <a:prstGeom prst="rect">
            <a:avLst/>
          </a:prstGeom>
          <a:noFill/>
        </p:spPr>
        <p:txBody>
          <a:bodyPr wrap="none" lIns="0" tIns="0" rIns="0" bIns="0" anchor="t">
            <a:spAutoFit/>
          </a:bodyPr>
          <a:lstStyle/>
          <a:p>
            <a:r>
              <a:rPr sz="800" b="0">
                <a:solidFill>
                  <a:srgbClr val="FFFFFF"/>
                </a:solidFill>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p:cNvSpPr txBox="1"/>
          <p:nvPr/>
        </p:nvSpPr>
        <p:spPr>
          <a:xfrm>
            <a:off x="475488" y="256032"/>
            <a:ext cx="3291840" cy="228600"/>
          </a:xfrm>
          <a:prstGeom prst="rect">
            <a:avLst/>
          </a:prstGeom>
          <a:noFill/>
        </p:spPr>
        <p:txBody>
          <a:bodyPr wrap="none" lIns="0" tIns="0" rIns="0" bIns="0" anchor="t">
            <a:spAutoFit/>
          </a:bodyPr>
          <a:lstStyle/>
          <a:p>
            <a:pPr algn="l"/>
            <a:r>
              <a:rPr sz="900" b="1">
                <a:solidFill>
                  <a:srgbClr val="FF6F0F"/>
                </a:solidFill>
                <a:latin typeface="Aptos"/>
              </a:rPr>
              <a:t>SE 2226 TESTING PROJECT</a:t>
            </a:r>
          </a:p>
        </p:txBody>
      </p:sp>
      <p:sp>
        <p:nvSpPr>
          <p:cNvPr id="3" name="Rectangle 2"/>
          <p:cNvSpPr/>
          <p:nvPr/>
        </p:nvSpPr>
        <p:spPr>
          <a:xfrm>
            <a:off x="0" y="0"/>
            <a:ext cx="118872" cy="6858000"/>
          </a:xfrm>
          <a:prstGeom prst="rect">
            <a:avLst/>
          </a:prstGeom>
          <a:solidFill>
            <a:srgbClr val="FF6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13232" y="932688"/>
            <a:ext cx="4114800" cy="987552"/>
          </a:xfrm>
          <a:prstGeom prst="rect">
            <a:avLst/>
          </a:prstGeom>
          <a:noFill/>
        </p:spPr>
        <p:txBody>
          <a:bodyPr wrap="none" lIns="0" tIns="0" rIns="0" bIns="0" anchor="t">
            <a:spAutoFit/>
          </a:bodyPr>
          <a:lstStyle/>
          <a:p>
            <a:pPr algn="l"/>
            <a:r>
              <a:rPr sz="4000" b="1">
                <a:solidFill>
                  <a:srgbClr val="0C121E"/>
                </a:solidFill>
                <a:latin typeface="Aptos"/>
              </a:rPr>
              <a:t>Presentation
Outline</a:t>
            </a:r>
          </a:p>
        </p:txBody>
      </p:sp>
      <p:cxnSp>
        <p:nvCxnSpPr>
          <p:cNvPr id="6" name="Connector 5"/>
          <p:cNvCxnSpPr/>
          <p:nvPr/>
        </p:nvCxnSpPr>
        <p:spPr>
          <a:xfrm>
            <a:off x="749808" y="2542032"/>
            <a:ext cx="2523744" cy="0"/>
          </a:xfrm>
          <a:prstGeom prst="line">
            <a:avLst/>
          </a:prstGeom>
          <a:ln w="50800">
            <a:solidFill>
              <a:srgbClr val="FF6F0F"/>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4945139" y="740664"/>
            <a:ext cx="6263640" cy="5376672"/>
          </a:xfrm>
          <a:prstGeom prst="roundRect">
            <a:avLst/>
          </a:prstGeom>
          <a:solidFill>
            <a:srgbClr val="FFFFFF"/>
          </a:solidFill>
          <a:ln>
            <a:solidFill>
              <a:srgbClr val="DE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flipV="1">
            <a:off x="5406215" y="1116737"/>
            <a:ext cx="689784" cy="153888"/>
          </a:xfrm>
          <a:prstGeom prst="rect">
            <a:avLst/>
          </a:prstGeom>
          <a:noFill/>
        </p:spPr>
        <p:txBody>
          <a:bodyPr wrap="square" lIns="0" tIns="0" rIns="0" bIns="0" anchor="ctr">
            <a:spAutoFit/>
          </a:bodyPr>
          <a:lstStyle/>
          <a:p>
            <a:pPr algn="ctr"/>
            <a:r>
              <a:rPr sz="1000" b="1" dirty="0">
                <a:solidFill>
                  <a:srgbClr val="FFFFFF"/>
                </a:solidFill>
                <a:latin typeface="Aptos"/>
              </a:rPr>
              <a:t>1</a:t>
            </a:r>
          </a:p>
        </p:txBody>
      </p:sp>
      <p:sp>
        <p:nvSpPr>
          <p:cNvPr id="14" name="TextBox 13"/>
          <p:cNvSpPr txBox="1"/>
          <p:nvPr/>
        </p:nvSpPr>
        <p:spPr>
          <a:xfrm>
            <a:off x="5371751" y="1957595"/>
            <a:ext cx="137858" cy="153888"/>
          </a:xfrm>
          <a:prstGeom prst="rect">
            <a:avLst/>
          </a:prstGeom>
          <a:noFill/>
        </p:spPr>
        <p:txBody>
          <a:bodyPr wrap="square" lIns="0" tIns="0" rIns="0" bIns="0" anchor="ctr">
            <a:spAutoFit/>
          </a:bodyPr>
          <a:lstStyle/>
          <a:p>
            <a:pPr algn="ctr"/>
            <a:r>
              <a:rPr sz="1000" b="1">
                <a:solidFill>
                  <a:srgbClr val="FFFFFF"/>
                </a:solidFill>
                <a:latin typeface="Aptos"/>
              </a:rPr>
              <a:t>02</a:t>
            </a:r>
          </a:p>
        </p:txBody>
      </p:sp>
      <p:cxnSp>
        <p:nvCxnSpPr>
          <p:cNvPr id="16" name="Connector 15"/>
          <p:cNvCxnSpPr>
            <a:cxnSpLocks/>
          </p:cNvCxnSpPr>
          <p:nvPr/>
        </p:nvCxnSpPr>
        <p:spPr>
          <a:xfrm>
            <a:off x="5721767" y="1894229"/>
            <a:ext cx="0" cy="534831"/>
          </a:xfrm>
          <a:prstGeom prst="line">
            <a:avLst/>
          </a:prstGeom>
          <a:ln w="25400">
            <a:solidFill>
              <a:srgbClr val="DAE0E8"/>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5492082" y="1445923"/>
            <a:ext cx="428047" cy="460834"/>
          </a:xfrm>
          <a:prstGeom prst="ellipse">
            <a:avLst/>
          </a:prstGeom>
          <a:solidFill>
            <a:srgbClr val="FF6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tr-TR" dirty="0"/>
              <a:t>1</a:t>
            </a:r>
            <a:endParaRPr dirty="0"/>
          </a:p>
        </p:txBody>
      </p:sp>
      <p:sp>
        <p:nvSpPr>
          <p:cNvPr id="19" name="TextBox 18"/>
          <p:cNvSpPr txBox="1"/>
          <p:nvPr/>
        </p:nvSpPr>
        <p:spPr>
          <a:xfrm>
            <a:off x="6095999" y="1578488"/>
            <a:ext cx="4937760" cy="276999"/>
          </a:xfrm>
          <a:prstGeom prst="rect">
            <a:avLst/>
          </a:prstGeom>
          <a:noFill/>
        </p:spPr>
        <p:txBody>
          <a:bodyPr wrap="square" lIns="0" tIns="0" rIns="0" bIns="0" anchor="t">
            <a:spAutoFit/>
          </a:bodyPr>
          <a:lstStyle/>
          <a:p>
            <a:pPr algn="l"/>
            <a:r>
              <a:rPr b="1" dirty="0">
                <a:solidFill>
                  <a:srgbClr val="202530"/>
                </a:solidFill>
                <a:latin typeface="Aptos"/>
              </a:rPr>
              <a:t>Functional Testing &amp; GUI Automation</a:t>
            </a:r>
          </a:p>
        </p:txBody>
      </p:sp>
      <p:cxnSp>
        <p:nvCxnSpPr>
          <p:cNvPr id="20" name="Connector 19"/>
          <p:cNvCxnSpPr>
            <a:cxnSpLocks/>
          </p:cNvCxnSpPr>
          <p:nvPr/>
        </p:nvCxnSpPr>
        <p:spPr>
          <a:xfrm>
            <a:off x="5721767" y="2711745"/>
            <a:ext cx="0" cy="438911"/>
          </a:xfrm>
          <a:prstGeom prst="line">
            <a:avLst/>
          </a:prstGeom>
          <a:ln w="25400">
            <a:solidFill>
              <a:srgbClr val="DAE0E8"/>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5520412" y="2280010"/>
            <a:ext cx="410520" cy="438911"/>
          </a:xfrm>
          <a:prstGeom prst="ellipse">
            <a:avLst/>
          </a:prstGeom>
          <a:solidFill>
            <a:srgbClr val="FF6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tr-TR" dirty="0"/>
              <a:t>2</a:t>
            </a:r>
            <a:endParaRPr dirty="0"/>
          </a:p>
        </p:txBody>
      </p:sp>
      <p:sp>
        <p:nvSpPr>
          <p:cNvPr id="23" name="TextBox 22"/>
          <p:cNvSpPr txBox="1"/>
          <p:nvPr/>
        </p:nvSpPr>
        <p:spPr>
          <a:xfrm>
            <a:off x="6095999" y="2390342"/>
            <a:ext cx="4937760" cy="276999"/>
          </a:xfrm>
          <a:prstGeom prst="rect">
            <a:avLst/>
          </a:prstGeom>
          <a:noFill/>
        </p:spPr>
        <p:txBody>
          <a:bodyPr wrap="square" lIns="0" tIns="0" rIns="0" bIns="0" anchor="t">
            <a:spAutoFit/>
          </a:bodyPr>
          <a:lstStyle/>
          <a:p>
            <a:pPr algn="l"/>
            <a:r>
              <a:rPr b="1" dirty="0">
                <a:solidFill>
                  <a:srgbClr val="202530"/>
                </a:solidFill>
                <a:latin typeface="Aptos"/>
              </a:rPr>
              <a:t>Structural Testing &amp; Mutation Analysis</a:t>
            </a:r>
          </a:p>
        </p:txBody>
      </p:sp>
      <p:cxnSp>
        <p:nvCxnSpPr>
          <p:cNvPr id="24" name="Connector 23"/>
          <p:cNvCxnSpPr>
            <a:cxnSpLocks/>
          </p:cNvCxnSpPr>
          <p:nvPr/>
        </p:nvCxnSpPr>
        <p:spPr>
          <a:xfrm>
            <a:off x="5721767" y="3401568"/>
            <a:ext cx="0" cy="438912"/>
          </a:xfrm>
          <a:prstGeom prst="line">
            <a:avLst/>
          </a:prstGeom>
          <a:ln w="25400">
            <a:solidFill>
              <a:srgbClr val="DAE0E8"/>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5509609" y="3046511"/>
            <a:ext cx="410520" cy="397216"/>
          </a:xfrm>
          <a:prstGeom prst="ellipse">
            <a:avLst/>
          </a:prstGeom>
          <a:solidFill>
            <a:srgbClr val="FF6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tr-TR" dirty="0"/>
              <a:t>3</a:t>
            </a:r>
            <a:endParaRPr dirty="0"/>
          </a:p>
        </p:txBody>
      </p:sp>
      <p:sp>
        <p:nvSpPr>
          <p:cNvPr id="27" name="TextBox 26"/>
          <p:cNvSpPr txBox="1"/>
          <p:nvPr/>
        </p:nvSpPr>
        <p:spPr>
          <a:xfrm>
            <a:off x="6132287" y="3087993"/>
            <a:ext cx="4937760" cy="276999"/>
          </a:xfrm>
          <a:prstGeom prst="rect">
            <a:avLst/>
          </a:prstGeom>
          <a:noFill/>
        </p:spPr>
        <p:txBody>
          <a:bodyPr wrap="square" lIns="0" tIns="0" rIns="0" bIns="0" anchor="t">
            <a:spAutoFit/>
          </a:bodyPr>
          <a:lstStyle/>
          <a:p>
            <a:r>
              <a:rPr b="1" dirty="0">
                <a:solidFill>
                  <a:srgbClr val="1F2D42"/>
                </a:solidFill>
              </a:rPr>
              <a:t>Performance, Load &amp; Stress</a:t>
            </a:r>
          </a:p>
        </p:txBody>
      </p:sp>
      <p:cxnSp>
        <p:nvCxnSpPr>
          <p:cNvPr id="28" name="Connector 27"/>
          <p:cNvCxnSpPr>
            <a:cxnSpLocks/>
          </p:cNvCxnSpPr>
          <p:nvPr/>
        </p:nvCxnSpPr>
        <p:spPr>
          <a:xfrm>
            <a:off x="5725672" y="4065055"/>
            <a:ext cx="0" cy="536041"/>
          </a:xfrm>
          <a:prstGeom prst="line">
            <a:avLst/>
          </a:prstGeom>
          <a:ln w="25400">
            <a:solidFill>
              <a:srgbClr val="DAE0E8"/>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5509609" y="3827312"/>
            <a:ext cx="410520" cy="397216"/>
          </a:xfrm>
          <a:prstGeom prst="ellipse">
            <a:avLst/>
          </a:prstGeom>
          <a:solidFill>
            <a:srgbClr val="FF6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tr-TR" dirty="0"/>
              <a:t>4</a:t>
            </a:r>
            <a:endParaRPr dirty="0"/>
          </a:p>
        </p:txBody>
      </p:sp>
      <p:sp>
        <p:nvSpPr>
          <p:cNvPr id="31" name="TextBox 30"/>
          <p:cNvSpPr txBox="1"/>
          <p:nvPr/>
        </p:nvSpPr>
        <p:spPr>
          <a:xfrm>
            <a:off x="6132287" y="3881554"/>
            <a:ext cx="4937760" cy="276999"/>
          </a:xfrm>
          <a:prstGeom prst="rect">
            <a:avLst/>
          </a:prstGeom>
          <a:noFill/>
        </p:spPr>
        <p:txBody>
          <a:bodyPr wrap="square" lIns="0" tIns="0" rIns="0" bIns="0" anchor="t">
            <a:spAutoFit/>
          </a:bodyPr>
          <a:lstStyle/>
          <a:p>
            <a:pPr algn="l"/>
            <a:r>
              <a:rPr b="1" dirty="0">
                <a:solidFill>
                  <a:srgbClr val="202530"/>
                </a:solidFill>
                <a:latin typeface="Aptos"/>
              </a:rPr>
              <a:t>Usability &amp; Cross-Browser Compatibility</a:t>
            </a:r>
          </a:p>
        </p:txBody>
      </p:sp>
      <p:sp>
        <p:nvSpPr>
          <p:cNvPr id="32" name="Oval 31"/>
          <p:cNvSpPr/>
          <p:nvPr/>
        </p:nvSpPr>
        <p:spPr>
          <a:xfrm>
            <a:off x="5500849" y="4601096"/>
            <a:ext cx="428039" cy="397215"/>
          </a:xfrm>
          <a:prstGeom prst="ellipse">
            <a:avLst/>
          </a:prstGeom>
          <a:solidFill>
            <a:srgbClr val="FF6F0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tr-TR" dirty="0"/>
              <a:t>5</a:t>
            </a:r>
            <a:endParaRPr dirty="0"/>
          </a:p>
        </p:txBody>
      </p:sp>
      <p:sp>
        <p:nvSpPr>
          <p:cNvPr id="34" name="TextBox 33"/>
          <p:cNvSpPr txBox="1"/>
          <p:nvPr/>
        </p:nvSpPr>
        <p:spPr>
          <a:xfrm>
            <a:off x="6132287" y="4675115"/>
            <a:ext cx="4937760" cy="276999"/>
          </a:xfrm>
          <a:prstGeom prst="rect">
            <a:avLst/>
          </a:prstGeom>
          <a:noFill/>
        </p:spPr>
        <p:txBody>
          <a:bodyPr wrap="square" lIns="0" tIns="0" rIns="0" bIns="0" anchor="t">
            <a:spAutoFit/>
          </a:bodyPr>
          <a:lstStyle/>
          <a:p>
            <a:pPr algn="l"/>
            <a:r>
              <a:rPr b="1" dirty="0">
                <a:solidFill>
                  <a:srgbClr val="202530"/>
                </a:solidFill>
                <a:latin typeface="Aptos"/>
              </a:rPr>
              <a:t>Conclusion &amp; Final Verdict</a:t>
            </a:r>
          </a:p>
        </p:txBody>
      </p:sp>
      <p:sp>
        <p:nvSpPr>
          <p:cNvPr id="35" name="Rounded Rectangle 34"/>
          <p:cNvSpPr/>
          <p:nvPr/>
        </p:nvSpPr>
        <p:spPr>
          <a:xfrm>
            <a:off x="749808" y="3218688"/>
            <a:ext cx="3611880" cy="621792"/>
          </a:xfrm>
          <a:prstGeom prst="roundRect">
            <a:avLst/>
          </a:prstGeom>
          <a:solidFill>
            <a:srgbClr val="FFFFFF"/>
          </a:solidFill>
          <a:ln>
            <a:solidFill>
              <a:srgbClr val="DE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987552" y="3364992"/>
            <a:ext cx="640080" cy="164592"/>
          </a:xfrm>
          <a:prstGeom prst="rect">
            <a:avLst/>
          </a:prstGeom>
          <a:noFill/>
        </p:spPr>
        <p:txBody>
          <a:bodyPr wrap="none" lIns="0" tIns="0" rIns="0" bIns="0" anchor="t">
            <a:spAutoFit/>
          </a:bodyPr>
          <a:lstStyle/>
          <a:p>
            <a:pPr algn="l"/>
            <a:r>
              <a:rPr sz="1000" b="1">
                <a:solidFill>
                  <a:srgbClr val="FF6F0F"/>
                </a:solidFill>
                <a:latin typeface="Aptos"/>
              </a:rPr>
              <a:t>SUT 1</a:t>
            </a:r>
          </a:p>
        </p:txBody>
      </p:sp>
      <p:sp>
        <p:nvSpPr>
          <p:cNvPr id="37" name="TextBox 36"/>
          <p:cNvSpPr txBox="1"/>
          <p:nvPr/>
        </p:nvSpPr>
        <p:spPr>
          <a:xfrm>
            <a:off x="1700784" y="3328416"/>
            <a:ext cx="2331720" cy="219456"/>
          </a:xfrm>
          <a:prstGeom prst="rect">
            <a:avLst/>
          </a:prstGeom>
          <a:noFill/>
        </p:spPr>
        <p:txBody>
          <a:bodyPr wrap="none" lIns="0" tIns="0" rIns="0" bIns="0" anchor="t">
            <a:spAutoFit/>
          </a:bodyPr>
          <a:lstStyle/>
          <a:p>
            <a:pPr algn="l"/>
            <a:r>
              <a:rPr sz="1100" b="1">
                <a:solidFill>
                  <a:srgbClr val="202530"/>
                </a:solidFill>
                <a:latin typeface="Aptos"/>
              </a:rPr>
              <a:t>OrangeHRM GUI + non-functional testing</a:t>
            </a:r>
          </a:p>
        </p:txBody>
      </p:sp>
      <p:sp>
        <p:nvSpPr>
          <p:cNvPr id="38" name="Rounded Rectangle 37"/>
          <p:cNvSpPr/>
          <p:nvPr/>
        </p:nvSpPr>
        <p:spPr>
          <a:xfrm>
            <a:off x="749808" y="4041648"/>
            <a:ext cx="3611880" cy="621792"/>
          </a:xfrm>
          <a:prstGeom prst="roundRect">
            <a:avLst/>
          </a:prstGeom>
          <a:solidFill>
            <a:srgbClr val="FFFFFF"/>
          </a:solidFill>
          <a:ln>
            <a:solidFill>
              <a:srgbClr val="DE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87552" y="4187952"/>
            <a:ext cx="640080" cy="164592"/>
          </a:xfrm>
          <a:prstGeom prst="rect">
            <a:avLst/>
          </a:prstGeom>
          <a:noFill/>
        </p:spPr>
        <p:txBody>
          <a:bodyPr wrap="none" lIns="0" tIns="0" rIns="0" bIns="0" anchor="t">
            <a:spAutoFit/>
          </a:bodyPr>
          <a:lstStyle/>
          <a:p>
            <a:pPr algn="l"/>
            <a:r>
              <a:rPr sz="1000" b="1">
                <a:solidFill>
                  <a:srgbClr val="FF6F0F"/>
                </a:solidFill>
                <a:latin typeface="Aptos"/>
              </a:rPr>
              <a:t>SUT 2</a:t>
            </a:r>
          </a:p>
        </p:txBody>
      </p:sp>
      <p:sp>
        <p:nvSpPr>
          <p:cNvPr id="40" name="TextBox 39"/>
          <p:cNvSpPr txBox="1"/>
          <p:nvPr/>
        </p:nvSpPr>
        <p:spPr>
          <a:xfrm>
            <a:off x="1700784" y="4151376"/>
            <a:ext cx="2423160" cy="219456"/>
          </a:xfrm>
          <a:prstGeom prst="rect">
            <a:avLst/>
          </a:prstGeom>
          <a:noFill/>
        </p:spPr>
        <p:txBody>
          <a:bodyPr wrap="none" lIns="0" tIns="0" rIns="0" bIns="0" anchor="t">
            <a:spAutoFit/>
          </a:bodyPr>
          <a:lstStyle/>
          <a:p>
            <a:pPr algn="l"/>
            <a:r>
              <a:rPr sz="1100" b="1" dirty="0">
                <a:solidFill>
                  <a:srgbClr val="202530"/>
                </a:solidFill>
                <a:latin typeface="Aptos"/>
              </a:rPr>
              <a:t>Library-DB-Express unit + mutation testing</a:t>
            </a:r>
          </a:p>
        </p:txBody>
      </p:sp>
      <p:sp>
        <p:nvSpPr>
          <p:cNvPr id="41" name="Rounded Rectangle 40"/>
          <p:cNvSpPr/>
          <p:nvPr/>
        </p:nvSpPr>
        <p:spPr>
          <a:xfrm>
            <a:off x="749808" y="4864608"/>
            <a:ext cx="3611880" cy="621792"/>
          </a:xfrm>
          <a:prstGeom prst="roundRect">
            <a:avLst/>
          </a:prstGeom>
          <a:solidFill>
            <a:srgbClr val="0C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87552" y="5010912"/>
            <a:ext cx="868680" cy="164592"/>
          </a:xfrm>
          <a:prstGeom prst="rect">
            <a:avLst/>
          </a:prstGeom>
          <a:noFill/>
        </p:spPr>
        <p:txBody>
          <a:bodyPr wrap="none" lIns="0" tIns="0" rIns="0" bIns="0" anchor="t">
            <a:spAutoFit/>
          </a:bodyPr>
          <a:lstStyle/>
          <a:p>
            <a:pPr algn="l"/>
            <a:r>
              <a:rPr sz="1000" b="1">
                <a:solidFill>
                  <a:srgbClr val="FF6F0F"/>
                </a:solidFill>
                <a:latin typeface="Aptos"/>
              </a:rPr>
              <a:t>Evidence</a:t>
            </a:r>
          </a:p>
        </p:txBody>
      </p:sp>
      <p:sp>
        <p:nvSpPr>
          <p:cNvPr id="43" name="TextBox 42"/>
          <p:cNvSpPr txBox="1"/>
          <p:nvPr/>
        </p:nvSpPr>
        <p:spPr>
          <a:xfrm>
            <a:off x="1847088" y="4974336"/>
            <a:ext cx="2351688" cy="338554"/>
          </a:xfrm>
          <a:prstGeom prst="rect">
            <a:avLst/>
          </a:prstGeom>
          <a:noFill/>
        </p:spPr>
        <p:txBody>
          <a:bodyPr wrap="square" lIns="0" tIns="0" rIns="0" bIns="0" anchor="t">
            <a:spAutoFit/>
          </a:bodyPr>
          <a:lstStyle/>
          <a:p>
            <a:pPr algn="l"/>
            <a:r>
              <a:rPr sz="1100" b="1" dirty="0">
                <a:solidFill>
                  <a:srgbClr val="FFFFFF"/>
                </a:solidFill>
                <a:latin typeface="Aptos"/>
              </a:rPr>
              <a:t>Reports, automation videos, and test results</a:t>
            </a:r>
          </a:p>
        </p:txBody>
      </p:sp>
      <p:sp>
        <p:nvSpPr>
          <p:cNvPr id="44" name="TextBox 43"/>
          <p:cNvSpPr txBox="1"/>
          <p:nvPr/>
        </p:nvSpPr>
        <p:spPr>
          <a:xfrm>
            <a:off x="11558016" y="6565392"/>
            <a:ext cx="228600" cy="137160"/>
          </a:xfrm>
          <a:prstGeom prst="rect">
            <a:avLst/>
          </a:prstGeom>
          <a:noFill/>
        </p:spPr>
        <p:txBody>
          <a:bodyPr wrap="none" lIns="0" tIns="0" rIns="0" bIns="0" anchor="t">
            <a:spAutoFit/>
          </a:bodyPr>
          <a:lstStyle/>
          <a:p>
            <a:r>
              <a:rPr sz="800" b="0">
                <a:solidFill>
                  <a:srgbClr val="FFFFFF"/>
                </a:solidFill>
              </a:rPr>
              <a:t>2</a:t>
            </a:r>
          </a:p>
        </p:txBody>
      </p:sp>
    </p:spTree>
    <p:extLst>
      <p:ext uri="{BB962C8B-B14F-4D97-AF65-F5344CB8AC3E}">
        <p14:creationId xmlns:p14="http://schemas.microsoft.com/office/powerpoint/2010/main" val="23275125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4572000" cy="228600"/>
          </a:xfrm>
          <a:prstGeom prst="rect">
            <a:avLst/>
          </a:prstGeom>
          <a:noFill/>
        </p:spPr>
        <p:txBody>
          <a:bodyPr wrap="none">
            <a:spAutoFit/>
          </a:bodyPr>
          <a:lstStyle/>
          <a:p>
            <a:pPr>
              <a:defRPr sz="900" b="1">
                <a:solidFill>
                  <a:srgbClr val="FF6000"/>
                </a:solidFill>
              </a:defRPr>
            </a:pPr>
            <a:r>
              <a:t>SE 2226 TESTING PROJECT</a:t>
            </a:r>
          </a:p>
        </p:txBody>
      </p:sp>
      <p:sp>
        <p:nvSpPr>
          <p:cNvPr id="4" name="TextBox 3"/>
          <p:cNvSpPr txBox="1"/>
          <p:nvPr/>
        </p:nvSpPr>
        <p:spPr>
          <a:xfrm>
            <a:off x="502920" y="850669"/>
            <a:ext cx="8961120" cy="502920"/>
          </a:xfrm>
          <a:prstGeom prst="rect">
            <a:avLst/>
          </a:prstGeom>
          <a:noFill/>
        </p:spPr>
        <p:txBody>
          <a:bodyPr wrap="none">
            <a:spAutoFit/>
          </a:bodyPr>
          <a:lstStyle/>
          <a:p>
            <a:pPr>
              <a:defRPr sz="2700" b="1">
                <a:solidFill>
                  <a:srgbClr val="20242A"/>
                </a:solidFill>
              </a:defRPr>
            </a:pPr>
            <a:r>
              <a:rPr dirty="0"/>
              <a:t>Test Design Tables — ECP &amp; BVA</a:t>
            </a:r>
          </a:p>
        </p:txBody>
      </p:sp>
      <p:sp>
        <p:nvSpPr>
          <p:cNvPr id="5" name="TextBox 4"/>
          <p:cNvSpPr txBox="1"/>
          <p:nvPr/>
        </p:nvSpPr>
        <p:spPr>
          <a:xfrm>
            <a:off x="502920" y="6519672"/>
            <a:ext cx="7132320" cy="164592"/>
          </a:xfrm>
          <a:prstGeom prst="rect">
            <a:avLst/>
          </a:prstGeom>
          <a:noFill/>
        </p:spPr>
        <p:txBody>
          <a:bodyPr wrap="none">
            <a:spAutoFit/>
          </a:bodyPr>
          <a:lstStyle/>
          <a:p>
            <a:pPr>
              <a:defRPr sz="750">
                <a:solidFill>
                  <a:srgbClr val="5F6770"/>
                </a:solidFill>
              </a:defRPr>
            </a:pPr>
            <a:r>
              <a:t>3.Functional Testing &amp; GUI Automation</a:t>
            </a:r>
          </a:p>
        </p:txBody>
      </p:sp>
      <p:sp>
        <p:nvSpPr>
          <p:cNvPr id="7" name="Rectangle 6"/>
          <p:cNvSpPr/>
          <p:nvPr/>
        </p:nvSpPr>
        <p:spPr>
          <a:xfrm>
            <a:off x="640080" y="1417320"/>
            <a:ext cx="1143000" cy="54864"/>
          </a:xfrm>
          <a:prstGeom prst="rect">
            <a:avLst/>
          </a:prstGeom>
          <a:solidFill>
            <a:srgbClr val="FF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40080" y="2368573"/>
            <a:ext cx="1371600" cy="292608"/>
          </a:xfrm>
          <a:prstGeom prst="roundRect">
            <a:avLst/>
          </a:prstGeom>
          <a:solidFill>
            <a:srgbClr val="1C70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rPr dirty="0"/>
              <a:t>Employee ID</a:t>
            </a:r>
          </a:p>
        </p:txBody>
      </p:sp>
      <p:graphicFrame>
        <p:nvGraphicFramePr>
          <p:cNvPr id="10" name="Table 9"/>
          <p:cNvGraphicFramePr>
            <a:graphicFrameLocks noGrp="1"/>
          </p:cNvGraphicFramePr>
          <p:nvPr>
            <p:extLst>
              <p:ext uri="{D42A27DB-BD31-4B8C-83A1-F6EECF244321}">
                <p14:modId xmlns:p14="http://schemas.microsoft.com/office/powerpoint/2010/main" val="767589634"/>
              </p:ext>
            </p:extLst>
          </p:nvPr>
        </p:nvGraphicFramePr>
        <p:xfrm>
          <a:off x="640080" y="2889227"/>
          <a:ext cx="4983479" cy="1920240"/>
        </p:xfrm>
        <a:graphic>
          <a:graphicData uri="http://schemas.openxmlformats.org/drawingml/2006/table">
            <a:tbl>
              <a:tblPr firstRow="1" bandRow="1">
                <a:tableStyleId>{5C22544A-7EE6-4342-B048-85BDC9FD1C3A}</a:tableStyleId>
              </a:tblPr>
              <a:tblGrid>
                <a:gridCol w="897026">
                  <a:extLst>
                    <a:ext uri="{9D8B030D-6E8A-4147-A177-3AD203B41FA5}">
                      <a16:colId xmlns:a16="http://schemas.microsoft.com/office/drawing/2014/main" val="20000"/>
                    </a:ext>
                  </a:extLst>
                </a:gridCol>
                <a:gridCol w="1694383">
                  <a:extLst>
                    <a:ext uri="{9D8B030D-6E8A-4147-A177-3AD203B41FA5}">
                      <a16:colId xmlns:a16="http://schemas.microsoft.com/office/drawing/2014/main" val="20001"/>
                    </a:ext>
                  </a:extLst>
                </a:gridCol>
                <a:gridCol w="1495044">
                  <a:extLst>
                    <a:ext uri="{9D8B030D-6E8A-4147-A177-3AD203B41FA5}">
                      <a16:colId xmlns:a16="http://schemas.microsoft.com/office/drawing/2014/main" val="20002"/>
                    </a:ext>
                  </a:extLst>
                </a:gridCol>
                <a:gridCol w="897026">
                  <a:extLst>
                    <a:ext uri="{9D8B030D-6E8A-4147-A177-3AD203B41FA5}">
                      <a16:colId xmlns:a16="http://schemas.microsoft.com/office/drawing/2014/main" val="20003"/>
                    </a:ext>
                  </a:extLst>
                </a:gridCol>
              </a:tblGrid>
              <a:tr h="320040">
                <a:tc>
                  <a:txBody>
                    <a:bodyPr/>
                    <a:lstStyle/>
                    <a:p>
                      <a:pPr algn="ctr"/>
                      <a:r>
                        <a:rPr sz="880" b="1">
                          <a:solidFill>
                            <a:srgbClr val="FFFFFF"/>
                          </a:solidFill>
                          <a:latin typeface="Aptos"/>
                        </a:rPr>
                        <a:t>Class</a:t>
                      </a:r>
                    </a:p>
                  </a:txBody>
                  <a:tcPr>
                    <a:solidFill>
                      <a:srgbClr val="1C707C"/>
                    </a:solidFill>
                  </a:tcPr>
                </a:tc>
                <a:tc>
                  <a:txBody>
                    <a:bodyPr/>
                    <a:lstStyle/>
                    <a:p>
                      <a:pPr algn="ctr"/>
                      <a:r>
                        <a:rPr sz="880" b="1">
                          <a:solidFill>
                            <a:srgbClr val="FFFFFF"/>
                          </a:solidFill>
                          <a:latin typeface="Aptos"/>
                        </a:rPr>
                        <a:t>Input</a:t>
                      </a:r>
                    </a:p>
                  </a:txBody>
                  <a:tcPr>
                    <a:solidFill>
                      <a:srgbClr val="1C707C"/>
                    </a:solidFill>
                  </a:tcPr>
                </a:tc>
                <a:tc>
                  <a:txBody>
                    <a:bodyPr/>
                    <a:lstStyle/>
                    <a:p>
                      <a:pPr algn="ctr"/>
                      <a:r>
                        <a:rPr sz="880" b="1">
                          <a:solidFill>
                            <a:srgbClr val="FFFFFF"/>
                          </a:solidFill>
                          <a:latin typeface="Aptos"/>
                        </a:rPr>
                        <a:t>Expected</a:t>
                      </a:r>
                    </a:p>
                  </a:txBody>
                  <a:tcPr>
                    <a:solidFill>
                      <a:srgbClr val="1C707C"/>
                    </a:solidFill>
                  </a:tcPr>
                </a:tc>
                <a:tc>
                  <a:txBody>
                    <a:bodyPr/>
                    <a:lstStyle/>
                    <a:p>
                      <a:pPr algn="ctr"/>
                      <a:r>
                        <a:rPr sz="880" b="1">
                          <a:solidFill>
                            <a:srgbClr val="FFFFFF"/>
                          </a:solidFill>
                          <a:latin typeface="Aptos"/>
                        </a:rPr>
                        <a:t>Type</a:t>
                      </a:r>
                    </a:p>
                  </a:txBody>
                  <a:tcPr>
                    <a:solidFill>
                      <a:srgbClr val="1C707C"/>
                    </a:solidFill>
                  </a:tcPr>
                </a:tc>
                <a:extLst>
                  <a:ext uri="{0D108BD9-81ED-4DB2-BD59-A6C34878D82A}">
                    <a16:rowId xmlns:a16="http://schemas.microsoft.com/office/drawing/2014/main" val="10000"/>
                  </a:ext>
                </a:extLst>
              </a:tr>
              <a:tr h="320040">
                <a:tc>
                  <a:txBody>
                    <a:bodyPr/>
                    <a:lstStyle/>
                    <a:p>
                      <a:pPr algn="ctr"/>
                      <a:r>
                        <a:rPr sz="880" b="1">
                          <a:solidFill>
                            <a:srgbClr val="20242A"/>
                          </a:solidFill>
                          <a:latin typeface="Aptos"/>
                        </a:rPr>
                        <a:t>EC1</a:t>
                      </a:r>
                    </a:p>
                  </a:txBody>
                  <a:tcPr>
                    <a:solidFill>
                      <a:srgbClr val="DDF1F4"/>
                    </a:solidFill>
                  </a:tcPr>
                </a:tc>
                <a:tc>
                  <a:txBody>
                    <a:bodyPr/>
                    <a:lstStyle/>
                    <a:p>
                      <a:pPr algn="ctr"/>
                      <a:r>
                        <a:rPr sz="880" b="0" dirty="0">
                          <a:solidFill>
                            <a:srgbClr val="20242A"/>
                          </a:solidFill>
                          <a:latin typeface="Aptos"/>
                        </a:rPr>
                        <a:t>1–10 digits</a:t>
                      </a:r>
                    </a:p>
                  </a:txBody>
                  <a:tcPr>
                    <a:solidFill>
                      <a:srgbClr val="FFFFFF"/>
                    </a:solidFill>
                  </a:tcPr>
                </a:tc>
                <a:tc>
                  <a:txBody>
                    <a:bodyPr/>
                    <a:lstStyle/>
                    <a:p>
                      <a:pPr algn="ctr"/>
                      <a:r>
                        <a:rPr sz="880" b="0">
                          <a:solidFill>
                            <a:srgbClr val="20242A"/>
                          </a:solidFill>
                          <a:latin typeface="Aptos"/>
                        </a:rPr>
                        <a:t>Accepted</a:t>
                      </a:r>
                    </a:p>
                  </a:txBody>
                  <a:tcPr>
                    <a:solidFill>
                      <a:srgbClr val="FFFFFF"/>
                    </a:solidFill>
                  </a:tcPr>
                </a:tc>
                <a:tc>
                  <a:txBody>
                    <a:bodyPr/>
                    <a:lstStyle/>
                    <a:p>
                      <a:pPr algn="ctr"/>
                      <a:r>
                        <a:rPr sz="880" b="0">
                          <a:solidFill>
                            <a:srgbClr val="20242A"/>
                          </a:solidFill>
                          <a:latin typeface="Aptos"/>
                        </a:rPr>
                        <a:t>Positive</a:t>
                      </a:r>
                    </a:p>
                  </a:txBody>
                  <a:tcPr>
                    <a:solidFill>
                      <a:srgbClr val="FFFFFF"/>
                    </a:solidFill>
                  </a:tcPr>
                </a:tc>
                <a:extLst>
                  <a:ext uri="{0D108BD9-81ED-4DB2-BD59-A6C34878D82A}">
                    <a16:rowId xmlns:a16="http://schemas.microsoft.com/office/drawing/2014/main" val="10001"/>
                  </a:ext>
                </a:extLst>
              </a:tr>
              <a:tr h="320040">
                <a:tc>
                  <a:txBody>
                    <a:bodyPr/>
                    <a:lstStyle/>
                    <a:p>
                      <a:pPr algn="ctr"/>
                      <a:r>
                        <a:rPr sz="880" b="1">
                          <a:solidFill>
                            <a:srgbClr val="20242A"/>
                          </a:solidFill>
                          <a:latin typeface="Aptos"/>
                        </a:rPr>
                        <a:t>EC2</a:t>
                      </a:r>
                    </a:p>
                  </a:txBody>
                  <a:tcPr>
                    <a:solidFill>
                      <a:srgbClr val="DDF1F4"/>
                    </a:solidFill>
                  </a:tcPr>
                </a:tc>
                <a:tc>
                  <a:txBody>
                    <a:bodyPr/>
                    <a:lstStyle/>
                    <a:p>
                      <a:pPr algn="ctr"/>
                      <a:r>
                        <a:rPr sz="880" b="0" dirty="0">
                          <a:solidFill>
                            <a:srgbClr val="20242A"/>
                          </a:solidFill>
                          <a:latin typeface="Aptos"/>
                        </a:rPr>
                        <a:t>Empty</a:t>
                      </a:r>
                    </a:p>
                  </a:txBody>
                  <a:tcPr>
                    <a:solidFill>
                      <a:srgbClr val="F4F7F8"/>
                    </a:solidFill>
                  </a:tcPr>
                </a:tc>
                <a:tc>
                  <a:txBody>
                    <a:bodyPr/>
                    <a:lstStyle/>
                    <a:p>
                      <a:pPr algn="ctr"/>
                      <a:r>
                        <a:rPr sz="880" b="0">
                          <a:solidFill>
                            <a:srgbClr val="20242A"/>
                          </a:solidFill>
                          <a:latin typeface="Aptos"/>
                        </a:rPr>
                        <a:t>Error message</a:t>
                      </a:r>
                    </a:p>
                  </a:txBody>
                  <a:tcPr>
                    <a:solidFill>
                      <a:srgbClr val="F4F7F8"/>
                    </a:solidFill>
                  </a:tcPr>
                </a:tc>
                <a:tc>
                  <a:txBody>
                    <a:bodyPr/>
                    <a:lstStyle/>
                    <a:p>
                      <a:pPr algn="ctr"/>
                      <a:r>
                        <a:rPr sz="880" b="0">
                          <a:solidFill>
                            <a:srgbClr val="20242A"/>
                          </a:solidFill>
                          <a:latin typeface="Aptos"/>
                        </a:rPr>
                        <a:t>Negative</a:t>
                      </a:r>
                    </a:p>
                  </a:txBody>
                  <a:tcPr>
                    <a:solidFill>
                      <a:srgbClr val="F4F7F8"/>
                    </a:solidFill>
                  </a:tcPr>
                </a:tc>
                <a:extLst>
                  <a:ext uri="{0D108BD9-81ED-4DB2-BD59-A6C34878D82A}">
                    <a16:rowId xmlns:a16="http://schemas.microsoft.com/office/drawing/2014/main" val="10002"/>
                  </a:ext>
                </a:extLst>
              </a:tr>
              <a:tr h="320040">
                <a:tc>
                  <a:txBody>
                    <a:bodyPr/>
                    <a:lstStyle/>
                    <a:p>
                      <a:pPr algn="ctr"/>
                      <a:r>
                        <a:rPr sz="880" b="1">
                          <a:solidFill>
                            <a:srgbClr val="20242A"/>
                          </a:solidFill>
                          <a:latin typeface="Aptos"/>
                        </a:rPr>
                        <a:t>EC3</a:t>
                      </a:r>
                    </a:p>
                  </a:txBody>
                  <a:tcPr>
                    <a:solidFill>
                      <a:srgbClr val="DDF1F4"/>
                    </a:solidFill>
                  </a:tcPr>
                </a:tc>
                <a:tc>
                  <a:txBody>
                    <a:bodyPr/>
                    <a:lstStyle/>
                    <a:p>
                      <a:pPr algn="ctr"/>
                      <a:r>
                        <a:rPr sz="880" b="0" dirty="0">
                          <a:solidFill>
                            <a:srgbClr val="20242A"/>
                          </a:solidFill>
                          <a:latin typeface="Aptos"/>
                        </a:rPr>
                        <a:t>&gt;10 digits</a:t>
                      </a:r>
                    </a:p>
                  </a:txBody>
                  <a:tcPr>
                    <a:solidFill>
                      <a:srgbClr val="FFFFFF"/>
                    </a:solidFill>
                  </a:tcPr>
                </a:tc>
                <a:tc>
                  <a:txBody>
                    <a:bodyPr/>
                    <a:lstStyle/>
                    <a:p>
                      <a:pPr algn="ctr"/>
                      <a:r>
                        <a:rPr sz="880" b="0">
                          <a:solidFill>
                            <a:srgbClr val="20242A"/>
                          </a:solidFill>
                          <a:latin typeface="Aptos"/>
                        </a:rPr>
                        <a:t>Error / truncated</a:t>
                      </a:r>
                    </a:p>
                  </a:txBody>
                  <a:tcPr>
                    <a:solidFill>
                      <a:srgbClr val="FFFFFF"/>
                    </a:solidFill>
                  </a:tcPr>
                </a:tc>
                <a:tc>
                  <a:txBody>
                    <a:bodyPr/>
                    <a:lstStyle/>
                    <a:p>
                      <a:pPr algn="ctr"/>
                      <a:r>
                        <a:rPr sz="880" b="0">
                          <a:solidFill>
                            <a:srgbClr val="20242A"/>
                          </a:solidFill>
                          <a:latin typeface="Aptos"/>
                        </a:rPr>
                        <a:t>Negative</a:t>
                      </a:r>
                    </a:p>
                  </a:txBody>
                  <a:tcPr>
                    <a:solidFill>
                      <a:srgbClr val="FFFFFF"/>
                    </a:solidFill>
                  </a:tcPr>
                </a:tc>
                <a:extLst>
                  <a:ext uri="{0D108BD9-81ED-4DB2-BD59-A6C34878D82A}">
                    <a16:rowId xmlns:a16="http://schemas.microsoft.com/office/drawing/2014/main" val="10003"/>
                  </a:ext>
                </a:extLst>
              </a:tr>
              <a:tr h="320040">
                <a:tc>
                  <a:txBody>
                    <a:bodyPr/>
                    <a:lstStyle/>
                    <a:p>
                      <a:pPr algn="ctr"/>
                      <a:r>
                        <a:rPr sz="880" b="1">
                          <a:solidFill>
                            <a:srgbClr val="20242A"/>
                          </a:solidFill>
                          <a:latin typeface="Aptos"/>
                        </a:rPr>
                        <a:t>EC4</a:t>
                      </a:r>
                    </a:p>
                  </a:txBody>
                  <a:tcPr>
                    <a:solidFill>
                      <a:srgbClr val="DDF1F4"/>
                    </a:solidFill>
                  </a:tcPr>
                </a:tc>
                <a:tc>
                  <a:txBody>
                    <a:bodyPr/>
                    <a:lstStyle/>
                    <a:p>
                      <a:pPr algn="ctr"/>
                      <a:r>
                        <a:rPr sz="880" b="0">
                          <a:solidFill>
                            <a:srgbClr val="20242A"/>
                          </a:solidFill>
                          <a:latin typeface="Aptos"/>
                        </a:rPr>
                        <a:t>Alphabetic</a:t>
                      </a:r>
                    </a:p>
                  </a:txBody>
                  <a:tcPr>
                    <a:solidFill>
                      <a:srgbClr val="F4F7F8"/>
                    </a:solidFill>
                  </a:tcPr>
                </a:tc>
                <a:tc>
                  <a:txBody>
                    <a:bodyPr/>
                    <a:lstStyle/>
                    <a:p>
                      <a:pPr algn="ctr"/>
                      <a:r>
                        <a:rPr sz="880" b="0">
                          <a:solidFill>
                            <a:srgbClr val="20242A"/>
                          </a:solidFill>
                          <a:latin typeface="Aptos"/>
                        </a:rPr>
                        <a:t>Error message</a:t>
                      </a:r>
                    </a:p>
                  </a:txBody>
                  <a:tcPr>
                    <a:solidFill>
                      <a:srgbClr val="F4F7F8"/>
                    </a:solidFill>
                  </a:tcPr>
                </a:tc>
                <a:tc>
                  <a:txBody>
                    <a:bodyPr/>
                    <a:lstStyle/>
                    <a:p>
                      <a:pPr algn="ctr"/>
                      <a:r>
                        <a:rPr sz="880" b="0">
                          <a:solidFill>
                            <a:srgbClr val="20242A"/>
                          </a:solidFill>
                          <a:latin typeface="Aptos"/>
                        </a:rPr>
                        <a:t>Negative</a:t>
                      </a:r>
                    </a:p>
                  </a:txBody>
                  <a:tcPr>
                    <a:solidFill>
                      <a:srgbClr val="F4F7F8"/>
                    </a:solidFill>
                  </a:tcPr>
                </a:tc>
                <a:extLst>
                  <a:ext uri="{0D108BD9-81ED-4DB2-BD59-A6C34878D82A}">
                    <a16:rowId xmlns:a16="http://schemas.microsoft.com/office/drawing/2014/main" val="10004"/>
                  </a:ext>
                </a:extLst>
              </a:tr>
              <a:tr h="320040">
                <a:tc>
                  <a:txBody>
                    <a:bodyPr/>
                    <a:lstStyle/>
                    <a:p>
                      <a:pPr algn="ctr"/>
                      <a:r>
                        <a:rPr sz="880" b="1">
                          <a:solidFill>
                            <a:srgbClr val="20242A"/>
                          </a:solidFill>
                          <a:latin typeface="Aptos"/>
                        </a:rPr>
                        <a:t>EC5</a:t>
                      </a:r>
                    </a:p>
                  </a:txBody>
                  <a:tcPr>
                    <a:solidFill>
                      <a:srgbClr val="DDF1F4"/>
                    </a:solidFill>
                  </a:tcPr>
                </a:tc>
                <a:tc>
                  <a:txBody>
                    <a:bodyPr/>
                    <a:lstStyle/>
                    <a:p>
                      <a:pPr algn="ctr"/>
                      <a:r>
                        <a:rPr sz="880" b="0">
                          <a:solidFill>
                            <a:srgbClr val="20242A"/>
                          </a:solidFill>
                          <a:latin typeface="Aptos"/>
                        </a:rPr>
                        <a:t>Special chars</a:t>
                      </a:r>
                    </a:p>
                  </a:txBody>
                  <a:tcPr>
                    <a:solidFill>
                      <a:srgbClr val="FFFFFF"/>
                    </a:solidFill>
                  </a:tcPr>
                </a:tc>
                <a:tc>
                  <a:txBody>
                    <a:bodyPr/>
                    <a:lstStyle/>
                    <a:p>
                      <a:pPr algn="ctr"/>
                      <a:r>
                        <a:rPr sz="880" b="0">
                          <a:solidFill>
                            <a:srgbClr val="20242A"/>
                          </a:solidFill>
                          <a:latin typeface="Aptos"/>
                        </a:rPr>
                        <a:t>Error message</a:t>
                      </a:r>
                    </a:p>
                  </a:txBody>
                  <a:tcPr>
                    <a:solidFill>
                      <a:srgbClr val="FFFFFF"/>
                    </a:solidFill>
                  </a:tcPr>
                </a:tc>
                <a:tc>
                  <a:txBody>
                    <a:bodyPr/>
                    <a:lstStyle/>
                    <a:p>
                      <a:pPr algn="ctr"/>
                      <a:r>
                        <a:rPr sz="880" b="0" dirty="0">
                          <a:solidFill>
                            <a:srgbClr val="20242A"/>
                          </a:solidFill>
                          <a:latin typeface="Aptos"/>
                        </a:rPr>
                        <a:t>Negative</a:t>
                      </a:r>
                    </a:p>
                  </a:txBody>
                  <a:tcPr>
                    <a:solidFill>
                      <a:srgbClr val="FFFFFF"/>
                    </a:solidFill>
                  </a:tcPr>
                </a:tc>
                <a:extLst>
                  <a:ext uri="{0D108BD9-81ED-4DB2-BD59-A6C34878D82A}">
                    <a16:rowId xmlns:a16="http://schemas.microsoft.com/office/drawing/2014/main" val="10005"/>
                  </a:ext>
                </a:extLst>
              </a:tr>
            </a:tbl>
          </a:graphicData>
        </a:graphic>
      </p:graphicFrame>
      <p:sp>
        <p:nvSpPr>
          <p:cNvPr id="11" name="Rounded Rectangle 10"/>
          <p:cNvSpPr/>
          <p:nvPr/>
        </p:nvSpPr>
        <p:spPr>
          <a:xfrm>
            <a:off x="6126480" y="2404318"/>
            <a:ext cx="1371600" cy="292608"/>
          </a:xfrm>
          <a:prstGeom prst="roundRect">
            <a:avLst/>
          </a:prstGeom>
          <a:solidFill>
            <a:srgbClr val="1C70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FFFFFF"/>
                </a:solidFill>
              </a:defRPr>
            </a:pPr>
            <a:r>
              <a:t>Full Name</a:t>
            </a:r>
          </a:p>
        </p:txBody>
      </p:sp>
      <p:graphicFrame>
        <p:nvGraphicFramePr>
          <p:cNvPr id="12" name="Table 11"/>
          <p:cNvGraphicFramePr>
            <a:graphicFrameLocks noGrp="1"/>
          </p:cNvGraphicFramePr>
          <p:nvPr>
            <p:extLst>
              <p:ext uri="{D42A27DB-BD31-4B8C-83A1-F6EECF244321}">
                <p14:modId xmlns:p14="http://schemas.microsoft.com/office/powerpoint/2010/main" val="1170060266"/>
              </p:ext>
            </p:extLst>
          </p:nvPr>
        </p:nvGraphicFramePr>
        <p:xfrm>
          <a:off x="6096000" y="2889227"/>
          <a:ext cx="5440679" cy="1920240"/>
        </p:xfrm>
        <a:graphic>
          <a:graphicData uri="http://schemas.openxmlformats.org/drawingml/2006/table">
            <a:tbl>
              <a:tblPr firstRow="1" bandRow="1">
                <a:tableStyleId>{5C22544A-7EE6-4342-B048-85BDC9FD1C3A}</a:tableStyleId>
              </a:tblPr>
              <a:tblGrid>
                <a:gridCol w="1360170">
                  <a:extLst>
                    <a:ext uri="{9D8B030D-6E8A-4147-A177-3AD203B41FA5}">
                      <a16:colId xmlns:a16="http://schemas.microsoft.com/office/drawing/2014/main" val="20000"/>
                    </a:ext>
                  </a:extLst>
                </a:gridCol>
                <a:gridCol w="2067458">
                  <a:extLst>
                    <a:ext uri="{9D8B030D-6E8A-4147-A177-3AD203B41FA5}">
                      <a16:colId xmlns:a16="http://schemas.microsoft.com/office/drawing/2014/main" val="20001"/>
                    </a:ext>
                  </a:extLst>
                </a:gridCol>
                <a:gridCol w="1251356">
                  <a:extLst>
                    <a:ext uri="{9D8B030D-6E8A-4147-A177-3AD203B41FA5}">
                      <a16:colId xmlns:a16="http://schemas.microsoft.com/office/drawing/2014/main" val="20002"/>
                    </a:ext>
                  </a:extLst>
                </a:gridCol>
                <a:gridCol w="761695">
                  <a:extLst>
                    <a:ext uri="{9D8B030D-6E8A-4147-A177-3AD203B41FA5}">
                      <a16:colId xmlns:a16="http://schemas.microsoft.com/office/drawing/2014/main" val="20003"/>
                    </a:ext>
                  </a:extLst>
                </a:gridCol>
              </a:tblGrid>
              <a:tr h="274320">
                <a:tc>
                  <a:txBody>
                    <a:bodyPr/>
                    <a:lstStyle/>
                    <a:p>
                      <a:pPr algn="ctr"/>
                      <a:r>
                        <a:rPr sz="810" b="1">
                          <a:solidFill>
                            <a:srgbClr val="FFFFFF"/>
                          </a:solidFill>
                          <a:latin typeface="Aptos"/>
                        </a:rPr>
                        <a:t>Class</a:t>
                      </a:r>
                    </a:p>
                  </a:txBody>
                  <a:tcPr>
                    <a:solidFill>
                      <a:srgbClr val="1C707C"/>
                    </a:solidFill>
                  </a:tcPr>
                </a:tc>
                <a:tc>
                  <a:txBody>
                    <a:bodyPr/>
                    <a:lstStyle/>
                    <a:p>
                      <a:pPr algn="l"/>
                      <a:r>
                        <a:rPr sz="810" b="1">
                          <a:solidFill>
                            <a:srgbClr val="FFFFFF"/>
                          </a:solidFill>
                          <a:latin typeface="Aptos"/>
                        </a:rPr>
                        <a:t>Input category</a:t>
                      </a:r>
                    </a:p>
                  </a:txBody>
                  <a:tcPr>
                    <a:solidFill>
                      <a:srgbClr val="1C707C"/>
                    </a:solidFill>
                  </a:tcPr>
                </a:tc>
                <a:tc>
                  <a:txBody>
                    <a:bodyPr/>
                    <a:lstStyle/>
                    <a:p>
                      <a:pPr algn="ctr"/>
                      <a:r>
                        <a:rPr sz="810" b="1">
                          <a:solidFill>
                            <a:srgbClr val="FFFFFF"/>
                          </a:solidFill>
                          <a:latin typeface="Aptos"/>
                        </a:rPr>
                        <a:t>Expected</a:t>
                      </a:r>
                    </a:p>
                  </a:txBody>
                  <a:tcPr>
                    <a:solidFill>
                      <a:srgbClr val="1C707C"/>
                    </a:solidFill>
                  </a:tcPr>
                </a:tc>
                <a:tc>
                  <a:txBody>
                    <a:bodyPr/>
                    <a:lstStyle/>
                    <a:p>
                      <a:pPr algn="ctr"/>
                      <a:r>
                        <a:rPr sz="810" b="1">
                          <a:solidFill>
                            <a:srgbClr val="FFFFFF"/>
                          </a:solidFill>
                          <a:latin typeface="Aptos"/>
                        </a:rPr>
                        <a:t>Type</a:t>
                      </a:r>
                    </a:p>
                  </a:txBody>
                  <a:tcPr>
                    <a:solidFill>
                      <a:srgbClr val="1C707C"/>
                    </a:solidFill>
                  </a:tcPr>
                </a:tc>
                <a:extLst>
                  <a:ext uri="{0D108BD9-81ED-4DB2-BD59-A6C34878D82A}">
                    <a16:rowId xmlns:a16="http://schemas.microsoft.com/office/drawing/2014/main" val="10000"/>
                  </a:ext>
                </a:extLst>
              </a:tr>
              <a:tr h="274320">
                <a:tc>
                  <a:txBody>
                    <a:bodyPr/>
                    <a:lstStyle/>
                    <a:p>
                      <a:pPr algn="ctr"/>
                      <a:r>
                        <a:rPr sz="810" b="1">
                          <a:solidFill>
                            <a:srgbClr val="20242A"/>
                          </a:solidFill>
                          <a:latin typeface="Aptos"/>
                        </a:rPr>
                        <a:t>EC-NAME-01</a:t>
                      </a:r>
                    </a:p>
                  </a:txBody>
                  <a:tcPr>
                    <a:solidFill>
                      <a:srgbClr val="DDF1F4"/>
                    </a:solidFill>
                  </a:tcPr>
                </a:tc>
                <a:tc>
                  <a:txBody>
                    <a:bodyPr/>
                    <a:lstStyle/>
                    <a:p>
                      <a:pPr algn="l"/>
                      <a:r>
                        <a:rPr sz="810" b="0">
                          <a:solidFill>
                            <a:srgbClr val="20242A"/>
                          </a:solidFill>
                          <a:latin typeface="Aptos"/>
                        </a:rPr>
                        <a:t>2–50 alphabetic chars</a:t>
                      </a:r>
                    </a:p>
                  </a:txBody>
                  <a:tcPr>
                    <a:solidFill>
                      <a:srgbClr val="FFFFFF"/>
                    </a:solidFill>
                  </a:tcPr>
                </a:tc>
                <a:tc>
                  <a:txBody>
                    <a:bodyPr/>
                    <a:lstStyle/>
                    <a:p>
                      <a:pPr algn="ctr"/>
                      <a:r>
                        <a:rPr sz="810" b="0">
                          <a:solidFill>
                            <a:srgbClr val="20242A"/>
                          </a:solidFill>
                          <a:latin typeface="Aptos"/>
                        </a:rPr>
                        <a:t>Accepted</a:t>
                      </a:r>
                    </a:p>
                  </a:txBody>
                  <a:tcPr>
                    <a:solidFill>
                      <a:srgbClr val="FFFFFF"/>
                    </a:solidFill>
                  </a:tcPr>
                </a:tc>
                <a:tc>
                  <a:txBody>
                    <a:bodyPr/>
                    <a:lstStyle/>
                    <a:p>
                      <a:pPr algn="ctr"/>
                      <a:r>
                        <a:rPr sz="810" b="0">
                          <a:solidFill>
                            <a:srgbClr val="20242A"/>
                          </a:solidFill>
                          <a:latin typeface="Aptos"/>
                        </a:rPr>
                        <a:t>Positive</a:t>
                      </a:r>
                    </a:p>
                  </a:txBody>
                  <a:tcPr>
                    <a:solidFill>
                      <a:srgbClr val="FFFFFF"/>
                    </a:solidFill>
                  </a:tcPr>
                </a:tc>
                <a:extLst>
                  <a:ext uri="{0D108BD9-81ED-4DB2-BD59-A6C34878D82A}">
                    <a16:rowId xmlns:a16="http://schemas.microsoft.com/office/drawing/2014/main" val="10001"/>
                  </a:ext>
                </a:extLst>
              </a:tr>
              <a:tr h="274320">
                <a:tc>
                  <a:txBody>
                    <a:bodyPr/>
                    <a:lstStyle/>
                    <a:p>
                      <a:pPr algn="ctr"/>
                      <a:r>
                        <a:rPr sz="810" b="1">
                          <a:solidFill>
                            <a:srgbClr val="20242A"/>
                          </a:solidFill>
                          <a:latin typeface="Aptos"/>
                        </a:rPr>
                        <a:t>EC-NAME-02</a:t>
                      </a:r>
                    </a:p>
                  </a:txBody>
                  <a:tcPr>
                    <a:solidFill>
                      <a:srgbClr val="DDF1F4"/>
                    </a:solidFill>
                  </a:tcPr>
                </a:tc>
                <a:tc>
                  <a:txBody>
                    <a:bodyPr/>
                    <a:lstStyle/>
                    <a:p>
                      <a:pPr algn="l"/>
                      <a:r>
                        <a:rPr sz="810" b="0">
                          <a:solidFill>
                            <a:srgbClr val="20242A"/>
                          </a:solidFill>
                          <a:latin typeface="Aptos"/>
                        </a:rPr>
                        <a:t>Empty / null</a:t>
                      </a:r>
                    </a:p>
                  </a:txBody>
                  <a:tcPr>
                    <a:solidFill>
                      <a:srgbClr val="F4F7F8"/>
                    </a:solidFill>
                  </a:tcPr>
                </a:tc>
                <a:tc>
                  <a:txBody>
                    <a:bodyPr/>
                    <a:lstStyle/>
                    <a:p>
                      <a:pPr algn="ctr"/>
                      <a:r>
                        <a:rPr sz="810" b="0">
                          <a:solidFill>
                            <a:srgbClr val="20242A"/>
                          </a:solidFill>
                          <a:latin typeface="Aptos"/>
                        </a:rPr>
                        <a:t>Error message</a:t>
                      </a:r>
                    </a:p>
                  </a:txBody>
                  <a:tcPr>
                    <a:solidFill>
                      <a:srgbClr val="F4F7F8"/>
                    </a:solidFill>
                  </a:tcPr>
                </a:tc>
                <a:tc>
                  <a:txBody>
                    <a:bodyPr/>
                    <a:lstStyle/>
                    <a:p>
                      <a:pPr algn="ctr"/>
                      <a:r>
                        <a:rPr sz="810" b="0">
                          <a:solidFill>
                            <a:srgbClr val="20242A"/>
                          </a:solidFill>
                          <a:latin typeface="Aptos"/>
                        </a:rPr>
                        <a:t>Negative</a:t>
                      </a:r>
                    </a:p>
                  </a:txBody>
                  <a:tcPr>
                    <a:solidFill>
                      <a:srgbClr val="F4F7F8"/>
                    </a:solidFill>
                  </a:tcPr>
                </a:tc>
                <a:extLst>
                  <a:ext uri="{0D108BD9-81ED-4DB2-BD59-A6C34878D82A}">
                    <a16:rowId xmlns:a16="http://schemas.microsoft.com/office/drawing/2014/main" val="10002"/>
                  </a:ext>
                </a:extLst>
              </a:tr>
              <a:tr h="274320">
                <a:tc>
                  <a:txBody>
                    <a:bodyPr/>
                    <a:lstStyle/>
                    <a:p>
                      <a:pPr algn="ctr"/>
                      <a:r>
                        <a:rPr sz="810" b="1">
                          <a:solidFill>
                            <a:srgbClr val="20242A"/>
                          </a:solidFill>
                          <a:latin typeface="Aptos"/>
                        </a:rPr>
                        <a:t>EC-NAME-03</a:t>
                      </a:r>
                    </a:p>
                  </a:txBody>
                  <a:tcPr>
                    <a:solidFill>
                      <a:srgbClr val="DDF1F4"/>
                    </a:solidFill>
                  </a:tcPr>
                </a:tc>
                <a:tc>
                  <a:txBody>
                    <a:bodyPr/>
                    <a:lstStyle/>
                    <a:p>
                      <a:pPr algn="l"/>
                      <a:r>
                        <a:rPr sz="810" b="0">
                          <a:solidFill>
                            <a:srgbClr val="20242A"/>
                          </a:solidFill>
                          <a:latin typeface="Aptos"/>
                        </a:rPr>
                        <a:t>1 character</a:t>
                      </a:r>
                    </a:p>
                  </a:txBody>
                  <a:tcPr>
                    <a:solidFill>
                      <a:srgbClr val="FFFFFF"/>
                    </a:solidFill>
                  </a:tcPr>
                </a:tc>
                <a:tc>
                  <a:txBody>
                    <a:bodyPr/>
                    <a:lstStyle/>
                    <a:p>
                      <a:pPr algn="ctr"/>
                      <a:r>
                        <a:rPr sz="810" b="0">
                          <a:solidFill>
                            <a:srgbClr val="20242A"/>
                          </a:solidFill>
                          <a:latin typeface="Aptos"/>
                        </a:rPr>
                        <a:t>Error message</a:t>
                      </a:r>
                    </a:p>
                  </a:txBody>
                  <a:tcPr>
                    <a:solidFill>
                      <a:srgbClr val="FFFFFF"/>
                    </a:solidFill>
                  </a:tcPr>
                </a:tc>
                <a:tc>
                  <a:txBody>
                    <a:bodyPr/>
                    <a:lstStyle/>
                    <a:p>
                      <a:pPr algn="ctr"/>
                      <a:r>
                        <a:rPr sz="810" b="0">
                          <a:solidFill>
                            <a:srgbClr val="20242A"/>
                          </a:solidFill>
                          <a:latin typeface="Aptos"/>
                        </a:rPr>
                        <a:t>Negative</a:t>
                      </a:r>
                    </a:p>
                  </a:txBody>
                  <a:tcPr>
                    <a:solidFill>
                      <a:srgbClr val="FFFFFF"/>
                    </a:solidFill>
                  </a:tcPr>
                </a:tc>
                <a:extLst>
                  <a:ext uri="{0D108BD9-81ED-4DB2-BD59-A6C34878D82A}">
                    <a16:rowId xmlns:a16="http://schemas.microsoft.com/office/drawing/2014/main" val="10003"/>
                  </a:ext>
                </a:extLst>
              </a:tr>
              <a:tr h="274320">
                <a:tc>
                  <a:txBody>
                    <a:bodyPr/>
                    <a:lstStyle/>
                    <a:p>
                      <a:pPr algn="ctr"/>
                      <a:r>
                        <a:rPr sz="810" b="1">
                          <a:solidFill>
                            <a:srgbClr val="20242A"/>
                          </a:solidFill>
                          <a:latin typeface="Aptos"/>
                        </a:rPr>
                        <a:t>EC-NAME-04</a:t>
                      </a:r>
                    </a:p>
                  </a:txBody>
                  <a:tcPr>
                    <a:solidFill>
                      <a:srgbClr val="DDF1F4"/>
                    </a:solidFill>
                  </a:tcPr>
                </a:tc>
                <a:tc>
                  <a:txBody>
                    <a:bodyPr/>
                    <a:lstStyle/>
                    <a:p>
                      <a:pPr algn="l"/>
                      <a:r>
                        <a:rPr sz="810" b="0">
                          <a:solidFill>
                            <a:srgbClr val="20242A"/>
                          </a:solidFill>
                          <a:latin typeface="Aptos"/>
                        </a:rPr>
                        <a:t>&gt;50 characters</a:t>
                      </a:r>
                    </a:p>
                  </a:txBody>
                  <a:tcPr>
                    <a:solidFill>
                      <a:srgbClr val="F4F7F8"/>
                    </a:solidFill>
                  </a:tcPr>
                </a:tc>
                <a:tc>
                  <a:txBody>
                    <a:bodyPr/>
                    <a:lstStyle/>
                    <a:p>
                      <a:pPr algn="ctr"/>
                      <a:r>
                        <a:rPr sz="810" b="0">
                          <a:solidFill>
                            <a:srgbClr val="20242A"/>
                          </a:solidFill>
                          <a:latin typeface="Aptos"/>
                        </a:rPr>
                        <a:t>Error / truncated</a:t>
                      </a:r>
                    </a:p>
                  </a:txBody>
                  <a:tcPr>
                    <a:solidFill>
                      <a:srgbClr val="F4F7F8"/>
                    </a:solidFill>
                  </a:tcPr>
                </a:tc>
                <a:tc>
                  <a:txBody>
                    <a:bodyPr/>
                    <a:lstStyle/>
                    <a:p>
                      <a:pPr algn="ctr"/>
                      <a:r>
                        <a:rPr sz="810" b="0">
                          <a:solidFill>
                            <a:srgbClr val="20242A"/>
                          </a:solidFill>
                          <a:latin typeface="Aptos"/>
                        </a:rPr>
                        <a:t>Negative</a:t>
                      </a:r>
                    </a:p>
                  </a:txBody>
                  <a:tcPr>
                    <a:solidFill>
                      <a:srgbClr val="F4F7F8"/>
                    </a:solidFill>
                  </a:tcPr>
                </a:tc>
                <a:extLst>
                  <a:ext uri="{0D108BD9-81ED-4DB2-BD59-A6C34878D82A}">
                    <a16:rowId xmlns:a16="http://schemas.microsoft.com/office/drawing/2014/main" val="10004"/>
                  </a:ext>
                </a:extLst>
              </a:tr>
              <a:tr h="274320">
                <a:tc>
                  <a:txBody>
                    <a:bodyPr/>
                    <a:lstStyle/>
                    <a:p>
                      <a:pPr algn="ctr"/>
                      <a:r>
                        <a:rPr sz="810" b="1">
                          <a:solidFill>
                            <a:srgbClr val="20242A"/>
                          </a:solidFill>
                          <a:latin typeface="Aptos"/>
                        </a:rPr>
                        <a:t>EC-NAME-05</a:t>
                      </a:r>
                    </a:p>
                  </a:txBody>
                  <a:tcPr>
                    <a:solidFill>
                      <a:srgbClr val="DDF1F4"/>
                    </a:solidFill>
                  </a:tcPr>
                </a:tc>
                <a:tc>
                  <a:txBody>
                    <a:bodyPr/>
                    <a:lstStyle/>
                    <a:p>
                      <a:pPr algn="l"/>
                      <a:r>
                        <a:rPr sz="810" b="0">
                          <a:solidFill>
                            <a:srgbClr val="20242A"/>
                          </a:solidFill>
                          <a:latin typeface="Aptos"/>
                        </a:rPr>
                        <a:t>Numeric or special chars</a:t>
                      </a:r>
                    </a:p>
                  </a:txBody>
                  <a:tcPr>
                    <a:solidFill>
                      <a:srgbClr val="FFFFFF"/>
                    </a:solidFill>
                  </a:tcPr>
                </a:tc>
                <a:tc>
                  <a:txBody>
                    <a:bodyPr/>
                    <a:lstStyle/>
                    <a:p>
                      <a:pPr algn="ctr"/>
                      <a:r>
                        <a:rPr sz="810" b="0">
                          <a:solidFill>
                            <a:srgbClr val="20242A"/>
                          </a:solidFill>
                          <a:latin typeface="Aptos"/>
                        </a:rPr>
                        <a:t>Error message</a:t>
                      </a:r>
                    </a:p>
                  </a:txBody>
                  <a:tcPr>
                    <a:solidFill>
                      <a:srgbClr val="FFFFFF"/>
                    </a:solidFill>
                  </a:tcPr>
                </a:tc>
                <a:tc>
                  <a:txBody>
                    <a:bodyPr/>
                    <a:lstStyle/>
                    <a:p>
                      <a:pPr algn="ctr"/>
                      <a:r>
                        <a:rPr sz="810" b="0">
                          <a:solidFill>
                            <a:srgbClr val="20242A"/>
                          </a:solidFill>
                          <a:latin typeface="Aptos"/>
                        </a:rPr>
                        <a:t>Negative</a:t>
                      </a:r>
                    </a:p>
                  </a:txBody>
                  <a:tcPr>
                    <a:solidFill>
                      <a:srgbClr val="FFFFFF"/>
                    </a:solidFill>
                  </a:tcPr>
                </a:tc>
                <a:extLst>
                  <a:ext uri="{0D108BD9-81ED-4DB2-BD59-A6C34878D82A}">
                    <a16:rowId xmlns:a16="http://schemas.microsoft.com/office/drawing/2014/main" val="10005"/>
                  </a:ext>
                </a:extLst>
              </a:tr>
              <a:tr h="274320">
                <a:tc>
                  <a:txBody>
                    <a:bodyPr/>
                    <a:lstStyle/>
                    <a:p>
                      <a:pPr algn="ctr"/>
                      <a:r>
                        <a:rPr sz="810" b="1">
                          <a:solidFill>
                            <a:srgbClr val="20242A"/>
                          </a:solidFill>
                          <a:latin typeface="Aptos"/>
                        </a:rPr>
                        <a:t>EC-NAME-07</a:t>
                      </a:r>
                    </a:p>
                  </a:txBody>
                  <a:tcPr>
                    <a:solidFill>
                      <a:srgbClr val="DDF1F4"/>
                    </a:solidFill>
                  </a:tcPr>
                </a:tc>
                <a:tc>
                  <a:txBody>
                    <a:bodyPr/>
                    <a:lstStyle/>
                    <a:p>
                      <a:pPr algn="l"/>
                      <a:r>
                        <a:rPr sz="810" b="0">
                          <a:solidFill>
                            <a:srgbClr val="20242A"/>
                          </a:solidFill>
                          <a:latin typeface="Aptos"/>
                        </a:rPr>
                        <a:t>Valid non-Latin characters</a:t>
                      </a:r>
                    </a:p>
                  </a:txBody>
                  <a:tcPr>
                    <a:solidFill>
                      <a:srgbClr val="F4F7F8"/>
                    </a:solidFill>
                  </a:tcPr>
                </a:tc>
                <a:tc>
                  <a:txBody>
                    <a:bodyPr/>
                    <a:lstStyle/>
                    <a:p>
                      <a:pPr algn="ctr"/>
                      <a:r>
                        <a:rPr sz="810" b="0">
                          <a:solidFill>
                            <a:srgbClr val="20242A"/>
                          </a:solidFill>
                          <a:latin typeface="Aptos"/>
                        </a:rPr>
                        <a:t>Accepted</a:t>
                      </a:r>
                    </a:p>
                  </a:txBody>
                  <a:tcPr>
                    <a:solidFill>
                      <a:srgbClr val="F4F7F8"/>
                    </a:solidFill>
                  </a:tcPr>
                </a:tc>
                <a:tc>
                  <a:txBody>
                    <a:bodyPr/>
                    <a:lstStyle/>
                    <a:p>
                      <a:pPr algn="ctr"/>
                      <a:r>
                        <a:rPr sz="810" b="0" dirty="0">
                          <a:solidFill>
                            <a:srgbClr val="20242A"/>
                          </a:solidFill>
                          <a:latin typeface="Aptos"/>
                        </a:rPr>
                        <a:t>Positive</a:t>
                      </a:r>
                    </a:p>
                  </a:txBody>
                  <a:tcPr>
                    <a:solidFill>
                      <a:srgbClr val="F4F7F8"/>
                    </a:solidFill>
                  </a:tcPr>
                </a:tc>
                <a:extLst>
                  <a:ext uri="{0D108BD9-81ED-4DB2-BD59-A6C34878D82A}">
                    <a16:rowId xmlns:a16="http://schemas.microsoft.com/office/drawing/2014/main" val="10006"/>
                  </a:ext>
                </a:extLst>
              </a:tr>
            </a:tbl>
          </a:graphicData>
        </a:graphic>
      </p:graphicFrame>
      <p:sp>
        <p:nvSpPr>
          <p:cNvPr id="13" name="TextBox 12"/>
          <p:cNvSpPr txBox="1"/>
          <p:nvPr/>
        </p:nvSpPr>
        <p:spPr>
          <a:xfrm>
            <a:off x="713232" y="5650992"/>
            <a:ext cx="10515600" cy="502920"/>
          </a:xfrm>
          <a:prstGeom prst="rect">
            <a:avLst/>
          </a:prstGeom>
          <a:noFill/>
        </p:spPr>
        <p:txBody>
          <a:bodyPr wrap="square">
            <a:spAutoFit/>
          </a:bodyPr>
          <a:lstStyle/>
          <a:p>
            <a:r>
              <a:rPr sz="1250" b="0" dirty="0">
                <a:solidFill>
                  <a:srgbClr val="3C3C3C"/>
                </a:solidFill>
              </a:rPr>
              <a:t>ECP groups inputs into valid and invalid classes, so one representative value can test each behavior. These tables focus on Employee ID and Full Name because they are the main fields where format and length errors can occur.</a:t>
            </a:r>
          </a:p>
        </p:txBody>
      </p:sp>
      <p:sp>
        <p:nvSpPr>
          <p:cNvPr id="6" name="Text 1">
            <a:extLst>
              <a:ext uri="{FF2B5EF4-FFF2-40B4-BE49-F238E27FC236}">
                <a16:creationId xmlns:a16="http://schemas.microsoft.com/office/drawing/2014/main" id="{A27053CF-095D-FE1A-D9FA-E6D2A074059C}"/>
              </a:ext>
            </a:extLst>
          </p:cNvPr>
          <p:cNvSpPr/>
          <p:nvPr/>
        </p:nvSpPr>
        <p:spPr>
          <a:xfrm>
            <a:off x="627407" y="484909"/>
            <a:ext cx="8869680" cy="411480"/>
          </a:xfrm>
          <a:prstGeom prst="rect">
            <a:avLst/>
          </a:prstGeom>
          <a:noFill/>
          <a:ln/>
        </p:spPr>
        <p:txBody>
          <a:bodyPr wrap="square" lIns="0" tIns="0" rIns="0" bIns="0" rtlCol="0" anchor="ctr">
            <a:normAutofit/>
          </a:bodyPr>
          <a:lstStyle/>
          <a:p>
            <a:pPr marL="0" indent="0">
              <a:buNone/>
            </a:pPr>
            <a:r>
              <a:rPr lang="tr-TR" sz="2500" b="1" dirty="0">
                <a:solidFill>
                  <a:srgbClr val="101828"/>
                </a:solidFill>
              </a:rPr>
              <a:t>1</a:t>
            </a:r>
            <a:r>
              <a:rPr lang="en-US" sz="2500" b="1" dirty="0">
                <a:solidFill>
                  <a:srgbClr val="101828"/>
                </a:solidFill>
              </a:rPr>
              <a:t>.Functional Testing &amp; GUI Automation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9FB"/>
        </a:solidFill>
        <a:effectLst/>
      </p:bgPr>
    </p:bg>
    <p:spTree>
      <p:nvGrpSpPr>
        <p:cNvPr id="1" name=""/>
        <p:cNvGrpSpPr/>
        <p:nvPr/>
      </p:nvGrpSpPr>
      <p:grpSpPr>
        <a:xfrm>
          <a:off x="0" y="0"/>
          <a:ext cx="0" cy="0"/>
          <a:chOff x="0" y="0"/>
          <a:chExt cx="0" cy="0"/>
        </a:xfrm>
      </p:grpSpPr>
      <p:sp>
        <p:nvSpPr>
          <p:cNvPr id="2" name="TextBox 1"/>
          <p:cNvSpPr txBox="1"/>
          <p:nvPr/>
        </p:nvSpPr>
        <p:spPr>
          <a:xfrm>
            <a:off x="502920" y="301752"/>
            <a:ext cx="3840480" cy="228600"/>
          </a:xfrm>
          <a:prstGeom prst="rect">
            <a:avLst/>
          </a:prstGeom>
          <a:noFill/>
        </p:spPr>
        <p:txBody>
          <a:bodyPr wrap="square">
            <a:spAutoFit/>
          </a:bodyPr>
          <a:lstStyle/>
          <a:p>
            <a:pPr algn="l"/>
            <a:r>
              <a:rPr sz="850" b="1">
                <a:solidFill>
                  <a:srgbClr val="FF5C00"/>
                </a:solidFill>
                <a:latin typeface="Aptos"/>
              </a:rPr>
              <a:t>SE 2226 TESTING PROJECT</a:t>
            </a:r>
          </a:p>
        </p:txBody>
      </p:sp>
      <p:sp>
        <p:nvSpPr>
          <p:cNvPr id="3" name="TextBox 2"/>
          <p:cNvSpPr txBox="1"/>
          <p:nvPr/>
        </p:nvSpPr>
        <p:spPr>
          <a:xfrm>
            <a:off x="731520" y="640080"/>
            <a:ext cx="5669280" cy="320040"/>
          </a:xfrm>
          <a:prstGeom prst="rect">
            <a:avLst/>
          </a:prstGeom>
          <a:noFill/>
        </p:spPr>
        <p:txBody>
          <a:bodyPr wrap="square">
            <a:spAutoFit/>
          </a:bodyPr>
          <a:lstStyle/>
          <a:p>
            <a:pPr algn="l"/>
            <a:r>
              <a:rPr lang="tr-TR" sz="1400" b="1" dirty="0">
                <a:solidFill>
                  <a:srgbClr val="64748B"/>
                </a:solidFill>
                <a:latin typeface="Aptos"/>
              </a:rPr>
              <a:t>1</a:t>
            </a:r>
            <a:r>
              <a:rPr sz="1400" b="1" dirty="0">
                <a:solidFill>
                  <a:srgbClr val="64748B"/>
                </a:solidFill>
                <a:latin typeface="Aptos"/>
              </a:rPr>
              <a:t>.Functional Testing &amp; GUI Automation</a:t>
            </a:r>
          </a:p>
        </p:txBody>
      </p:sp>
      <p:sp>
        <p:nvSpPr>
          <p:cNvPr id="4" name="TextBox 3"/>
          <p:cNvSpPr txBox="1"/>
          <p:nvPr/>
        </p:nvSpPr>
        <p:spPr>
          <a:xfrm>
            <a:off x="731520" y="1005840"/>
            <a:ext cx="9692640" cy="502920"/>
          </a:xfrm>
          <a:prstGeom prst="rect">
            <a:avLst/>
          </a:prstGeom>
          <a:noFill/>
        </p:spPr>
        <p:txBody>
          <a:bodyPr wrap="square">
            <a:spAutoFit/>
          </a:bodyPr>
          <a:lstStyle/>
          <a:p>
            <a:pPr algn="l"/>
            <a:r>
              <a:rPr sz="2500" b="1">
                <a:solidFill>
                  <a:srgbClr val="111827"/>
                </a:solidFill>
                <a:latin typeface="Aptos"/>
              </a:rPr>
              <a:t>Boundary Value Analysis — Complete BVA Tables</a:t>
            </a:r>
          </a:p>
        </p:txBody>
      </p:sp>
      <p:sp>
        <p:nvSpPr>
          <p:cNvPr id="5" name="Rectangle 4"/>
          <p:cNvSpPr/>
          <p:nvPr/>
        </p:nvSpPr>
        <p:spPr>
          <a:xfrm>
            <a:off x="731520" y="1490472"/>
            <a:ext cx="1143000" cy="54864"/>
          </a:xfrm>
          <a:prstGeom prst="rect">
            <a:avLst/>
          </a:prstGeom>
          <a:solidFill>
            <a:srgbClr val="FF5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31520" y="2066543"/>
            <a:ext cx="1417320" cy="283464"/>
          </a:xfrm>
          <a:prstGeom prst="roundRect">
            <a:avLst/>
          </a:prstGeom>
          <a:solidFill>
            <a:srgbClr val="449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FFFFFF"/>
                </a:solidFill>
                <a:latin typeface="Aptos"/>
              </a:rPr>
              <a:t>Employee ID</a:t>
            </a:r>
          </a:p>
        </p:txBody>
      </p:sp>
      <p:sp>
        <p:nvSpPr>
          <p:cNvPr id="8" name="Rounded Rectangle 7"/>
          <p:cNvSpPr/>
          <p:nvPr/>
        </p:nvSpPr>
        <p:spPr>
          <a:xfrm>
            <a:off x="6263640" y="2066543"/>
            <a:ext cx="1417320" cy="283464"/>
          </a:xfrm>
          <a:prstGeom prst="roundRect">
            <a:avLst/>
          </a:prstGeom>
          <a:solidFill>
            <a:srgbClr val="449C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FFFFFF"/>
                </a:solidFill>
                <a:latin typeface="Aptos"/>
              </a:rPr>
              <a:t>Full Name</a:t>
            </a:r>
          </a:p>
        </p:txBody>
      </p:sp>
      <p:graphicFrame>
        <p:nvGraphicFramePr>
          <p:cNvPr id="9" name="Table 8"/>
          <p:cNvGraphicFramePr>
            <a:graphicFrameLocks noGrp="1"/>
          </p:cNvGraphicFramePr>
          <p:nvPr/>
        </p:nvGraphicFramePr>
        <p:xfrm>
          <a:off x="731520" y="2423160"/>
          <a:ext cx="4937760" cy="2057400"/>
        </p:xfrm>
        <a:graphic>
          <a:graphicData uri="http://schemas.openxmlformats.org/drawingml/2006/table">
            <a:tbl>
              <a:tblPr firstRow="1" bandRow="1">
                <a:tableStyleId>{5C22544A-7EE6-4342-B048-85BDC9FD1C3A}</a:tableStyleId>
              </a:tblPr>
              <a:tblGrid>
                <a:gridCol w="100584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tblGrid>
              <a:tr h="293914">
                <a:tc>
                  <a:txBody>
                    <a:bodyPr/>
                    <a:lstStyle/>
                    <a:p>
                      <a:pPr algn="ctr">
                        <a:spcBef>
                          <a:spcPts val="0"/>
                        </a:spcBef>
                        <a:spcAft>
                          <a:spcPts val="0"/>
                        </a:spcAft>
                      </a:pPr>
                      <a:r>
                        <a:rPr sz="810" b="1">
                          <a:solidFill>
                            <a:srgbClr val="FFFFFF"/>
                          </a:solidFill>
                          <a:latin typeface="Aptos"/>
                        </a:rPr>
                        <a:t>Test ID</a:t>
                      </a:r>
                    </a:p>
                  </a:txBody>
                  <a:tcPr marL="36576" marR="36576" marT="18288" marB="18288">
                    <a:solidFill>
                      <a:srgbClr val="1F7A83"/>
                    </a:solidFill>
                  </a:tcPr>
                </a:tc>
                <a:tc>
                  <a:txBody>
                    <a:bodyPr/>
                    <a:lstStyle/>
                    <a:p>
                      <a:pPr algn="l">
                        <a:spcBef>
                          <a:spcPts val="0"/>
                        </a:spcBef>
                        <a:spcAft>
                          <a:spcPts val="0"/>
                        </a:spcAft>
                      </a:pPr>
                      <a:r>
                        <a:rPr sz="810" b="1">
                          <a:solidFill>
                            <a:srgbClr val="FFFFFF"/>
                          </a:solidFill>
                          <a:latin typeface="Aptos"/>
                        </a:rPr>
                        <a:t>Value</a:t>
                      </a:r>
                    </a:p>
                  </a:txBody>
                  <a:tcPr marL="36576" marR="36576" marT="18288" marB="18288">
                    <a:solidFill>
                      <a:srgbClr val="1F7A83"/>
                    </a:solidFill>
                  </a:tcPr>
                </a:tc>
                <a:tc>
                  <a:txBody>
                    <a:bodyPr/>
                    <a:lstStyle/>
                    <a:p>
                      <a:pPr algn="ctr">
                        <a:spcBef>
                          <a:spcPts val="0"/>
                        </a:spcBef>
                        <a:spcAft>
                          <a:spcPts val="0"/>
                        </a:spcAft>
                      </a:pPr>
                      <a:r>
                        <a:rPr sz="810" b="1">
                          <a:solidFill>
                            <a:srgbClr val="FFFFFF"/>
                          </a:solidFill>
                          <a:latin typeface="Aptos"/>
                        </a:rPr>
                        <a:t>Description</a:t>
                      </a:r>
                    </a:p>
                  </a:txBody>
                  <a:tcPr marL="36576" marR="36576" marT="18288" marB="18288">
                    <a:solidFill>
                      <a:srgbClr val="1F7A83"/>
                    </a:solidFill>
                  </a:tcPr>
                </a:tc>
                <a:tc>
                  <a:txBody>
                    <a:bodyPr/>
                    <a:lstStyle/>
                    <a:p>
                      <a:pPr algn="l">
                        <a:spcBef>
                          <a:spcPts val="0"/>
                        </a:spcBef>
                        <a:spcAft>
                          <a:spcPts val="0"/>
                        </a:spcAft>
                      </a:pPr>
                      <a:r>
                        <a:rPr sz="810" b="1">
                          <a:solidFill>
                            <a:srgbClr val="FFFFFF"/>
                          </a:solidFill>
                          <a:latin typeface="Aptos"/>
                        </a:rPr>
                        <a:t>Expected</a:t>
                      </a:r>
                    </a:p>
                  </a:txBody>
                  <a:tcPr marL="36576" marR="36576" marT="18288" marB="18288">
                    <a:solidFill>
                      <a:srgbClr val="1F7A83"/>
                    </a:solidFill>
                  </a:tcPr>
                </a:tc>
                <a:tc>
                  <a:txBody>
                    <a:bodyPr/>
                    <a:lstStyle/>
                    <a:p>
                      <a:pPr algn="ctr">
                        <a:spcBef>
                          <a:spcPts val="0"/>
                        </a:spcBef>
                        <a:spcAft>
                          <a:spcPts val="0"/>
                        </a:spcAft>
                      </a:pPr>
                      <a:r>
                        <a:rPr sz="810" b="1">
                          <a:solidFill>
                            <a:srgbClr val="FFFFFF"/>
                          </a:solidFill>
                          <a:latin typeface="Aptos"/>
                        </a:rPr>
                        <a:t>Type</a:t>
                      </a:r>
                    </a:p>
                  </a:txBody>
                  <a:tcPr marL="36576" marR="36576" marT="18288" marB="18288">
                    <a:solidFill>
                      <a:srgbClr val="1F7A83"/>
                    </a:solidFill>
                  </a:tcPr>
                </a:tc>
                <a:extLst>
                  <a:ext uri="{0D108BD9-81ED-4DB2-BD59-A6C34878D82A}">
                    <a16:rowId xmlns:a16="http://schemas.microsoft.com/office/drawing/2014/main" val="10000"/>
                  </a:ext>
                </a:extLst>
              </a:tr>
              <a:tr h="293914">
                <a:tc>
                  <a:txBody>
                    <a:bodyPr/>
                    <a:lstStyle/>
                    <a:p>
                      <a:pPr algn="ctr">
                        <a:spcBef>
                          <a:spcPts val="0"/>
                        </a:spcBef>
                        <a:spcAft>
                          <a:spcPts val="0"/>
                        </a:spcAft>
                      </a:pPr>
                      <a:r>
                        <a:rPr sz="810" b="1">
                          <a:solidFill>
                            <a:srgbClr val="111827"/>
                          </a:solidFill>
                          <a:latin typeface="Aptos"/>
                        </a:rPr>
                        <a:t>BVA-ID-01</a:t>
                      </a:r>
                    </a:p>
                  </a:txBody>
                  <a:tcPr marL="36576" marR="36576" marT="18288" marB="18288">
                    <a:solidFill>
                      <a:srgbClr val="DAEFF2"/>
                    </a:solidFill>
                  </a:tcPr>
                </a:tc>
                <a:tc>
                  <a:txBody>
                    <a:bodyPr/>
                    <a:lstStyle/>
                    <a:p>
                      <a:pPr algn="l">
                        <a:spcBef>
                          <a:spcPts val="0"/>
                        </a:spcBef>
                        <a:spcAft>
                          <a:spcPts val="0"/>
                        </a:spcAft>
                      </a:pPr>
                      <a:r>
                        <a:rPr sz="810" b="0">
                          <a:solidFill>
                            <a:srgbClr val="111827"/>
                          </a:solidFill>
                          <a:latin typeface="Aptos"/>
                        </a:rPr>
                        <a:t>0</a:t>
                      </a:r>
                    </a:p>
                  </a:txBody>
                  <a:tcPr marL="36576" marR="36576" marT="18288" marB="18288">
                    <a:solidFill>
                      <a:srgbClr val="FFFFFF"/>
                    </a:solidFill>
                  </a:tcPr>
                </a:tc>
                <a:tc>
                  <a:txBody>
                    <a:bodyPr/>
                    <a:lstStyle/>
                    <a:p>
                      <a:pPr algn="ctr">
                        <a:spcBef>
                          <a:spcPts val="0"/>
                        </a:spcBef>
                        <a:spcAft>
                          <a:spcPts val="0"/>
                        </a:spcAft>
                      </a:pPr>
                      <a:r>
                        <a:rPr sz="810" b="0">
                          <a:solidFill>
                            <a:srgbClr val="111827"/>
                          </a:solidFill>
                          <a:latin typeface="Aptos"/>
                        </a:rPr>
                        <a:t>Below minimum length</a:t>
                      </a:r>
                    </a:p>
                  </a:txBody>
                  <a:tcPr marL="36576" marR="36576" marT="18288" marB="18288">
                    <a:solidFill>
                      <a:srgbClr val="FFFFFF"/>
                    </a:solidFill>
                  </a:tcPr>
                </a:tc>
                <a:tc>
                  <a:txBody>
                    <a:bodyPr/>
                    <a:lstStyle/>
                    <a:p>
                      <a:pPr algn="l">
                        <a:spcBef>
                          <a:spcPts val="0"/>
                        </a:spcBef>
                        <a:spcAft>
                          <a:spcPts val="0"/>
                        </a:spcAft>
                      </a:pPr>
                      <a:r>
                        <a:rPr sz="810" b="0">
                          <a:solidFill>
                            <a:srgbClr val="111827"/>
                          </a:solidFill>
                          <a:latin typeface="Aptos"/>
                        </a:rPr>
                        <a:t>Error message</a:t>
                      </a:r>
                    </a:p>
                  </a:txBody>
                  <a:tcPr marL="36576" marR="36576" marT="18288" marB="18288">
                    <a:solidFill>
                      <a:srgbClr val="FFFFFF"/>
                    </a:solidFill>
                  </a:tcPr>
                </a:tc>
                <a:tc>
                  <a:txBody>
                    <a:bodyPr/>
                    <a:lstStyle/>
                    <a:p>
                      <a:pPr algn="ctr">
                        <a:spcBef>
                          <a:spcPts val="0"/>
                        </a:spcBef>
                        <a:spcAft>
                          <a:spcPts val="0"/>
                        </a:spcAft>
                      </a:pPr>
                      <a:r>
                        <a:rPr sz="810" b="0">
                          <a:solidFill>
                            <a:srgbClr val="111827"/>
                          </a:solidFill>
                          <a:latin typeface="Aptos"/>
                        </a:rPr>
                        <a:t>Negative</a:t>
                      </a:r>
                    </a:p>
                  </a:txBody>
                  <a:tcPr marL="36576" marR="36576" marT="18288" marB="18288">
                    <a:solidFill>
                      <a:srgbClr val="FFFFFF"/>
                    </a:solidFill>
                  </a:tcPr>
                </a:tc>
                <a:extLst>
                  <a:ext uri="{0D108BD9-81ED-4DB2-BD59-A6C34878D82A}">
                    <a16:rowId xmlns:a16="http://schemas.microsoft.com/office/drawing/2014/main" val="10001"/>
                  </a:ext>
                </a:extLst>
              </a:tr>
              <a:tr h="293914">
                <a:tc>
                  <a:txBody>
                    <a:bodyPr/>
                    <a:lstStyle/>
                    <a:p>
                      <a:pPr algn="ctr">
                        <a:spcBef>
                          <a:spcPts val="0"/>
                        </a:spcBef>
                        <a:spcAft>
                          <a:spcPts val="0"/>
                        </a:spcAft>
                      </a:pPr>
                      <a:r>
                        <a:rPr sz="810" b="1">
                          <a:solidFill>
                            <a:srgbClr val="111827"/>
                          </a:solidFill>
                          <a:latin typeface="Aptos"/>
                        </a:rPr>
                        <a:t>BVA-ID-02</a:t>
                      </a:r>
                    </a:p>
                  </a:txBody>
                  <a:tcPr marL="36576" marR="36576" marT="18288" marB="18288">
                    <a:solidFill>
                      <a:srgbClr val="DAEFF2"/>
                    </a:solidFill>
                  </a:tcPr>
                </a:tc>
                <a:tc>
                  <a:txBody>
                    <a:bodyPr/>
                    <a:lstStyle/>
                    <a:p>
                      <a:pPr algn="l">
                        <a:spcBef>
                          <a:spcPts val="0"/>
                        </a:spcBef>
                        <a:spcAft>
                          <a:spcPts val="0"/>
                        </a:spcAft>
                      </a:pPr>
                      <a:r>
                        <a:rPr sz="810" b="0">
                          <a:solidFill>
                            <a:srgbClr val="111827"/>
                          </a:solidFill>
                          <a:latin typeface="Aptos"/>
                        </a:rPr>
                        <a:t>1</a:t>
                      </a:r>
                    </a:p>
                  </a:txBody>
                  <a:tcPr marL="36576" marR="36576" marT="18288" marB="18288">
                    <a:solidFill>
                      <a:srgbClr val="F3F6F8"/>
                    </a:solidFill>
                  </a:tcPr>
                </a:tc>
                <a:tc>
                  <a:txBody>
                    <a:bodyPr/>
                    <a:lstStyle/>
                    <a:p>
                      <a:pPr algn="ctr">
                        <a:spcBef>
                          <a:spcPts val="0"/>
                        </a:spcBef>
                        <a:spcAft>
                          <a:spcPts val="0"/>
                        </a:spcAft>
                      </a:pPr>
                      <a:r>
                        <a:rPr sz="810" b="0">
                          <a:solidFill>
                            <a:srgbClr val="111827"/>
                          </a:solidFill>
                          <a:latin typeface="Aptos"/>
                        </a:rPr>
                        <a:t>Minimum boundary</a:t>
                      </a:r>
                    </a:p>
                  </a:txBody>
                  <a:tcPr marL="36576" marR="36576" marT="18288" marB="18288">
                    <a:solidFill>
                      <a:srgbClr val="F3F6F8"/>
                    </a:solidFill>
                  </a:tcPr>
                </a:tc>
                <a:tc>
                  <a:txBody>
                    <a:bodyPr/>
                    <a:lstStyle/>
                    <a:p>
                      <a:pPr algn="l">
                        <a:spcBef>
                          <a:spcPts val="0"/>
                        </a:spcBef>
                        <a:spcAft>
                          <a:spcPts val="0"/>
                        </a:spcAft>
                      </a:pPr>
                      <a:r>
                        <a:rPr sz="810" b="0">
                          <a:solidFill>
                            <a:srgbClr val="111827"/>
                          </a:solidFill>
                          <a:latin typeface="Aptos"/>
                        </a:rPr>
                        <a:t>Accepted</a:t>
                      </a:r>
                    </a:p>
                  </a:txBody>
                  <a:tcPr marL="36576" marR="36576" marT="18288" marB="18288">
                    <a:solidFill>
                      <a:srgbClr val="F3F6F8"/>
                    </a:solidFill>
                  </a:tcPr>
                </a:tc>
                <a:tc>
                  <a:txBody>
                    <a:bodyPr/>
                    <a:lstStyle/>
                    <a:p>
                      <a:pPr algn="ctr">
                        <a:spcBef>
                          <a:spcPts val="0"/>
                        </a:spcBef>
                        <a:spcAft>
                          <a:spcPts val="0"/>
                        </a:spcAft>
                      </a:pPr>
                      <a:r>
                        <a:rPr sz="810" b="0">
                          <a:solidFill>
                            <a:srgbClr val="111827"/>
                          </a:solidFill>
                          <a:latin typeface="Aptos"/>
                        </a:rPr>
                        <a:t>Positive</a:t>
                      </a:r>
                    </a:p>
                  </a:txBody>
                  <a:tcPr marL="36576" marR="36576" marT="18288" marB="18288">
                    <a:solidFill>
                      <a:srgbClr val="F3F6F8"/>
                    </a:solidFill>
                  </a:tcPr>
                </a:tc>
                <a:extLst>
                  <a:ext uri="{0D108BD9-81ED-4DB2-BD59-A6C34878D82A}">
                    <a16:rowId xmlns:a16="http://schemas.microsoft.com/office/drawing/2014/main" val="10002"/>
                  </a:ext>
                </a:extLst>
              </a:tr>
              <a:tr h="293914">
                <a:tc>
                  <a:txBody>
                    <a:bodyPr/>
                    <a:lstStyle/>
                    <a:p>
                      <a:pPr algn="ctr">
                        <a:spcBef>
                          <a:spcPts val="0"/>
                        </a:spcBef>
                        <a:spcAft>
                          <a:spcPts val="0"/>
                        </a:spcAft>
                      </a:pPr>
                      <a:r>
                        <a:rPr sz="810" b="1">
                          <a:solidFill>
                            <a:srgbClr val="111827"/>
                          </a:solidFill>
                          <a:latin typeface="Aptos"/>
                        </a:rPr>
                        <a:t>BVA-ID-03</a:t>
                      </a:r>
                    </a:p>
                  </a:txBody>
                  <a:tcPr marL="36576" marR="36576" marT="18288" marB="18288">
                    <a:solidFill>
                      <a:srgbClr val="DAEFF2"/>
                    </a:solidFill>
                  </a:tcPr>
                </a:tc>
                <a:tc>
                  <a:txBody>
                    <a:bodyPr/>
                    <a:lstStyle/>
                    <a:p>
                      <a:pPr algn="l">
                        <a:spcBef>
                          <a:spcPts val="0"/>
                        </a:spcBef>
                        <a:spcAft>
                          <a:spcPts val="0"/>
                        </a:spcAft>
                      </a:pPr>
                      <a:r>
                        <a:rPr sz="810" b="0">
                          <a:solidFill>
                            <a:srgbClr val="111827"/>
                          </a:solidFill>
                          <a:latin typeface="Aptos"/>
                        </a:rPr>
                        <a:t>2</a:t>
                      </a:r>
                    </a:p>
                  </a:txBody>
                  <a:tcPr marL="36576" marR="36576" marT="18288" marB="18288">
                    <a:solidFill>
                      <a:srgbClr val="FFFFFF"/>
                    </a:solidFill>
                  </a:tcPr>
                </a:tc>
                <a:tc>
                  <a:txBody>
                    <a:bodyPr/>
                    <a:lstStyle/>
                    <a:p>
                      <a:pPr algn="ctr">
                        <a:spcBef>
                          <a:spcPts val="0"/>
                        </a:spcBef>
                        <a:spcAft>
                          <a:spcPts val="0"/>
                        </a:spcAft>
                      </a:pPr>
                      <a:r>
                        <a:rPr sz="810" b="0">
                          <a:solidFill>
                            <a:srgbClr val="111827"/>
                          </a:solidFill>
                          <a:latin typeface="Aptos"/>
                        </a:rPr>
                        <a:t>Just above minimum</a:t>
                      </a:r>
                    </a:p>
                  </a:txBody>
                  <a:tcPr marL="36576" marR="36576" marT="18288" marB="18288">
                    <a:solidFill>
                      <a:srgbClr val="FFFFFF"/>
                    </a:solidFill>
                  </a:tcPr>
                </a:tc>
                <a:tc>
                  <a:txBody>
                    <a:bodyPr/>
                    <a:lstStyle/>
                    <a:p>
                      <a:pPr algn="l">
                        <a:spcBef>
                          <a:spcPts val="0"/>
                        </a:spcBef>
                        <a:spcAft>
                          <a:spcPts val="0"/>
                        </a:spcAft>
                      </a:pPr>
                      <a:r>
                        <a:rPr sz="810" b="0">
                          <a:solidFill>
                            <a:srgbClr val="111827"/>
                          </a:solidFill>
                          <a:latin typeface="Aptos"/>
                        </a:rPr>
                        <a:t>Accepted</a:t>
                      </a:r>
                    </a:p>
                  </a:txBody>
                  <a:tcPr marL="36576" marR="36576" marT="18288" marB="18288">
                    <a:solidFill>
                      <a:srgbClr val="FFFFFF"/>
                    </a:solidFill>
                  </a:tcPr>
                </a:tc>
                <a:tc>
                  <a:txBody>
                    <a:bodyPr/>
                    <a:lstStyle/>
                    <a:p>
                      <a:pPr algn="ctr">
                        <a:spcBef>
                          <a:spcPts val="0"/>
                        </a:spcBef>
                        <a:spcAft>
                          <a:spcPts val="0"/>
                        </a:spcAft>
                      </a:pPr>
                      <a:r>
                        <a:rPr sz="810" b="0">
                          <a:solidFill>
                            <a:srgbClr val="111827"/>
                          </a:solidFill>
                          <a:latin typeface="Aptos"/>
                        </a:rPr>
                        <a:t>Positive</a:t>
                      </a:r>
                    </a:p>
                  </a:txBody>
                  <a:tcPr marL="36576" marR="36576" marT="18288" marB="18288">
                    <a:solidFill>
                      <a:srgbClr val="FFFFFF"/>
                    </a:solidFill>
                  </a:tcPr>
                </a:tc>
                <a:extLst>
                  <a:ext uri="{0D108BD9-81ED-4DB2-BD59-A6C34878D82A}">
                    <a16:rowId xmlns:a16="http://schemas.microsoft.com/office/drawing/2014/main" val="10003"/>
                  </a:ext>
                </a:extLst>
              </a:tr>
              <a:tr h="293914">
                <a:tc>
                  <a:txBody>
                    <a:bodyPr/>
                    <a:lstStyle/>
                    <a:p>
                      <a:pPr algn="ctr">
                        <a:spcBef>
                          <a:spcPts val="0"/>
                        </a:spcBef>
                        <a:spcAft>
                          <a:spcPts val="0"/>
                        </a:spcAft>
                      </a:pPr>
                      <a:r>
                        <a:rPr sz="810" b="1">
                          <a:solidFill>
                            <a:srgbClr val="111827"/>
                          </a:solidFill>
                          <a:latin typeface="Aptos"/>
                        </a:rPr>
                        <a:t>BVA-ID-04</a:t>
                      </a:r>
                    </a:p>
                  </a:txBody>
                  <a:tcPr marL="36576" marR="36576" marT="18288" marB="18288">
                    <a:solidFill>
                      <a:srgbClr val="DAEFF2"/>
                    </a:solidFill>
                  </a:tcPr>
                </a:tc>
                <a:tc>
                  <a:txBody>
                    <a:bodyPr/>
                    <a:lstStyle/>
                    <a:p>
                      <a:pPr algn="l">
                        <a:spcBef>
                          <a:spcPts val="0"/>
                        </a:spcBef>
                        <a:spcAft>
                          <a:spcPts val="0"/>
                        </a:spcAft>
                      </a:pPr>
                      <a:r>
                        <a:rPr sz="810" b="0">
                          <a:solidFill>
                            <a:srgbClr val="111827"/>
                          </a:solidFill>
                          <a:latin typeface="Aptos"/>
                        </a:rPr>
                        <a:t>9</a:t>
                      </a:r>
                    </a:p>
                  </a:txBody>
                  <a:tcPr marL="36576" marR="36576" marT="18288" marB="18288">
                    <a:solidFill>
                      <a:srgbClr val="F3F6F8"/>
                    </a:solidFill>
                  </a:tcPr>
                </a:tc>
                <a:tc>
                  <a:txBody>
                    <a:bodyPr/>
                    <a:lstStyle/>
                    <a:p>
                      <a:pPr algn="ctr">
                        <a:spcBef>
                          <a:spcPts val="0"/>
                        </a:spcBef>
                        <a:spcAft>
                          <a:spcPts val="0"/>
                        </a:spcAft>
                      </a:pPr>
                      <a:r>
                        <a:rPr sz="810" b="0">
                          <a:solidFill>
                            <a:srgbClr val="111827"/>
                          </a:solidFill>
                          <a:latin typeface="Aptos"/>
                        </a:rPr>
                        <a:t>Just below maximum</a:t>
                      </a:r>
                    </a:p>
                  </a:txBody>
                  <a:tcPr marL="36576" marR="36576" marT="18288" marB="18288">
                    <a:solidFill>
                      <a:srgbClr val="F3F6F8"/>
                    </a:solidFill>
                  </a:tcPr>
                </a:tc>
                <a:tc>
                  <a:txBody>
                    <a:bodyPr/>
                    <a:lstStyle/>
                    <a:p>
                      <a:pPr algn="l">
                        <a:spcBef>
                          <a:spcPts val="0"/>
                        </a:spcBef>
                        <a:spcAft>
                          <a:spcPts val="0"/>
                        </a:spcAft>
                      </a:pPr>
                      <a:r>
                        <a:rPr sz="810" b="0">
                          <a:solidFill>
                            <a:srgbClr val="111827"/>
                          </a:solidFill>
                          <a:latin typeface="Aptos"/>
                        </a:rPr>
                        <a:t>Accepted</a:t>
                      </a:r>
                    </a:p>
                  </a:txBody>
                  <a:tcPr marL="36576" marR="36576" marT="18288" marB="18288">
                    <a:solidFill>
                      <a:srgbClr val="F3F6F8"/>
                    </a:solidFill>
                  </a:tcPr>
                </a:tc>
                <a:tc>
                  <a:txBody>
                    <a:bodyPr/>
                    <a:lstStyle/>
                    <a:p>
                      <a:pPr algn="ctr">
                        <a:spcBef>
                          <a:spcPts val="0"/>
                        </a:spcBef>
                        <a:spcAft>
                          <a:spcPts val="0"/>
                        </a:spcAft>
                      </a:pPr>
                      <a:r>
                        <a:rPr sz="810" b="0">
                          <a:solidFill>
                            <a:srgbClr val="111827"/>
                          </a:solidFill>
                          <a:latin typeface="Aptos"/>
                        </a:rPr>
                        <a:t>Positive</a:t>
                      </a:r>
                    </a:p>
                  </a:txBody>
                  <a:tcPr marL="36576" marR="36576" marT="18288" marB="18288">
                    <a:solidFill>
                      <a:srgbClr val="F3F6F8"/>
                    </a:solidFill>
                  </a:tcPr>
                </a:tc>
                <a:extLst>
                  <a:ext uri="{0D108BD9-81ED-4DB2-BD59-A6C34878D82A}">
                    <a16:rowId xmlns:a16="http://schemas.microsoft.com/office/drawing/2014/main" val="10004"/>
                  </a:ext>
                </a:extLst>
              </a:tr>
              <a:tr h="293914">
                <a:tc>
                  <a:txBody>
                    <a:bodyPr/>
                    <a:lstStyle/>
                    <a:p>
                      <a:pPr algn="ctr">
                        <a:spcBef>
                          <a:spcPts val="0"/>
                        </a:spcBef>
                        <a:spcAft>
                          <a:spcPts val="0"/>
                        </a:spcAft>
                      </a:pPr>
                      <a:r>
                        <a:rPr sz="810" b="1">
                          <a:solidFill>
                            <a:srgbClr val="111827"/>
                          </a:solidFill>
                          <a:latin typeface="Aptos"/>
                        </a:rPr>
                        <a:t>BVA-ID-05</a:t>
                      </a:r>
                    </a:p>
                  </a:txBody>
                  <a:tcPr marL="36576" marR="36576" marT="18288" marB="18288">
                    <a:solidFill>
                      <a:srgbClr val="DAEFF2"/>
                    </a:solidFill>
                  </a:tcPr>
                </a:tc>
                <a:tc>
                  <a:txBody>
                    <a:bodyPr/>
                    <a:lstStyle/>
                    <a:p>
                      <a:pPr algn="l">
                        <a:spcBef>
                          <a:spcPts val="0"/>
                        </a:spcBef>
                        <a:spcAft>
                          <a:spcPts val="0"/>
                        </a:spcAft>
                      </a:pPr>
                      <a:r>
                        <a:rPr sz="810" b="0">
                          <a:solidFill>
                            <a:srgbClr val="111827"/>
                          </a:solidFill>
                          <a:latin typeface="Aptos"/>
                        </a:rPr>
                        <a:t>10</a:t>
                      </a:r>
                    </a:p>
                  </a:txBody>
                  <a:tcPr marL="36576" marR="36576" marT="18288" marB="18288">
                    <a:solidFill>
                      <a:srgbClr val="FFFFFF"/>
                    </a:solidFill>
                  </a:tcPr>
                </a:tc>
                <a:tc>
                  <a:txBody>
                    <a:bodyPr/>
                    <a:lstStyle/>
                    <a:p>
                      <a:pPr algn="ctr">
                        <a:spcBef>
                          <a:spcPts val="0"/>
                        </a:spcBef>
                        <a:spcAft>
                          <a:spcPts val="0"/>
                        </a:spcAft>
                      </a:pPr>
                      <a:r>
                        <a:rPr sz="810" b="0">
                          <a:solidFill>
                            <a:srgbClr val="111827"/>
                          </a:solidFill>
                          <a:latin typeface="Aptos"/>
                        </a:rPr>
                        <a:t>Maximum boundary</a:t>
                      </a:r>
                    </a:p>
                  </a:txBody>
                  <a:tcPr marL="36576" marR="36576" marT="18288" marB="18288">
                    <a:solidFill>
                      <a:srgbClr val="FFFFFF"/>
                    </a:solidFill>
                  </a:tcPr>
                </a:tc>
                <a:tc>
                  <a:txBody>
                    <a:bodyPr/>
                    <a:lstStyle/>
                    <a:p>
                      <a:pPr algn="l">
                        <a:spcBef>
                          <a:spcPts val="0"/>
                        </a:spcBef>
                        <a:spcAft>
                          <a:spcPts val="0"/>
                        </a:spcAft>
                      </a:pPr>
                      <a:r>
                        <a:rPr sz="810" b="0">
                          <a:solidFill>
                            <a:srgbClr val="111827"/>
                          </a:solidFill>
                          <a:latin typeface="Aptos"/>
                        </a:rPr>
                        <a:t>Accepted</a:t>
                      </a:r>
                    </a:p>
                  </a:txBody>
                  <a:tcPr marL="36576" marR="36576" marT="18288" marB="18288">
                    <a:solidFill>
                      <a:srgbClr val="FFFFFF"/>
                    </a:solidFill>
                  </a:tcPr>
                </a:tc>
                <a:tc>
                  <a:txBody>
                    <a:bodyPr/>
                    <a:lstStyle/>
                    <a:p>
                      <a:pPr algn="ctr">
                        <a:spcBef>
                          <a:spcPts val="0"/>
                        </a:spcBef>
                        <a:spcAft>
                          <a:spcPts val="0"/>
                        </a:spcAft>
                      </a:pPr>
                      <a:r>
                        <a:rPr sz="810" b="0">
                          <a:solidFill>
                            <a:srgbClr val="111827"/>
                          </a:solidFill>
                          <a:latin typeface="Aptos"/>
                        </a:rPr>
                        <a:t>Positive</a:t>
                      </a:r>
                    </a:p>
                  </a:txBody>
                  <a:tcPr marL="36576" marR="36576" marT="18288" marB="18288">
                    <a:solidFill>
                      <a:srgbClr val="FFFFFF"/>
                    </a:solidFill>
                  </a:tcPr>
                </a:tc>
                <a:extLst>
                  <a:ext uri="{0D108BD9-81ED-4DB2-BD59-A6C34878D82A}">
                    <a16:rowId xmlns:a16="http://schemas.microsoft.com/office/drawing/2014/main" val="10005"/>
                  </a:ext>
                </a:extLst>
              </a:tr>
              <a:tr h="293916">
                <a:tc>
                  <a:txBody>
                    <a:bodyPr/>
                    <a:lstStyle/>
                    <a:p>
                      <a:pPr algn="ctr">
                        <a:spcBef>
                          <a:spcPts val="0"/>
                        </a:spcBef>
                        <a:spcAft>
                          <a:spcPts val="0"/>
                        </a:spcAft>
                      </a:pPr>
                      <a:r>
                        <a:rPr sz="810" b="1">
                          <a:solidFill>
                            <a:srgbClr val="111827"/>
                          </a:solidFill>
                          <a:latin typeface="Aptos"/>
                        </a:rPr>
                        <a:t>BVA-ID-06</a:t>
                      </a:r>
                    </a:p>
                  </a:txBody>
                  <a:tcPr marL="36576" marR="36576" marT="18288" marB="18288">
                    <a:solidFill>
                      <a:srgbClr val="DAEFF2"/>
                    </a:solidFill>
                  </a:tcPr>
                </a:tc>
                <a:tc>
                  <a:txBody>
                    <a:bodyPr/>
                    <a:lstStyle/>
                    <a:p>
                      <a:pPr algn="l">
                        <a:spcBef>
                          <a:spcPts val="0"/>
                        </a:spcBef>
                        <a:spcAft>
                          <a:spcPts val="0"/>
                        </a:spcAft>
                      </a:pPr>
                      <a:r>
                        <a:rPr sz="810" b="0">
                          <a:solidFill>
                            <a:srgbClr val="111827"/>
                          </a:solidFill>
                          <a:latin typeface="Aptos"/>
                        </a:rPr>
                        <a:t>11</a:t>
                      </a:r>
                    </a:p>
                  </a:txBody>
                  <a:tcPr marL="36576" marR="36576" marT="18288" marB="18288">
                    <a:solidFill>
                      <a:srgbClr val="F3F6F8"/>
                    </a:solidFill>
                  </a:tcPr>
                </a:tc>
                <a:tc>
                  <a:txBody>
                    <a:bodyPr/>
                    <a:lstStyle/>
                    <a:p>
                      <a:pPr algn="ctr">
                        <a:spcBef>
                          <a:spcPts val="0"/>
                        </a:spcBef>
                        <a:spcAft>
                          <a:spcPts val="0"/>
                        </a:spcAft>
                      </a:pPr>
                      <a:r>
                        <a:rPr sz="810" b="0">
                          <a:solidFill>
                            <a:srgbClr val="111827"/>
                          </a:solidFill>
                          <a:latin typeface="Aptos"/>
                        </a:rPr>
                        <a:t>Above maximum length</a:t>
                      </a:r>
                    </a:p>
                  </a:txBody>
                  <a:tcPr marL="36576" marR="36576" marT="18288" marB="18288">
                    <a:solidFill>
                      <a:srgbClr val="F3F6F8"/>
                    </a:solidFill>
                  </a:tcPr>
                </a:tc>
                <a:tc>
                  <a:txBody>
                    <a:bodyPr/>
                    <a:lstStyle/>
                    <a:p>
                      <a:pPr algn="l">
                        <a:spcBef>
                          <a:spcPts val="0"/>
                        </a:spcBef>
                        <a:spcAft>
                          <a:spcPts val="0"/>
                        </a:spcAft>
                      </a:pPr>
                      <a:r>
                        <a:rPr sz="810" b="0">
                          <a:solidFill>
                            <a:srgbClr val="111827"/>
                          </a:solidFill>
                          <a:latin typeface="Aptos"/>
                        </a:rPr>
                        <a:t>Error message</a:t>
                      </a:r>
                    </a:p>
                  </a:txBody>
                  <a:tcPr marL="36576" marR="36576" marT="18288" marB="18288">
                    <a:solidFill>
                      <a:srgbClr val="F3F6F8"/>
                    </a:solidFill>
                  </a:tcPr>
                </a:tc>
                <a:tc>
                  <a:txBody>
                    <a:bodyPr/>
                    <a:lstStyle/>
                    <a:p>
                      <a:pPr algn="ctr">
                        <a:spcBef>
                          <a:spcPts val="0"/>
                        </a:spcBef>
                        <a:spcAft>
                          <a:spcPts val="0"/>
                        </a:spcAft>
                      </a:pPr>
                      <a:r>
                        <a:rPr sz="810" b="0">
                          <a:solidFill>
                            <a:srgbClr val="111827"/>
                          </a:solidFill>
                          <a:latin typeface="Aptos"/>
                        </a:rPr>
                        <a:t>Negative</a:t>
                      </a:r>
                    </a:p>
                  </a:txBody>
                  <a:tcPr marL="36576" marR="36576" marT="18288" marB="18288">
                    <a:solidFill>
                      <a:srgbClr val="F3F6F8"/>
                    </a:solidFill>
                  </a:tcPr>
                </a:tc>
                <a:extLst>
                  <a:ext uri="{0D108BD9-81ED-4DB2-BD59-A6C34878D82A}">
                    <a16:rowId xmlns:a16="http://schemas.microsoft.com/office/drawing/2014/main" val="10006"/>
                  </a:ext>
                </a:extLst>
              </a:tr>
            </a:tbl>
          </a:graphicData>
        </a:graphic>
      </p:graphicFrame>
      <p:graphicFrame>
        <p:nvGraphicFramePr>
          <p:cNvPr id="10" name="Table 9"/>
          <p:cNvGraphicFramePr>
            <a:graphicFrameLocks noGrp="1"/>
          </p:cNvGraphicFramePr>
          <p:nvPr/>
        </p:nvGraphicFramePr>
        <p:xfrm>
          <a:off x="6263640" y="2423160"/>
          <a:ext cx="4937760" cy="2057400"/>
        </p:xfrm>
        <a:graphic>
          <a:graphicData uri="http://schemas.openxmlformats.org/drawingml/2006/table">
            <a:tbl>
              <a:tblPr firstRow="1" bandRow="1">
                <a:tableStyleId>{5C22544A-7EE6-4342-B048-85BDC9FD1C3A}</a:tableStyleId>
              </a:tblPr>
              <a:tblGrid>
                <a:gridCol w="100584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777240">
                  <a:extLst>
                    <a:ext uri="{9D8B030D-6E8A-4147-A177-3AD203B41FA5}">
                      <a16:colId xmlns:a16="http://schemas.microsoft.com/office/drawing/2014/main" val="20004"/>
                    </a:ext>
                  </a:extLst>
                </a:gridCol>
              </a:tblGrid>
              <a:tr h="293914">
                <a:tc>
                  <a:txBody>
                    <a:bodyPr/>
                    <a:lstStyle/>
                    <a:p>
                      <a:pPr algn="ctr">
                        <a:spcBef>
                          <a:spcPts val="0"/>
                        </a:spcBef>
                        <a:spcAft>
                          <a:spcPts val="0"/>
                        </a:spcAft>
                      </a:pPr>
                      <a:r>
                        <a:rPr sz="810" b="1">
                          <a:solidFill>
                            <a:srgbClr val="FFFFFF"/>
                          </a:solidFill>
                          <a:latin typeface="Aptos"/>
                        </a:rPr>
                        <a:t>Test ID</a:t>
                      </a:r>
                    </a:p>
                  </a:txBody>
                  <a:tcPr marL="36576" marR="36576" marT="18288" marB="18288">
                    <a:solidFill>
                      <a:srgbClr val="1F7A83"/>
                    </a:solidFill>
                  </a:tcPr>
                </a:tc>
                <a:tc>
                  <a:txBody>
                    <a:bodyPr/>
                    <a:lstStyle/>
                    <a:p>
                      <a:pPr algn="l">
                        <a:spcBef>
                          <a:spcPts val="0"/>
                        </a:spcBef>
                        <a:spcAft>
                          <a:spcPts val="0"/>
                        </a:spcAft>
                      </a:pPr>
                      <a:r>
                        <a:rPr sz="810" b="1">
                          <a:solidFill>
                            <a:srgbClr val="FFFFFF"/>
                          </a:solidFill>
                          <a:latin typeface="Aptos"/>
                        </a:rPr>
                        <a:t>Value</a:t>
                      </a:r>
                    </a:p>
                  </a:txBody>
                  <a:tcPr marL="36576" marR="36576" marT="18288" marB="18288">
                    <a:solidFill>
                      <a:srgbClr val="1F7A83"/>
                    </a:solidFill>
                  </a:tcPr>
                </a:tc>
                <a:tc>
                  <a:txBody>
                    <a:bodyPr/>
                    <a:lstStyle/>
                    <a:p>
                      <a:pPr algn="ctr">
                        <a:spcBef>
                          <a:spcPts val="0"/>
                        </a:spcBef>
                        <a:spcAft>
                          <a:spcPts val="0"/>
                        </a:spcAft>
                      </a:pPr>
                      <a:r>
                        <a:rPr sz="810" b="1">
                          <a:solidFill>
                            <a:srgbClr val="FFFFFF"/>
                          </a:solidFill>
                          <a:latin typeface="Aptos"/>
                        </a:rPr>
                        <a:t>Description</a:t>
                      </a:r>
                    </a:p>
                  </a:txBody>
                  <a:tcPr marL="36576" marR="36576" marT="18288" marB="18288">
                    <a:solidFill>
                      <a:srgbClr val="1F7A83"/>
                    </a:solidFill>
                  </a:tcPr>
                </a:tc>
                <a:tc>
                  <a:txBody>
                    <a:bodyPr/>
                    <a:lstStyle/>
                    <a:p>
                      <a:pPr algn="l">
                        <a:spcBef>
                          <a:spcPts val="0"/>
                        </a:spcBef>
                        <a:spcAft>
                          <a:spcPts val="0"/>
                        </a:spcAft>
                      </a:pPr>
                      <a:r>
                        <a:rPr sz="810" b="1">
                          <a:solidFill>
                            <a:srgbClr val="FFFFFF"/>
                          </a:solidFill>
                          <a:latin typeface="Aptos"/>
                        </a:rPr>
                        <a:t>Expected</a:t>
                      </a:r>
                    </a:p>
                  </a:txBody>
                  <a:tcPr marL="36576" marR="36576" marT="18288" marB="18288">
                    <a:solidFill>
                      <a:srgbClr val="1F7A83"/>
                    </a:solidFill>
                  </a:tcPr>
                </a:tc>
                <a:tc>
                  <a:txBody>
                    <a:bodyPr/>
                    <a:lstStyle/>
                    <a:p>
                      <a:pPr algn="ctr">
                        <a:spcBef>
                          <a:spcPts val="0"/>
                        </a:spcBef>
                        <a:spcAft>
                          <a:spcPts val="0"/>
                        </a:spcAft>
                      </a:pPr>
                      <a:r>
                        <a:rPr sz="810" b="1">
                          <a:solidFill>
                            <a:srgbClr val="FFFFFF"/>
                          </a:solidFill>
                          <a:latin typeface="Aptos"/>
                        </a:rPr>
                        <a:t>Type</a:t>
                      </a:r>
                    </a:p>
                  </a:txBody>
                  <a:tcPr marL="36576" marR="36576" marT="18288" marB="18288">
                    <a:solidFill>
                      <a:srgbClr val="1F7A83"/>
                    </a:solidFill>
                  </a:tcPr>
                </a:tc>
                <a:extLst>
                  <a:ext uri="{0D108BD9-81ED-4DB2-BD59-A6C34878D82A}">
                    <a16:rowId xmlns:a16="http://schemas.microsoft.com/office/drawing/2014/main" val="10000"/>
                  </a:ext>
                </a:extLst>
              </a:tr>
              <a:tr h="293914">
                <a:tc>
                  <a:txBody>
                    <a:bodyPr/>
                    <a:lstStyle/>
                    <a:p>
                      <a:pPr algn="ctr">
                        <a:spcBef>
                          <a:spcPts val="0"/>
                        </a:spcBef>
                        <a:spcAft>
                          <a:spcPts val="0"/>
                        </a:spcAft>
                      </a:pPr>
                      <a:r>
                        <a:rPr sz="810" b="1">
                          <a:solidFill>
                            <a:srgbClr val="111827"/>
                          </a:solidFill>
                          <a:latin typeface="Aptos"/>
                        </a:rPr>
                        <a:t>BVA-NAME-01</a:t>
                      </a:r>
                    </a:p>
                  </a:txBody>
                  <a:tcPr marL="36576" marR="36576" marT="18288" marB="18288">
                    <a:solidFill>
                      <a:srgbClr val="DAEFF2"/>
                    </a:solidFill>
                  </a:tcPr>
                </a:tc>
                <a:tc>
                  <a:txBody>
                    <a:bodyPr/>
                    <a:lstStyle/>
                    <a:p>
                      <a:pPr algn="l">
                        <a:spcBef>
                          <a:spcPts val="0"/>
                        </a:spcBef>
                        <a:spcAft>
                          <a:spcPts val="0"/>
                        </a:spcAft>
                      </a:pPr>
                      <a:r>
                        <a:rPr sz="810" b="0">
                          <a:solidFill>
                            <a:srgbClr val="111827"/>
                          </a:solidFill>
                          <a:latin typeface="Aptos"/>
                        </a:rPr>
                        <a:t>1</a:t>
                      </a:r>
                    </a:p>
                  </a:txBody>
                  <a:tcPr marL="36576" marR="36576" marT="18288" marB="18288">
                    <a:solidFill>
                      <a:srgbClr val="FFFFFF"/>
                    </a:solidFill>
                  </a:tcPr>
                </a:tc>
                <a:tc>
                  <a:txBody>
                    <a:bodyPr/>
                    <a:lstStyle/>
                    <a:p>
                      <a:pPr algn="ctr">
                        <a:spcBef>
                          <a:spcPts val="0"/>
                        </a:spcBef>
                        <a:spcAft>
                          <a:spcPts val="0"/>
                        </a:spcAft>
                      </a:pPr>
                      <a:r>
                        <a:rPr sz="810" b="0">
                          <a:solidFill>
                            <a:srgbClr val="111827"/>
                          </a:solidFill>
                          <a:latin typeface="Aptos"/>
                        </a:rPr>
                        <a:t>Below minimum length</a:t>
                      </a:r>
                    </a:p>
                  </a:txBody>
                  <a:tcPr marL="36576" marR="36576" marT="18288" marB="18288">
                    <a:solidFill>
                      <a:srgbClr val="FFFFFF"/>
                    </a:solidFill>
                  </a:tcPr>
                </a:tc>
                <a:tc>
                  <a:txBody>
                    <a:bodyPr/>
                    <a:lstStyle/>
                    <a:p>
                      <a:pPr algn="l">
                        <a:spcBef>
                          <a:spcPts val="0"/>
                        </a:spcBef>
                        <a:spcAft>
                          <a:spcPts val="0"/>
                        </a:spcAft>
                      </a:pPr>
                      <a:r>
                        <a:rPr sz="810" b="0">
                          <a:solidFill>
                            <a:srgbClr val="111827"/>
                          </a:solidFill>
                          <a:latin typeface="Aptos"/>
                        </a:rPr>
                        <a:t>Error message</a:t>
                      </a:r>
                    </a:p>
                  </a:txBody>
                  <a:tcPr marL="36576" marR="36576" marT="18288" marB="18288">
                    <a:solidFill>
                      <a:srgbClr val="FFFFFF"/>
                    </a:solidFill>
                  </a:tcPr>
                </a:tc>
                <a:tc>
                  <a:txBody>
                    <a:bodyPr/>
                    <a:lstStyle/>
                    <a:p>
                      <a:pPr algn="ctr">
                        <a:spcBef>
                          <a:spcPts val="0"/>
                        </a:spcBef>
                        <a:spcAft>
                          <a:spcPts val="0"/>
                        </a:spcAft>
                      </a:pPr>
                      <a:r>
                        <a:rPr sz="810" b="0">
                          <a:solidFill>
                            <a:srgbClr val="111827"/>
                          </a:solidFill>
                          <a:latin typeface="Aptos"/>
                        </a:rPr>
                        <a:t>Negative</a:t>
                      </a:r>
                    </a:p>
                  </a:txBody>
                  <a:tcPr marL="36576" marR="36576" marT="18288" marB="18288">
                    <a:solidFill>
                      <a:srgbClr val="FFFFFF"/>
                    </a:solidFill>
                  </a:tcPr>
                </a:tc>
                <a:extLst>
                  <a:ext uri="{0D108BD9-81ED-4DB2-BD59-A6C34878D82A}">
                    <a16:rowId xmlns:a16="http://schemas.microsoft.com/office/drawing/2014/main" val="10001"/>
                  </a:ext>
                </a:extLst>
              </a:tr>
              <a:tr h="293914">
                <a:tc>
                  <a:txBody>
                    <a:bodyPr/>
                    <a:lstStyle/>
                    <a:p>
                      <a:pPr algn="ctr">
                        <a:spcBef>
                          <a:spcPts val="0"/>
                        </a:spcBef>
                        <a:spcAft>
                          <a:spcPts val="0"/>
                        </a:spcAft>
                      </a:pPr>
                      <a:r>
                        <a:rPr sz="810" b="1">
                          <a:solidFill>
                            <a:srgbClr val="111827"/>
                          </a:solidFill>
                          <a:latin typeface="Aptos"/>
                        </a:rPr>
                        <a:t>BVA-NAME-02</a:t>
                      </a:r>
                    </a:p>
                  </a:txBody>
                  <a:tcPr marL="36576" marR="36576" marT="18288" marB="18288">
                    <a:solidFill>
                      <a:srgbClr val="DAEFF2"/>
                    </a:solidFill>
                  </a:tcPr>
                </a:tc>
                <a:tc>
                  <a:txBody>
                    <a:bodyPr/>
                    <a:lstStyle/>
                    <a:p>
                      <a:pPr algn="l">
                        <a:spcBef>
                          <a:spcPts val="0"/>
                        </a:spcBef>
                        <a:spcAft>
                          <a:spcPts val="0"/>
                        </a:spcAft>
                      </a:pPr>
                      <a:r>
                        <a:rPr sz="810" b="0">
                          <a:solidFill>
                            <a:srgbClr val="111827"/>
                          </a:solidFill>
                          <a:latin typeface="Aptos"/>
                        </a:rPr>
                        <a:t>2</a:t>
                      </a:r>
                    </a:p>
                  </a:txBody>
                  <a:tcPr marL="36576" marR="36576" marT="18288" marB="18288">
                    <a:solidFill>
                      <a:srgbClr val="F3F6F8"/>
                    </a:solidFill>
                  </a:tcPr>
                </a:tc>
                <a:tc>
                  <a:txBody>
                    <a:bodyPr/>
                    <a:lstStyle/>
                    <a:p>
                      <a:pPr algn="ctr">
                        <a:spcBef>
                          <a:spcPts val="0"/>
                        </a:spcBef>
                        <a:spcAft>
                          <a:spcPts val="0"/>
                        </a:spcAft>
                      </a:pPr>
                      <a:r>
                        <a:rPr sz="810" b="0">
                          <a:solidFill>
                            <a:srgbClr val="111827"/>
                          </a:solidFill>
                          <a:latin typeface="Aptos"/>
                        </a:rPr>
                        <a:t>Minimum boundary</a:t>
                      </a:r>
                    </a:p>
                  </a:txBody>
                  <a:tcPr marL="36576" marR="36576" marT="18288" marB="18288">
                    <a:solidFill>
                      <a:srgbClr val="F3F6F8"/>
                    </a:solidFill>
                  </a:tcPr>
                </a:tc>
                <a:tc>
                  <a:txBody>
                    <a:bodyPr/>
                    <a:lstStyle/>
                    <a:p>
                      <a:pPr algn="l">
                        <a:spcBef>
                          <a:spcPts val="0"/>
                        </a:spcBef>
                        <a:spcAft>
                          <a:spcPts val="0"/>
                        </a:spcAft>
                      </a:pPr>
                      <a:r>
                        <a:rPr sz="810" b="0">
                          <a:solidFill>
                            <a:srgbClr val="111827"/>
                          </a:solidFill>
                          <a:latin typeface="Aptos"/>
                        </a:rPr>
                        <a:t>Accepted</a:t>
                      </a:r>
                    </a:p>
                  </a:txBody>
                  <a:tcPr marL="36576" marR="36576" marT="18288" marB="18288">
                    <a:solidFill>
                      <a:srgbClr val="F3F6F8"/>
                    </a:solidFill>
                  </a:tcPr>
                </a:tc>
                <a:tc>
                  <a:txBody>
                    <a:bodyPr/>
                    <a:lstStyle/>
                    <a:p>
                      <a:pPr algn="ctr">
                        <a:spcBef>
                          <a:spcPts val="0"/>
                        </a:spcBef>
                        <a:spcAft>
                          <a:spcPts val="0"/>
                        </a:spcAft>
                      </a:pPr>
                      <a:r>
                        <a:rPr sz="810" b="0">
                          <a:solidFill>
                            <a:srgbClr val="111827"/>
                          </a:solidFill>
                          <a:latin typeface="Aptos"/>
                        </a:rPr>
                        <a:t>Positive</a:t>
                      </a:r>
                    </a:p>
                  </a:txBody>
                  <a:tcPr marL="36576" marR="36576" marT="18288" marB="18288">
                    <a:solidFill>
                      <a:srgbClr val="F3F6F8"/>
                    </a:solidFill>
                  </a:tcPr>
                </a:tc>
                <a:extLst>
                  <a:ext uri="{0D108BD9-81ED-4DB2-BD59-A6C34878D82A}">
                    <a16:rowId xmlns:a16="http://schemas.microsoft.com/office/drawing/2014/main" val="10002"/>
                  </a:ext>
                </a:extLst>
              </a:tr>
              <a:tr h="293914">
                <a:tc>
                  <a:txBody>
                    <a:bodyPr/>
                    <a:lstStyle/>
                    <a:p>
                      <a:pPr algn="ctr">
                        <a:spcBef>
                          <a:spcPts val="0"/>
                        </a:spcBef>
                        <a:spcAft>
                          <a:spcPts val="0"/>
                        </a:spcAft>
                      </a:pPr>
                      <a:r>
                        <a:rPr sz="810" b="1">
                          <a:solidFill>
                            <a:srgbClr val="111827"/>
                          </a:solidFill>
                          <a:latin typeface="Aptos"/>
                        </a:rPr>
                        <a:t>BVA-NAME-03</a:t>
                      </a:r>
                    </a:p>
                  </a:txBody>
                  <a:tcPr marL="36576" marR="36576" marT="18288" marB="18288">
                    <a:solidFill>
                      <a:srgbClr val="DAEFF2"/>
                    </a:solidFill>
                  </a:tcPr>
                </a:tc>
                <a:tc>
                  <a:txBody>
                    <a:bodyPr/>
                    <a:lstStyle/>
                    <a:p>
                      <a:pPr algn="l">
                        <a:spcBef>
                          <a:spcPts val="0"/>
                        </a:spcBef>
                        <a:spcAft>
                          <a:spcPts val="0"/>
                        </a:spcAft>
                      </a:pPr>
                      <a:r>
                        <a:rPr sz="810" b="0">
                          <a:solidFill>
                            <a:srgbClr val="111827"/>
                          </a:solidFill>
                          <a:latin typeface="Aptos"/>
                        </a:rPr>
                        <a:t>3</a:t>
                      </a:r>
                    </a:p>
                  </a:txBody>
                  <a:tcPr marL="36576" marR="36576" marT="18288" marB="18288">
                    <a:solidFill>
                      <a:srgbClr val="FFFFFF"/>
                    </a:solidFill>
                  </a:tcPr>
                </a:tc>
                <a:tc>
                  <a:txBody>
                    <a:bodyPr/>
                    <a:lstStyle/>
                    <a:p>
                      <a:pPr algn="ctr">
                        <a:spcBef>
                          <a:spcPts val="0"/>
                        </a:spcBef>
                        <a:spcAft>
                          <a:spcPts val="0"/>
                        </a:spcAft>
                      </a:pPr>
                      <a:r>
                        <a:rPr sz="810" b="0">
                          <a:solidFill>
                            <a:srgbClr val="111827"/>
                          </a:solidFill>
                          <a:latin typeface="Aptos"/>
                        </a:rPr>
                        <a:t>Just above minimum</a:t>
                      </a:r>
                    </a:p>
                  </a:txBody>
                  <a:tcPr marL="36576" marR="36576" marT="18288" marB="18288">
                    <a:solidFill>
                      <a:srgbClr val="FFFFFF"/>
                    </a:solidFill>
                  </a:tcPr>
                </a:tc>
                <a:tc>
                  <a:txBody>
                    <a:bodyPr/>
                    <a:lstStyle/>
                    <a:p>
                      <a:pPr algn="l">
                        <a:spcBef>
                          <a:spcPts val="0"/>
                        </a:spcBef>
                        <a:spcAft>
                          <a:spcPts val="0"/>
                        </a:spcAft>
                      </a:pPr>
                      <a:r>
                        <a:rPr sz="810" b="0">
                          <a:solidFill>
                            <a:srgbClr val="111827"/>
                          </a:solidFill>
                          <a:latin typeface="Aptos"/>
                        </a:rPr>
                        <a:t>Accepted</a:t>
                      </a:r>
                    </a:p>
                  </a:txBody>
                  <a:tcPr marL="36576" marR="36576" marT="18288" marB="18288">
                    <a:solidFill>
                      <a:srgbClr val="FFFFFF"/>
                    </a:solidFill>
                  </a:tcPr>
                </a:tc>
                <a:tc>
                  <a:txBody>
                    <a:bodyPr/>
                    <a:lstStyle/>
                    <a:p>
                      <a:pPr algn="ctr">
                        <a:spcBef>
                          <a:spcPts val="0"/>
                        </a:spcBef>
                        <a:spcAft>
                          <a:spcPts val="0"/>
                        </a:spcAft>
                      </a:pPr>
                      <a:r>
                        <a:rPr sz="810" b="0">
                          <a:solidFill>
                            <a:srgbClr val="111827"/>
                          </a:solidFill>
                          <a:latin typeface="Aptos"/>
                        </a:rPr>
                        <a:t>Positive</a:t>
                      </a:r>
                    </a:p>
                  </a:txBody>
                  <a:tcPr marL="36576" marR="36576" marT="18288" marB="18288">
                    <a:solidFill>
                      <a:srgbClr val="FFFFFF"/>
                    </a:solidFill>
                  </a:tcPr>
                </a:tc>
                <a:extLst>
                  <a:ext uri="{0D108BD9-81ED-4DB2-BD59-A6C34878D82A}">
                    <a16:rowId xmlns:a16="http://schemas.microsoft.com/office/drawing/2014/main" val="10003"/>
                  </a:ext>
                </a:extLst>
              </a:tr>
              <a:tr h="293914">
                <a:tc>
                  <a:txBody>
                    <a:bodyPr/>
                    <a:lstStyle/>
                    <a:p>
                      <a:pPr algn="ctr">
                        <a:spcBef>
                          <a:spcPts val="0"/>
                        </a:spcBef>
                        <a:spcAft>
                          <a:spcPts val="0"/>
                        </a:spcAft>
                      </a:pPr>
                      <a:r>
                        <a:rPr sz="810" b="1">
                          <a:solidFill>
                            <a:srgbClr val="111827"/>
                          </a:solidFill>
                          <a:latin typeface="Aptos"/>
                        </a:rPr>
                        <a:t>BVA-NAME-04</a:t>
                      </a:r>
                    </a:p>
                  </a:txBody>
                  <a:tcPr marL="36576" marR="36576" marT="18288" marB="18288">
                    <a:solidFill>
                      <a:srgbClr val="DAEFF2"/>
                    </a:solidFill>
                  </a:tcPr>
                </a:tc>
                <a:tc>
                  <a:txBody>
                    <a:bodyPr/>
                    <a:lstStyle/>
                    <a:p>
                      <a:pPr algn="l">
                        <a:spcBef>
                          <a:spcPts val="0"/>
                        </a:spcBef>
                        <a:spcAft>
                          <a:spcPts val="0"/>
                        </a:spcAft>
                      </a:pPr>
                      <a:r>
                        <a:rPr sz="810" b="0">
                          <a:solidFill>
                            <a:srgbClr val="111827"/>
                          </a:solidFill>
                          <a:latin typeface="Aptos"/>
                        </a:rPr>
                        <a:t>49</a:t>
                      </a:r>
                    </a:p>
                  </a:txBody>
                  <a:tcPr marL="36576" marR="36576" marT="18288" marB="18288">
                    <a:solidFill>
                      <a:srgbClr val="F3F6F8"/>
                    </a:solidFill>
                  </a:tcPr>
                </a:tc>
                <a:tc>
                  <a:txBody>
                    <a:bodyPr/>
                    <a:lstStyle/>
                    <a:p>
                      <a:pPr algn="ctr">
                        <a:spcBef>
                          <a:spcPts val="0"/>
                        </a:spcBef>
                        <a:spcAft>
                          <a:spcPts val="0"/>
                        </a:spcAft>
                      </a:pPr>
                      <a:r>
                        <a:rPr sz="810" b="0">
                          <a:solidFill>
                            <a:srgbClr val="111827"/>
                          </a:solidFill>
                          <a:latin typeface="Aptos"/>
                        </a:rPr>
                        <a:t>Just below maximum</a:t>
                      </a:r>
                    </a:p>
                  </a:txBody>
                  <a:tcPr marL="36576" marR="36576" marT="18288" marB="18288">
                    <a:solidFill>
                      <a:srgbClr val="F3F6F8"/>
                    </a:solidFill>
                  </a:tcPr>
                </a:tc>
                <a:tc>
                  <a:txBody>
                    <a:bodyPr/>
                    <a:lstStyle/>
                    <a:p>
                      <a:pPr algn="l">
                        <a:spcBef>
                          <a:spcPts val="0"/>
                        </a:spcBef>
                        <a:spcAft>
                          <a:spcPts val="0"/>
                        </a:spcAft>
                      </a:pPr>
                      <a:r>
                        <a:rPr sz="810" b="0">
                          <a:solidFill>
                            <a:srgbClr val="111827"/>
                          </a:solidFill>
                          <a:latin typeface="Aptos"/>
                        </a:rPr>
                        <a:t>Accepted</a:t>
                      </a:r>
                    </a:p>
                  </a:txBody>
                  <a:tcPr marL="36576" marR="36576" marT="18288" marB="18288">
                    <a:solidFill>
                      <a:srgbClr val="F3F6F8"/>
                    </a:solidFill>
                  </a:tcPr>
                </a:tc>
                <a:tc>
                  <a:txBody>
                    <a:bodyPr/>
                    <a:lstStyle/>
                    <a:p>
                      <a:pPr algn="ctr">
                        <a:spcBef>
                          <a:spcPts val="0"/>
                        </a:spcBef>
                        <a:spcAft>
                          <a:spcPts val="0"/>
                        </a:spcAft>
                      </a:pPr>
                      <a:r>
                        <a:rPr sz="810" b="0">
                          <a:solidFill>
                            <a:srgbClr val="111827"/>
                          </a:solidFill>
                          <a:latin typeface="Aptos"/>
                        </a:rPr>
                        <a:t>Positive</a:t>
                      </a:r>
                    </a:p>
                  </a:txBody>
                  <a:tcPr marL="36576" marR="36576" marT="18288" marB="18288">
                    <a:solidFill>
                      <a:srgbClr val="F3F6F8"/>
                    </a:solidFill>
                  </a:tcPr>
                </a:tc>
                <a:extLst>
                  <a:ext uri="{0D108BD9-81ED-4DB2-BD59-A6C34878D82A}">
                    <a16:rowId xmlns:a16="http://schemas.microsoft.com/office/drawing/2014/main" val="10004"/>
                  </a:ext>
                </a:extLst>
              </a:tr>
              <a:tr h="293914">
                <a:tc>
                  <a:txBody>
                    <a:bodyPr/>
                    <a:lstStyle/>
                    <a:p>
                      <a:pPr algn="ctr">
                        <a:spcBef>
                          <a:spcPts val="0"/>
                        </a:spcBef>
                        <a:spcAft>
                          <a:spcPts val="0"/>
                        </a:spcAft>
                      </a:pPr>
                      <a:r>
                        <a:rPr sz="810" b="1">
                          <a:solidFill>
                            <a:srgbClr val="111827"/>
                          </a:solidFill>
                          <a:latin typeface="Aptos"/>
                        </a:rPr>
                        <a:t>BVA-NAME-05</a:t>
                      </a:r>
                    </a:p>
                  </a:txBody>
                  <a:tcPr marL="36576" marR="36576" marT="18288" marB="18288">
                    <a:solidFill>
                      <a:srgbClr val="DAEFF2"/>
                    </a:solidFill>
                  </a:tcPr>
                </a:tc>
                <a:tc>
                  <a:txBody>
                    <a:bodyPr/>
                    <a:lstStyle/>
                    <a:p>
                      <a:pPr algn="l">
                        <a:spcBef>
                          <a:spcPts val="0"/>
                        </a:spcBef>
                        <a:spcAft>
                          <a:spcPts val="0"/>
                        </a:spcAft>
                      </a:pPr>
                      <a:r>
                        <a:rPr sz="810" b="0">
                          <a:solidFill>
                            <a:srgbClr val="111827"/>
                          </a:solidFill>
                          <a:latin typeface="Aptos"/>
                        </a:rPr>
                        <a:t>50</a:t>
                      </a:r>
                    </a:p>
                  </a:txBody>
                  <a:tcPr marL="36576" marR="36576" marT="18288" marB="18288">
                    <a:solidFill>
                      <a:srgbClr val="FFFFFF"/>
                    </a:solidFill>
                  </a:tcPr>
                </a:tc>
                <a:tc>
                  <a:txBody>
                    <a:bodyPr/>
                    <a:lstStyle/>
                    <a:p>
                      <a:pPr algn="ctr">
                        <a:spcBef>
                          <a:spcPts val="0"/>
                        </a:spcBef>
                        <a:spcAft>
                          <a:spcPts val="0"/>
                        </a:spcAft>
                      </a:pPr>
                      <a:r>
                        <a:rPr sz="810" b="0">
                          <a:solidFill>
                            <a:srgbClr val="111827"/>
                          </a:solidFill>
                          <a:latin typeface="Aptos"/>
                        </a:rPr>
                        <a:t>Maximum boundary</a:t>
                      </a:r>
                    </a:p>
                  </a:txBody>
                  <a:tcPr marL="36576" marR="36576" marT="18288" marB="18288">
                    <a:solidFill>
                      <a:srgbClr val="FFFFFF"/>
                    </a:solidFill>
                  </a:tcPr>
                </a:tc>
                <a:tc>
                  <a:txBody>
                    <a:bodyPr/>
                    <a:lstStyle/>
                    <a:p>
                      <a:pPr algn="l">
                        <a:spcBef>
                          <a:spcPts val="0"/>
                        </a:spcBef>
                        <a:spcAft>
                          <a:spcPts val="0"/>
                        </a:spcAft>
                      </a:pPr>
                      <a:r>
                        <a:rPr sz="810" b="0">
                          <a:solidFill>
                            <a:srgbClr val="111827"/>
                          </a:solidFill>
                          <a:latin typeface="Aptos"/>
                        </a:rPr>
                        <a:t>Accepted</a:t>
                      </a:r>
                    </a:p>
                  </a:txBody>
                  <a:tcPr marL="36576" marR="36576" marT="18288" marB="18288">
                    <a:solidFill>
                      <a:srgbClr val="FFFFFF"/>
                    </a:solidFill>
                  </a:tcPr>
                </a:tc>
                <a:tc>
                  <a:txBody>
                    <a:bodyPr/>
                    <a:lstStyle/>
                    <a:p>
                      <a:pPr algn="ctr">
                        <a:spcBef>
                          <a:spcPts val="0"/>
                        </a:spcBef>
                        <a:spcAft>
                          <a:spcPts val="0"/>
                        </a:spcAft>
                      </a:pPr>
                      <a:r>
                        <a:rPr sz="810" b="0">
                          <a:solidFill>
                            <a:srgbClr val="111827"/>
                          </a:solidFill>
                          <a:latin typeface="Aptos"/>
                        </a:rPr>
                        <a:t>Positive</a:t>
                      </a:r>
                    </a:p>
                  </a:txBody>
                  <a:tcPr marL="36576" marR="36576" marT="18288" marB="18288">
                    <a:solidFill>
                      <a:srgbClr val="FFFFFF"/>
                    </a:solidFill>
                  </a:tcPr>
                </a:tc>
                <a:extLst>
                  <a:ext uri="{0D108BD9-81ED-4DB2-BD59-A6C34878D82A}">
                    <a16:rowId xmlns:a16="http://schemas.microsoft.com/office/drawing/2014/main" val="10005"/>
                  </a:ext>
                </a:extLst>
              </a:tr>
              <a:tr h="293916">
                <a:tc>
                  <a:txBody>
                    <a:bodyPr/>
                    <a:lstStyle/>
                    <a:p>
                      <a:pPr algn="ctr">
                        <a:spcBef>
                          <a:spcPts val="0"/>
                        </a:spcBef>
                        <a:spcAft>
                          <a:spcPts val="0"/>
                        </a:spcAft>
                      </a:pPr>
                      <a:r>
                        <a:rPr sz="810" b="1">
                          <a:solidFill>
                            <a:srgbClr val="111827"/>
                          </a:solidFill>
                          <a:latin typeface="Aptos"/>
                        </a:rPr>
                        <a:t>BVA-NAME-06</a:t>
                      </a:r>
                    </a:p>
                  </a:txBody>
                  <a:tcPr marL="36576" marR="36576" marT="18288" marB="18288">
                    <a:solidFill>
                      <a:srgbClr val="DAEFF2"/>
                    </a:solidFill>
                  </a:tcPr>
                </a:tc>
                <a:tc>
                  <a:txBody>
                    <a:bodyPr/>
                    <a:lstStyle/>
                    <a:p>
                      <a:pPr algn="l">
                        <a:spcBef>
                          <a:spcPts val="0"/>
                        </a:spcBef>
                        <a:spcAft>
                          <a:spcPts val="0"/>
                        </a:spcAft>
                      </a:pPr>
                      <a:r>
                        <a:rPr sz="810" b="0">
                          <a:solidFill>
                            <a:srgbClr val="111827"/>
                          </a:solidFill>
                          <a:latin typeface="Aptos"/>
                        </a:rPr>
                        <a:t>51</a:t>
                      </a:r>
                    </a:p>
                  </a:txBody>
                  <a:tcPr marL="36576" marR="36576" marT="18288" marB="18288">
                    <a:solidFill>
                      <a:srgbClr val="F3F6F8"/>
                    </a:solidFill>
                  </a:tcPr>
                </a:tc>
                <a:tc>
                  <a:txBody>
                    <a:bodyPr/>
                    <a:lstStyle/>
                    <a:p>
                      <a:pPr algn="ctr">
                        <a:spcBef>
                          <a:spcPts val="0"/>
                        </a:spcBef>
                        <a:spcAft>
                          <a:spcPts val="0"/>
                        </a:spcAft>
                      </a:pPr>
                      <a:r>
                        <a:rPr sz="810" b="0">
                          <a:solidFill>
                            <a:srgbClr val="111827"/>
                          </a:solidFill>
                          <a:latin typeface="Aptos"/>
                        </a:rPr>
                        <a:t>Above maximum length</a:t>
                      </a:r>
                    </a:p>
                  </a:txBody>
                  <a:tcPr marL="36576" marR="36576" marT="18288" marB="18288">
                    <a:solidFill>
                      <a:srgbClr val="F3F6F8"/>
                    </a:solidFill>
                  </a:tcPr>
                </a:tc>
                <a:tc>
                  <a:txBody>
                    <a:bodyPr/>
                    <a:lstStyle/>
                    <a:p>
                      <a:pPr algn="l">
                        <a:spcBef>
                          <a:spcPts val="0"/>
                        </a:spcBef>
                        <a:spcAft>
                          <a:spcPts val="0"/>
                        </a:spcAft>
                      </a:pPr>
                      <a:r>
                        <a:rPr sz="810" b="0">
                          <a:solidFill>
                            <a:srgbClr val="111827"/>
                          </a:solidFill>
                          <a:latin typeface="Aptos"/>
                        </a:rPr>
                        <a:t>Error message</a:t>
                      </a:r>
                    </a:p>
                  </a:txBody>
                  <a:tcPr marL="36576" marR="36576" marT="18288" marB="18288">
                    <a:solidFill>
                      <a:srgbClr val="F3F6F8"/>
                    </a:solidFill>
                  </a:tcPr>
                </a:tc>
                <a:tc>
                  <a:txBody>
                    <a:bodyPr/>
                    <a:lstStyle/>
                    <a:p>
                      <a:pPr algn="ctr">
                        <a:spcBef>
                          <a:spcPts val="0"/>
                        </a:spcBef>
                        <a:spcAft>
                          <a:spcPts val="0"/>
                        </a:spcAft>
                      </a:pPr>
                      <a:r>
                        <a:rPr sz="810" b="0">
                          <a:solidFill>
                            <a:srgbClr val="111827"/>
                          </a:solidFill>
                          <a:latin typeface="Aptos"/>
                        </a:rPr>
                        <a:t>Negative</a:t>
                      </a:r>
                    </a:p>
                  </a:txBody>
                  <a:tcPr marL="36576" marR="36576" marT="18288" marB="18288">
                    <a:solidFill>
                      <a:srgbClr val="F3F6F8"/>
                    </a:solidFill>
                  </a:tcPr>
                </a:tc>
                <a:extLst>
                  <a:ext uri="{0D108BD9-81ED-4DB2-BD59-A6C34878D82A}">
                    <a16:rowId xmlns:a16="http://schemas.microsoft.com/office/drawing/2014/main" val="10006"/>
                  </a:ext>
                </a:extLst>
              </a:tr>
            </a:tbl>
          </a:graphicData>
        </a:graphic>
      </p:graphicFrame>
      <p:sp>
        <p:nvSpPr>
          <p:cNvPr id="11" name="Rounded Rectangle 10"/>
          <p:cNvSpPr/>
          <p:nvPr/>
        </p:nvSpPr>
        <p:spPr>
          <a:xfrm>
            <a:off x="731520" y="4828032"/>
            <a:ext cx="5074920" cy="914400"/>
          </a:xfrm>
          <a:prstGeom prst="roundRect">
            <a:avLst/>
          </a:prstGeom>
          <a:solidFill>
            <a:srgbClr val="FFFFFF"/>
          </a:solidFill>
          <a:ln w="1270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96112" y="4946904"/>
            <a:ext cx="4663440" cy="228600"/>
          </a:xfrm>
          <a:prstGeom prst="rect">
            <a:avLst/>
          </a:prstGeom>
          <a:noFill/>
        </p:spPr>
        <p:txBody>
          <a:bodyPr wrap="square">
            <a:spAutoFit/>
          </a:bodyPr>
          <a:lstStyle/>
          <a:p>
            <a:pPr algn="l"/>
            <a:r>
              <a:rPr sz="1050" b="1">
                <a:solidFill>
                  <a:srgbClr val="111827"/>
                </a:solidFill>
                <a:latin typeface="Aptos"/>
              </a:rPr>
              <a:t>Employee ID rule</a:t>
            </a:r>
          </a:p>
        </p:txBody>
      </p:sp>
      <p:sp>
        <p:nvSpPr>
          <p:cNvPr id="13" name="TextBox 12"/>
          <p:cNvSpPr txBox="1"/>
          <p:nvPr/>
        </p:nvSpPr>
        <p:spPr>
          <a:xfrm>
            <a:off x="896112" y="5239512"/>
            <a:ext cx="4663440" cy="347472"/>
          </a:xfrm>
          <a:prstGeom prst="rect">
            <a:avLst/>
          </a:prstGeom>
          <a:noFill/>
        </p:spPr>
        <p:txBody>
          <a:bodyPr wrap="square">
            <a:spAutoFit/>
          </a:bodyPr>
          <a:lstStyle/>
          <a:p>
            <a:r>
              <a:rPr sz="1100">
                <a:solidFill>
                  <a:srgbClr val="3C3C3C"/>
                </a:solidFill>
              </a:rPr>
              <a:t>Valid input accepts only numeric values with a length between 1 and 10 digits; boundaries 0, 1, 10, and 11 verify the minimum/maximum limits.</a:t>
            </a:r>
          </a:p>
        </p:txBody>
      </p:sp>
      <p:sp>
        <p:nvSpPr>
          <p:cNvPr id="14" name="Rounded Rectangle 13"/>
          <p:cNvSpPr/>
          <p:nvPr/>
        </p:nvSpPr>
        <p:spPr>
          <a:xfrm>
            <a:off x="6263640" y="4828032"/>
            <a:ext cx="5074920" cy="914400"/>
          </a:xfrm>
          <a:prstGeom prst="roundRect">
            <a:avLst/>
          </a:prstGeom>
          <a:solidFill>
            <a:srgbClr val="FFFFFF"/>
          </a:solidFill>
          <a:ln w="12700">
            <a:solidFill>
              <a:srgbClr val="E6E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28231" y="4946904"/>
            <a:ext cx="4663440" cy="228600"/>
          </a:xfrm>
          <a:prstGeom prst="rect">
            <a:avLst/>
          </a:prstGeom>
          <a:noFill/>
        </p:spPr>
        <p:txBody>
          <a:bodyPr wrap="square">
            <a:spAutoFit/>
          </a:bodyPr>
          <a:lstStyle/>
          <a:p>
            <a:pPr algn="l"/>
            <a:r>
              <a:rPr sz="1050" b="1">
                <a:solidFill>
                  <a:srgbClr val="111827"/>
                </a:solidFill>
                <a:latin typeface="Aptos"/>
              </a:rPr>
              <a:t>Full Name rule</a:t>
            </a:r>
          </a:p>
        </p:txBody>
      </p:sp>
      <p:sp>
        <p:nvSpPr>
          <p:cNvPr id="16" name="TextBox 15"/>
          <p:cNvSpPr txBox="1"/>
          <p:nvPr/>
        </p:nvSpPr>
        <p:spPr>
          <a:xfrm>
            <a:off x="6428231" y="5239512"/>
            <a:ext cx="4663440" cy="347472"/>
          </a:xfrm>
          <a:prstGeom prst="rect">
            <a:avLst/>
          </a:prstGeom>
          <a:noFill/>
        </p:spPr>
        <p:txBody>
          <a:bodyPr wrap="square">
            <a:spAutoFit/>
          </a:bodyPr>
          <a:lstStyle/>
          <a:p>
            <a:r>
              <a:rPr sz="1100">
                <a:solidFill>
                  <a:srgbClr val="3C3C3C"/>
                </a:solidFill>
              </a:rPr>
              <a:t>Valid input accepts alphabetic names with 2–50 characters; boundary values check just below, at, and just above the accepted length range.</a:t>
            </a:r>
          </a:p>
        </p:txBody>
      </p:sp>
      <p:sp>
        <p:nvSpPr>
          <p:cNvPr id="17" name="TextBox 16"/>
          <p:cNvSpPr txBox="1"/>
          <p:nvPr/>
        </p:nvSpPr>
        <p:spPr>
          <a:xfrm>
            <a:off x="502920" y="6601968"/>
            <a:ext cx="3840480" cy="182880"/>
          </a:xfrm>
          <a:prstGeom prst="rect">
            <a:avLst/>
          </a:prstGeom>
          <a:noFill/>
        </p:spPr>
        <p:txBody>
          <a:bodyPr wrap="square">
            <a:spAutoFit/>
          </a:bodyPr>
          <a:lstStyle/>
          <a:p>
            <a:pPr algn="l"/>
            <a:r>
              <a:rPr sz="720" b="0">
                <a:solidFill>
                  <a:srgbClr val="64748B"/>
                </a:solidFill>
                <a:latin typeface="Aptos"/>
              </a:rPr>
              <a:t>3.Functional Testing &amp; GUI Automation</a:t>
            </a:r>
          </a:p>
        </p:txBody>
      </p:sp>
      <p:sp>
        <p:nvSpPr>
          <p:cNvPr id="18" name="TextBox 17"/>
          <p:cNvSpPr txBox="1"/>
          <p:nvPr/>
        </p:nvSpPr>
        <p:spPr>
          <a:xfrm>
            <a:off x="11658600" y="6601968"/>
            <a:ext cx="365760" cy="182880"/>
          </a:xfrm>
          <a:prstGeom prst="rect">
            <a:avLst/>
          </a:prstGeom>
          <a:noFill/>
        </p:spPr>
        <p:txBody>
          <a:bodyPr wrap="square">
            <a:spAutoFit/>
          </a:bodyPr>
          <a:lstStyle/>
          <a:p>
            <a:r>
              <a:rPr sz="800" b="0">
                <a:solidFill>
                  <a:srgbClr val="FFFFFF"/>
                </a:solidFill>
              </a:rPr>
              <a:t>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4572000" cy="228600"/>
          </a:xfrm>
          <a:prstGeom prst="rect">
            <a:avLst/>
          </a:prstGeom>
          <a:noFill/>
        </p:spPr>
        <p:txBody>
          <a:bodyPr wrap="none">
            <a:spAutoFit/>
          </a:bodyPr>
          <a:lstStyle/>
          <a:p>
            <a:pPr>
              <a:defRPr sz="900" b="1">
                <a:solidFill>
                  <a:srgbClr val="FF6000"/>
                </a:solidFill>
              </a:defRPr>
            </a:pPr>
            <a:r>
              <a:t>SE 2226 TESTING PROJECT</a:t>
            </a:r>
          </a:p>
        </p:txBody>
      </p:sp>
      <p:sp>
        <p:nvSpPr>
          <p:cNvPr id="4" name="TextBox 3"/>
          <p:cNvSpPr txBox="1"/>
          <p:nvPr/>
        </p:nvSpPr>
        <p:spPr>
          <a:xfrm>
            <a:off x="640080" y="868680"/>
            <a:ext cx="8961120" cy="502920"/>
          </a:xfrm>
          <a:prstGeom prst="rect">
            <a:avLst/>
          </a:prstGeom>
          <a:noFill/>
        </p:spPr>
        <p:txBody>
          <a:bodyPr wrap="none">
            <a:spAutoFit/>
          </a:bodyPr>
          <a:lstStyle/>
          <a:p>
            <a:pPr>
              <a:defRPr sz="2700" b="1">
                <a:solidFill>
                  <a:srgbClr val="20242A"/>
                </a:solidFill>
              </a:defRPr>
            </a:pPr>
            <a:r>
              <a:t>Use Case Testing — Add Employee Workflow</a:t>
            </a:r>
          </a:p>
        </p:txBody>
      </p:sp>
      <p:sp>
        <p:nvSpPr>
          <p:cNvPr id="5" name="TextBox 4"/>
          <p:cNvSpPr txBox="1"/>
          <p:nvPr/>
        </p:nvSpPr>
        <p:spPr>
          <a:xfrm>
            <a:off x="502920" y="6519672"/>
            <a:ext cx="7132320" cy="164592"/>
          </a:xfrm>
          <a:prstGeom prst="rect">
            <a:avLst/>
          </a:prstGeom>
          <a:noFill/>
        </p:spPr>
        <p:txBody>
          <a:bodyPr wrap="none">
            <a:spAutoFit/>
          </a:bodyPr>
          <a:lstStyle/>
          <a:p>
            <a:pPr>
              <a:defRPr sz="750">
                <a:solidFill>
                  <a:srgbClr val="5F6770"/>
                </a:solidFill>
              </a:defRPr>
            </a:pPr>
            <a:r>
              <a:t>3.Functional Testing &amp; GUI Automation</a:t>
            </a:r>
          </a:p>
        </p:txBody>
      </p:sp>
      <p:sp>
        <p:nvSpPr>
          <p:cNvPr id="6" name="TextBox 5"/>
          <p:cNvSpPr txBox="1"/>
          <p:nvPr/>
        </p:nvSpPr>
        <p:spPr>
          <a:xfrm>
            <a:off x="11292840" y="6473952"/>
            <a:ext cx="320040" cy="182880"/>
          </a:xfrm>
          <a:prstGeom prst="rect">
            <a:avLst/>
          </a:prstGeom>
          <a:noFill/>
        </p:spPr>
        <p:txBody>
          <a:bodyPr wrap="none">
            <a:spAutoFit/>
          </a:bodyPr>
          <a:lstStyle/>
          <a:p>
            <a:r>
              <a:rPr sz="800" b="0">
                <a:solidFill>
                  <a:srgbClr val="FFFFFF"/>
                </a:solidFill>
              </a:rPr>
              <a:t>7</a:t>
            </a:r>
          </a:p>
        </p:txBody>
      </p:sp>
      <p:sp>
        <p:nvSpPr>
          <p:cNvPr id="7" name="Rectangle 6"/>
          <p:cNvSpPr/>
          <p:nvPr/>
        </p:nvSpPr>
        <p:spPr>
          <a:xfrm>
            <a:off x="640080" y="1417320"/>
            <a:ext cx="1143000" cy="54864"/>
          </a:xfrm>
          <a:prstGeom prst="rect">
            <a:avLst/>
          </a:prstGeom>
          <a:solidFill>
            <a:srgbClr val="FF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9" name="Table 8"/>
          <p:cNvGraphicFramePr>
            <a:graphicFrameLocks noGrp="1"/>
          </p:cNvGraphicFramePr>
          <p:nvPr/>
        </p:nvGraphicFramePr>
        <p:xfrm>
          <a:off x="411480" y="1920240"/>
          <a:ext cx="11384276" cy="3886200"/>
        </p:xfrm>
        <a:graphic>
          <a:graphicData uri="http://schemas.openxmlformats.org/drawingml/2006/table">
            <a:tbl>
              <a:tblPr firstRow="1" bandRow="1">
                <a:tableStyleId>{5C22544A-7EE6-4342-B048-85BDC9FD1C3A}</a:tableStyleId>
              </a:tblPr>
              <a:tblGrid>
                <a:gridCol w="626135">
                  <a:extLst>
                    <a:ext uri="{9D8B030D-6E8A-4147-A177-3AD203B41FA5}">
                      <a16:colId xmlns:a16="http://schemas.microsoft.com/office/drawing/2014/main" val="20000"/>
                    </a:ext>
                  </a:extLst>
                </a:gridCol>
                <a:gridCol w="2675305">
                  <a:extLst>
                    <a:ext uri="{9D8B030D-6E8A-4147-A177-3AD203B41FA5}">
                      <a16:colId xmlns:a16="http://schemas.microsoft.com/office/drawing/2014/main" val="20001"/>
                    </a:ext>
                  </a:extLst>
                </a:gridCol>
                <a:gridCol w="910742">
                  <a:extLst>
                    <a:ext uri="{9D8B030D-6E8A-4147-A177-3AD203B41FA5}">
                      <a16:colId xmlns:a16="http://schemas.microsoft.com/office/drawing/2014/main" val="20002"/>
                    </a:ext>
                  </a:extLst>
                </a:gridCol>
                <a:gridCol w="910742">
                  <a:extLst>
                    <a:ext uri="{9D8B030D-6E8A-4147-A177-3AD203B41FA5}">
                      <a16:colId xmlns:a16="http://schemas.microsoft.com/office/drawing/2014/main" val="20003"/>
                    </a:ext>
                  </a:extLst>
                </a:gridCol>
                <a:gridCol w="910742">
                  <a:extLst>
                    <a:ext uri="{9D8B030D-6E8A-4147-A177-3AD203B41FA5}">
                      <a16:colId xmlns:a16="http://schemas.microsoft.com/office/drawing/2014/main" val="20004"/>
                    </a:ext>
                  </a:extLst>
                </a:gridCol>
                <a:gridCol w="910742">
                  <a:extLst>
                    <a:ext uri="{9D8B030D-6E8A-4147-A177-3AD203B41FA5}">
                      <a16:colId xmlns:a16="http://schemas.microsoft.com/office/drawing/2014/main" val="20005"/>
                    </a:ext>
                  </a:extLst>
                </a:gridCol>
                <a:gridCol w="910742">
                  <a:extLst>
                    <a:ext uri="{9D8B030D-6E8A-4147-A177-3AD203B41FA5}">
                      <a16:colId xmlns:a16="http://schemas.microsoft.com/office/drawing/2014/main" val="20006"/>
                    </a:ext>
                  </a:extLst>
                </a:gridCol>
                <a:gridCol w="910742">
                  <a:extLst>
                    <a:ext uri="{9D8B030D-6E8A-4147-A177-3AD203B41FA5}">
                      <a16:colId xmlns:a16="http://schemas.microsoft.com/office/drawing/2014/main" val="20007"/>
                    </a:ext>
                  </a:extLst>
                </a:gridCol>
                <a:gridCol w="2618384">
                  <a:extLst>
                    <a:ext uri="{9D8B030D-6E8A-4147-A177-3AD203B41FA5}">
                      <a16:colId xmlns:a16="http://schemas.microsoft.com/office/drawing/2014/main" val="20008"/>
                    </a:ext>
                  </a:extLst>
                </a:gridCol>
              </a:tblGrid>
              <a:tr h="388620">
                <a:tc>
                  <a:txBody>
                    <a:bodyPr/>
                    <a:lstStyle/>
                    <a:p>
                      <a:pPr algn="ctr"/>
                      <a:r>
                        <a:rPr sz="740" b="1">
                          <a:solidFill>
                            <a:srgbClr val="FFFFFF"/>
                          </a:solidFill>
                          <a:latin typeface="Aptos"/>
                        </a:rPr>
                        <a:t>TC</a:t>
                      </a:r>
                    </a:p>
                  </a:txBody>
                  <a:tcPr>
                    <a:solidFill>
                      <a:srgbClr val="1C707C"/>
                    </a:solidFill>
                  </a:tcPr>
                </a:tc>
                <a:tc>
                  <a:txBody>
                    <a:bodyPr/>
                    <a:lstStyle/>
                    <a:p>
                      <a:pPr algn="l"/>
                      <a:r>
                        <a:rPr sz="740" b="1">
                          <a:solidFill>
                            <a:srgbClr val="FFFFFF"/>
                          </a:solidFill>
                          <a:latin typeface="Aptos"/>
                        </a:rPr>
                        <a:t>Scenario</a:t>
                      </a:r>
                    </a:p>
                  </a:txBody>
                  <a:tcPr>
                    <a:solidFill>
                      <a:srgbClr val="1C707C"/>
                    </a:solidFill>
                  </a:tcPr>
                </a:tc>
                <a:tc>
                  <a:txBody>
                    <a:bodyPr/>
                    <a:lstStyle/>
                    <a:p>
                      <a:pPr algn="ctr"/>
                      <a:r>
                        <a:rPr sz="740" b="1">
                          <a:solidFill>
                            <a:srgbClr val="FFFFFF"/>
                          </a:solidFill>
                          <a:latin typeface="Aptos"/>
                        </a:rPr>
                        <a:t>First</a:t>
                      </a:r>
                    </a:p>
                  </a:txBody>
                  <a:tcPr>
                    <a:solidFill>
                      <a:srgbClr val="1C707C"/>
                    </a:solidFill>
                  </a:tcPr>
                </a:tc>
                <a:tc>
                  <a:txBody>
                    <a:bodyPr/>
                    <a:lstStyle/>
                    <a:p>
                      <a:pPr algn="ctr"/>
                      <a:r>
                        <a:rPr sz="740" b="1">
                          <a:solidFill>
                            <a:srgbClr val="FFFFFF"/>
                          </a:solidFill>
                          <a:latin typeface="Aptos"/>
                        </a:rPr>
                        <a:t>Last</a:t>
                      </a:r>
                    </a:p>
                  </a:txBody>
                  <a:tcPr>
                    <a:solidFill>
                      <a:srgbClr val="1C707C"/>
                    </a:solidFill>
                  </a:tcPr>
                </a:tc>
                <a:tc>
                  <a:txBody>
                    <a:bodyPr/>
                    <a:lstStyle/>
                    <a:p>
                      <a:pPr algn="ctr"/>
                      <a:r>
                        <a:rPr sz="740" b="1">
                          <a:solidFill>
                            <a:srgbClr val="FFFFFF"/>
                          </a:solidFill>
                          <a:latin typeface="Aptos"/>
                        </a:rPr>
                        <a:t>Emp. ID</a:t>
                      </a:r>
                    </a:p>
                  </a:txBody>
                  <a:tcPr>
                    <a:solidFill>
                      <a:srgbClr val="1C707C"/>
                    </a:solidFill>
                  </a:tcPr>
                </a:tc>
                <a:tc>
                  <a:txBody>
                    <a:bodyPr/>
                    <a:lstStyle/>
                    <a:p>
                      <a:pPr algn="ctr"/>
                      <a:r>
                        <a:rPr sz="740" b="1">
                          <a:solidFill>
                            <a:srgbClr val="FFFFFF"/>
                          </a:solidFill>
                          <a:latin typeface="Aptos"/>
                        </a:rPr>
                        <a:t>Login</a:t>
                      </a:r>
                    </a:p>
                  </a:txBody>
                  <a:tcPr>
                    <a:solidFill>
                      <a:srgbClr val="1C707C"/>
                    </a:solidFill>
                  </a:tcPr>
                </a:tc>
                <a:tc>
                  <a:txBody>
                    <a:bodyPr/>
                    <a:lstStyle/>
                    <a:p>
                      <a:pPr algn="ctr"/>
                      <a:r>
                        <a:rPr sz="740" b="1">
                          <a:solidFill>
                            <a:srgbClr val="FFFFFF"/>
                          </a:solidFill>
                          <a:latin typeface="Aptos"/>
                        </a:rPr>
                        <a:t>Photo</a:t>
                      </a:r>
                    </a:p>
                  </a:txBody>
                  <a:tcPr>
                    <a:solidFill>
                      <a:srgbClr val="1C707C"/>
                    </a:solidFill>
                  </a:tcPr>
                </a:tc>
                <a:tc>
                  <a:txBody>
                    <a:bodyPr/>
                    <a:lstStyle/>
                    <a:p>
                      <a:pPr algn="ctr"/>
                      <a:r>
                        <a:rPr sz="740" b="1">
                          <a:solidFill>
                            <a:srgbClr val="FFFFFF"/>
                          </a:solidFill>
                          <a:latin typeface="Aptos"/>
                        </a:rPr>
                        <a:t>Access</a:t>
                      </a:r>
                    </a:p>
                  </a:txBody>
                  <a:tcPr>
                    <a:solidFill>
                      <a:srgbClr val="1C707C"/>
                    </a:solidFill>
                  </a:tcPr>
                </a:tc>
                <a:tc>
                  <a:txBody>
                    <a:bodyPr/>
                    <a:lstStyle/>
                    <a:p>
                      <a:pPr algn="l"/>
                      <a:r>
                        <a:rPr sz="740" b="1">
                          <a:solidFill>
                            <a:srgbClr val="FFFFFF"/>
                          </a:solidFill>
                          <a:latin typeface="Aptos"/>
                        </a:rPr>
                        <a:t>Expected Result</a:t>
                      </a:r>
                    </a:p>
                  </a:txBody>
                  <a:tcPr>
                    <a:solidFill>
                      <a:srgbClr val="1C707C"/>
                    </a:solidFill>
                  </a:tcPr>
                </a:tc>
                <a:extLst>
                  <a:ext uri="{0D108BD9-81ED-4DB2-BD59-A6C34878D82A}">
                    <a16:rowId xmlns:a16="http://schemas.microsoft.com/office/drawing/2014/main" val="10000"/>
                  </a:ext>
                </a:extLst>
              </a:tr>
              <a:tr h="388620">
                <a:tc>
                  <a:txBody>
                    <a:bodyPr/>
                    <a:lstStyle/>
                    <a:p>
                      <a:pPr algn="ctr"/>
                      <a:r>
                        <a:rPr sz="740" b="1">
                          <a:solidFill>
                            <a:srgbClr val="20242A"/>
                          </a:solidFill>
                          <a:latin typeface="Aptos"/>
                        </a:rPr>
                        <a:t>TC1</a:t>
                      </a:r>
                    </a:p>
                  </a:txBody>
                  <a:tcPr>
                    <a:solidFill>
                      <a:srgbClr val="DDF1F4"/>
                    </a:solidFill>
                  </a:tcPr>
                </a:tc>
                <a:tc>
                  <a:txBody>
                    <a:bodyPr/>
                    <a:lstStyle/>
                    <a:p>
                      <a:pPr algn="l"/>
                      <a:r>
                        <a:rPr sz="740" b="0">
                          <a:solidFill>
                            <a:srgbClr val="20242A"/>
                          </a:solidFill>
                          <a:latin typeface="Aptos"/>
                        </a:rPr>
                        <a:t>Successful employee addition</a:t>
                      </a:r>
                    </a:p>
                  </a:txBody>
                  <a:tcPr>
                    <a:solidFill>
                      <a:srgbClr val="FFFFFF"/>
                    </a:solidFill>
                  </a:tcPr>
                </a:tc>
                <a:tc>
                  <a:txBody>
                    <a:bodyPr/>
                    <a:lstStyle/>
                    <a:p>
                      <a:pPr algn="ctr"/>
                      <a:r>
                        <a:rPr sz="740" b="0">
                          <a:solidFill>
                            <a:srgbClr val="20242A"/>
                          </a:solidFill>
                          <a:latin typeface="Aptos"/>
                        </a:rPr>
                        <a:t>Valid</a:t>
                      </a:r>
                    </a:p>
                  </a:txBody>
                  <a:tcPr>
                    <a:solidFill>
                      <a:srgbClr val="FFFFFF"/>
                    </a:solidFill>
                  </a:tcPr>
                </a:tc>
                <a:tc>
                  <a:txBody>
                    <a:bodyPr/>
                    <a:lstStyle/>
                    <a:p>
                      <a:pPr algn="ctr"/>
                      <a:r>
                        <a:rPr sz="740" b="0">
                          <a:solidFill>
                            <a:srgbClr val="20242A"/>
                          </a:solidFill>
                          <a:latin typeface="Aptos"/>
                        </a:rPr>
                        <a:t>Valid</a:t>
                      </a:r>
                    </a:p>
                  </a:txBody>
                  <a:tcPr>
                    <a:solidFill>
                      <a:srgbClr val="FFFFFF"/>
                    </a:solidFill>
                  </a:tcPr>
                </a:tc>
                <a:tc>
                  <a:txBody>
                    <a:bodyPr/>
                    <a:lstStyle/>
                    <a:p>
                      <a:pPr algn="ctr"/>
                      <a:r>
                        <a:rPr sz="740" b="0">
                          <a:solidFill>
                            <a:srgbClr val="20242A"/>
                          </a:solidFill>
                          <a:latin typeface="Aptos"/>
                        </a:rPr>
                        <a:t>Valid</a:t>
                      </a:r>
                    </a:p>
                  </a:txBody>
                  <a:tcPr>
                    <a:solidFill>
                      <a:srgbClr val="FFFFFF"/>
                    </a:solidFill>
                  </a:tcPr>
                </a:tc>
                <a:tc>
                  <a:txBody>
                    <a:bodyPr/>
                    <a:lstStyle/>
                    <a:p>
                      <a:pPr algn="ctr"/>
                      <a:r>
                        <a:rPr sz="740" b="0">
                          <a:solidFill>
                            <a:srgbClr val="20242A"/>
                          </a:solidFill>
                          <a:latin typeface="Aptos"/>
                        </a:rPr>
                        <a:t>N/A</a:t>
                      </a:r>
                    </a:p>
                  </a:txBody>
                  <a:tcPr>
                    <a:solidFill>
                      <a:srgbClr val="FFFFFF"/>
                    </a:solidFill>
                  </a:tcPr>
                </a:tc>
                <a:tc>
                  <a:txBody>
                    <a:bodyPr/>
                    <a:lstStyle/>
                    <a:p>
                      <a:pPr algn="ctr"/>
                      <a:r>
                        <a:rPr sz="740" b="0">
                          <a:solidFill>
                            <a:srgbClr val="20242A"/>
                          </a:solidFill>
                          <a:latin typeface="Aptos"/>
                        </a:rPr>
                        <a:t>N/A</a:t>
                      </a:r>
                    </a:p>
                  </a:txBody>
                  <a:tcPr>
                    <a:solidFill>
                      <a:srgbClr val="FFFFFF"/>
                    </a:solidFill>
                  </a:tcPr>
                </a:tc>
                <a:tc>
                  <a:txBody>
                    <a:bodyPr/>
                    <a:lstStyle/>
                    <a:p>
                      <a:pPr algn="ctr"/>
                      <a:r>
                        <a:rPr sz="740" b="0">
                          <a:solidFill>
                            <a:srgbClr val="20242A"/>
                          </a:solidFill>
                          <a:latin typeface="Aptos"/>
                        </a:rPr>
                        <a:t>Valid</a:t>
                      </a:r>
                    </a:p>
                  </a:txBody>
                  <a:tcPr>
                    <a:solidFill>
                      <a:srgbClr val="FFFFFF"/>
                    </a:solidFill>
                  </a:tcPr>
                </a:tc>
                <a:tc>
                  <a:txBody>
                    <a:bodyPr/>
                    <a:lstStyle/>
                    <a:p>
                      <a:pPr algn="l"/>
                      <a:r>
                        <a:rPr sz="740" b="0">
                          <a:solidFill>
                            <a:srgbClr val="20242A"/>
                          </a:solidFill>
                          <a:latin typeface="Aptos"/>
                        </a:rPr>
                        <a:t>Employee added successfully</a:t>
                      </a:r>
                    </a:p>
                  </a:txBody>
                  <a:tcPr>
                    <a:solidFill>
                      <a:srgbClr val="FFFFFF"/>
                    </a:solidFill>
                  </a:tcPr>
                </a:tc>
                <a:extLst>
                  <a:ext uri="{0D108BD9-81ED-4DB2-BD59-A6C34878D82A}">
                    <a16:rowId xmlns:a16="http://schemas.microsoft.com/office/drawing/2014/main" val="10001"/>
                  </a:ext>
                </a:extLst>
              </a:tr>
              <a:tr h="388620">
                <a:tc>
                  <a:txBody>
                    <a:bodyPr/>
                    <a:lstStyle/>
                    <a:p>
                      <a:pPr algn="ctr"/>
                      <a:r>
                        <a:rPr sz="740" b="1">
                          <a:solidFill>
                            <a:srgbClr val="20242A"/>
                          </a:solidFill>
                          <a:latin typeface="Aptos"/>
                        </a:rPr>
                        <a:t>TC2</a:t>
                      </a:r>
                    </a:p>
                  </a:txBody>
                  <a:tcPr>
                    <a:solidFill>
                      <a:srgbClr val="DDF1F4"/>
                    </a:solidFill>
                  </a:tcPr>
                </a:tc>
                <a:tc>
                  <a:txBody>
                    <a:bodyPr/>
                    <a:lstStyle/>
                    <a:p>
                      <a:pPr algn="l"/>
                      <a:r>
                        <a:rPr sz="740" b="0">
                          <a:solidFill>
                            <a:srgbClr val="20242A"/>
                          </a:solidFill>
                          <a:latin typeface="Aptos"/>
                        </a:rPr>
                        <a:t>No middle name</a:t>
                      </a:r>
                    </a:p>
                  </a:txBody>
                  <a:tcPr>
                    <a:solidFill>
                      <a:srgbClr val="F4F7F8"/>
                    </a:solidFill>
                  </a:tcPr>
                </a:tc>
                <a:tc>
                  <a:txBody>
                    <a:bodyPr/>
                    <a:lstStyle/>
                    <a:p>
                      <a:pPr algn="ctr"/>
                      <a:r>
                        <a:rPr sz="740" b="0">
                          <a:solidFill>
                            <a:srgbClr val="20242A"/>
                          </a:solidFill>
                          <a:latin typeface="Aptos"/>
                        </a:rPr>
                        <a:t>Valid</a:t>
                      </a:r>
                    </a:p>
                  </a:txBody>
                  <a:tcPr>
                    <a:solidFill>
                      <a:srgbClr val="F4F7F8"/>
                    </a:solidFill>
                  </a:tcPr>
                </a:tc>
                <a:tc>
                  <a:txBody>
                    <a:bodyPr/>
                    <a:lstStyle/>
                    <a:p>
                      <a:pPr algn="ctr"/>
                      <a:r>
                        <a:rPr sz="740" b="0">
                          <a:solidFill>
                            <a:srgbClr val="20242A"/>
                          </a:solidFill>
                          <a:latin typeface="Aptos"/>
                        </a:rPr>
                        <a:t>Valid</a:t>
                      </a:r>
                    </a:p>
                  </a:txBody>
                  <a:tcPr>
                    <a:solidFill>
                      <a:srgbClr val="F4F7F8"/>
                    </a:solidFill>
                  </a:tcPr>
                </a:tc>
                <a:tc>
                  <a:txBody>
                    <a:bodyPr/>
                    <a:lstStyle/>
                    <a:p>
                      <a:pPr algn="ctr"/>
                      <a:r>
                        <a:rPr sz="740" b="0">
                          <a:solidFill>
                            <a:srgbClr val="20242A"/>
                          </a:solidFill>
                          <a:latin typeface="Aptos"/>
                        </a:rPr>
                        <a:t>Valid</a:t>
                      </a:r>
                    </a:p>
                  </a:txBody>
                  <a:tcPr>
                    <a:solidFill>
                      <a:srgbClr val="F4F7F8"/>
                    </a:solidFill>
                  </a:tcPr>
                </a:tc>
                <a:tc>
                  <a:txBody>
                    <a:bodyPr/>
                    <a:lstStyle/>
                    <a:p>
                      <a:pPr algn="ctr"/>
                      <a:r>
                        <a:rPr sz="740" b="0">
                          <a:solidFill>
                            <a:srgbClr val="20242A"/>
                          </a:solidFill>
                          <a:latin typeface="Aptos"/>
                        </a:rPr>
                        <a:t>N/A</a:t>
                      </a:r>
                    </a:p>
                  </a:txBody>
                  <a:tcPr>
                    <a:solidFill>
                      <a:srgbClr val="F4F7F8"/>
                    </a:solidFill>
                  </a:tcPr>
                </a:tc>
                <a:tc>
                  <a:txBody>
                    <a:bodyPr/>
                    <a:lstStyle/>
                    <a:p>
                      <a:pPr algn="ctr"/>
                      <a:r>
                        <a:rPr sz="740" b="0">
                          <a:solidFill>
                            <a:srgbClr val="20242A"/>
                          </a:solidFill>
                          <a:latin typeface="Aptos"/>
                        </a:rPr>
                        <a:t>N/A</a:t>
                      </a:r>
                    </a:p>
                  </a:txBody>
                  <a:tcPr>
                    <a:solidFill>
                      <a:srgbClr val="F4F7F8"/>
                    </a:solidFill>
                  </a:tcPr>
                </a:tc>
                <a:tc>
                  <a:txBody>
                    <a:bodyPr/>
                    <a:lstStyle/>
                    <a:p>
                      <a:pPr algn="ctr"/>
                      <a:r>
                        <a:rPr sz="740" b="0">
                          <a:solidFill>
                            <a:srgbClr val="20242A"/>
                          </a:solidFill>
                          <a:latin typeface="Aptos"/>
                        </a:rPr>
                        <a:t>Valid</a:t>
                      </a:r>
                    </a:p>
                  </a:txBody>
                  <a:tcPr>
                    <a:solidFill>
                      <a:srgbClr val="F4F7F8"/>
                    </a:solidFill>
                  </a:tcPr>
                </a:tc>
                <a:tc>
                  <a:txBody>
                    <a:bodyPr/>
                    <a:lstStyle/>
                    <a:p>
                      <a:pPr algn="l"/>
                      <a:r>
                        <a:rPr sz="740" b="0">
                          <a:solidFill>
                            <a:srgbClr val="20242A"/>
                          </a:solidFill>
                          <a:latin typeface="Aptos"/>
                        </a:rPr>
                        <a:t>Employee added successfully</a:t>
                      </a:r>
                    </a:p>
                  </a:txBody>
                  <a:tcPr>
                    <a:solidFill>
                      <a:srgbClr val="F4F7F8"/>
                    </a:solidFill>
                  </a:tcPr>
                </a:tc>
                <a:extLst>
                  <a:ext uri="{0D108BD9-81ED-4DB2-BD59-A6C34878D82A}">
                    <a16:rowId xmlns:a16="http://schemas.microsoft.com/office/drawing/2014/main" val="10002"/>
                  </a:ext>
                </a:extLst>
              </a:tr>
              <a:tr h="388620">
                <a:tc>
                  <a:txBody>
                    <a:bodyPr/>
                    <a:lstStyle/>
                    <a:p>
                      <a:pPr algn="ctr"/>
                      <a:r>
                        <a:rPr sz="740" b="1">
                          <a:solidFill>
                            <a:srgbClr val="20242A"/>
                          </a:solidFill>
                          <a:latin typeface="Aptos"/>
                        </a:rPr>
                        <a:t>TC3</a:t>
                      </a:r>
                    </a:p>
                  </a:txBody>
                  <a:tcPr>
                    <a:solidFill>
                      <a:srgbClr val="DDF1F4"/>
                    </a:solidFill>
                  </a:tcPr>
                </a:tc>
                <a:tc>
                  <a:txBody>
                    <a:bodyPr/>
                    <a:lstStyle/>
                    <a:p>
                      <a:pPr algn="l"/>
                      <a:r>
                        <a:rPr sz="740" b="0">
                          <a:solidFill>
                            <a:srgbClr val="20242A"/>
                          </a:solidFill>
                          <a:latin typeface="Aptos"/>
                        </a:rPr>
                        <a:t>Add photo</a:t>
                      </a:r>
                    </a:p>
                  </a:txBody>
                  <a:tcPr>
                    <a:solidFill>
                      <a:srgbClr val="FFFFFF"/>
                    </a:solidFill>
                  </a:tcPr>
                </a:tc>
                <a:tc>
                  <a:txBody>
                    <a:bodyPr/>
                    <a:lstStyle/>
                    <a:p>
                      <a:pPr algn="ctr"/>
                      <a:r>
                        <a:rPr sz="740" b="0">
                          <a:solidFill>
                            <a:srgbClr val="20242A"/>
                          </a:solidFill>
                          <a:latin typeface="Aptos"/>
                        </a:rPr>
                        <a:t>Valid</a:t>
                      </a:r>
                    </a:p>
                  </a:txBody>
                  <a:tcPr>
                    <a:solidFill>
                      <a:srgbClr val="FFFFFF"/>
                    </a:solidFill>
                  </a:tcPr>
                </a:tc>
                <a:tc>
                  <a:txBody>
                    <a:bodyPr/>
                    <a:lstStyle/>
                    <a:p>
                      <a:pPr algn="ctr"/>
                      <a:r>
                        <a:rPr sz="740" b="0">
                          <a:solidFill>
                            <a:srgbClr val="20242A"/>
                          </a:solidFill>
                          <a:latin typeface="Aptos"/>
                        </a:rPr>
                        <a:t>Valid</a:t>
                      </a:r>
                    </a:p>
                  </a:txBody>
                  <a:tcPr>
                    <a:solidFill>
                      <a:srgbClr val="FFFFFF"/>
                    </a:solidFill>
                  </a:tcPr>
                </a:tc>
                <a:tc>
                  <a:txBody>
                    <a:bodyPr/>
                    <a:lstStyle/>
                    <a:p>
                      <a:pPr algn="ctr"/>
                      <a:r>
                        <a:rPr sz="740" b="0">
                          <a:solidFill>
                            <a:srgbClr val="20242A"/>
                          </a:solidFill>
                          <a:latin typeface="Aptos"/>
                        </a:rPr>
                        <a:t>Valid</a:t>
                      </a:r>
                    </a:p>
                  </a:txBody>
                  <a:tcPr>
                    <a:solidFill>
                      <a:srgbClr val="FFFFFF"/>
                    </a:solidFill>
                  </a:tcPr>
                </a:tc>
                <a:tc>
                  <a:txBody>
                    <a:bodyPr/>
                    <a:lstStyle/>
                    <a:p>
                      <a:pPr algn="ctr"/>
                      <a:r>
                        <a:rPr sz="740" b="0">
                          <a:solidFill>
                            <a:srgbClr val="20242A"/>
                          </a:solidFill>
                          <a:latin typeface="Aptos"/>
                        </a:rPr>
                        <a:t>N/A</a:t>
                      </a:r>
                    </a:p>
                  </a:txBody>
                  <a:tcPr>
                    <a:solidFill>
                      <a:srgbClr val="FFFFFF"/>
                    </a:solidFill>
                  </a:tcPr>
                </a:tc>
                <a:tc>
                  <a:txBody>
                    <a:bodyPr/>
                    <a:lstStyle/>
                    <a:p>
                      <a:pPr algn="ctr"/>
                      <a:r>
                        <a:rPr sz="740" b="0">
                          <a:solidFill>
                            <a:srgbClr val="20242A"/>
                          </a:solidFill>
                          <a:latin typeface="Aptos"/>
                        </a:rPr>
                        <a:t>Valid</a:t>
                      </a:r>
                    </a:p>
                  </a:txBody>
                  <a:tcPr>
                    <a:solidFill>
                      <a:srgbClr val="FFFFFF"/>
                    </a:solidFill>
                  </a:tcPr>
                </a:tc>
                <a:tc>
                  <a:txBody>
                    <a:bodyPr/>
                    <a:lstStyle/>
                    <a:p>
                      <a:pPr algn="ctr"/>
                      <a:r>
                        <a:rPr sz="740" b="0">
                          <a:solidFill>
                            <a:srgbClr val="20242A"/>
                          </a:solidFill>
                          <a:latin typeface="Aptos"/>
                        </a:rPr>
                        <a:t>Valid</a:t>
                      </a:r>
                    </a:p>
                  </a:txBody>
                  <a:tcPr>
                    <a:solidFill>
                      <a:srgbClr val="FFFFFF"/>
                    </a:solidFill>
                  </a:tcPr>
                </a:tc>
                <a:tc>
                  <a:txBody>
                    <a:bodyPr/>
                    <a:lstStyle/>
                    <a:p>
                      <a:pPr algn="l"/>
                      <a:r>
                        <a:rPr sz="740" b="0">
                          <a:solidFill>
                            <a:srgbClr val="20242A"/>
                          </a:solidFill>
                          <a:latin typeface="Aptos"/>
                        </a:rPr>
                        <a:t>Employee added with photo</a:t>
                      </a:r>
                    </a:p>
                  </a:txBody>
                  <a:tcPr>
                    <a:solidFill>
                      <a:srgbClr val="FFFFFF"/>
                    </a:solidFill>
                  </a:tcPr>
                </a:tc>
                <a:extLst>
                  <a:ext uri="{0D108BD9-81ED-4DB2-BD59-A6C34878D82A}">
                    <a16:rowId xmlns:a16="http://schemas.microsoft.com/office/drawing/2014/main" val="10003"/>
                  </a:ext>
                </a:extLst>
              </a:tr>
              <a:tr h="388620">
                <a:tc>
                  <a:txBody>
                    <a:bodyPr/>
                    <a:lstStyle/>
                    <a:p>
                      <a:pPr algn="ctr"/>
                      <a:r>
                        <a:rPr sz="740" b="1">
                          <a:solidFill>
                            <a:srgbClr val="20242A"/>
                          </a:solidFill>
                          <a:latin typeface="Aptos"/>
                        </a:rPr>
                        <a:t>TC4</a:t>
                      </a:r>
                    </a:p>
                  </a:txBody>
                  <a:tcPr>
                    <a:solidFill>
                      <a:srgbClr val="DDF1F4"/>
                    </a:solidFill>
                  </a:tcPr>
                </a:tc>
                <a:tc>
                  <a:txBody>
                    <a:bodyPr/>
                    <a:lstStyle/>
                    <a:p>
                      <a:pPr algn="l"/>
                      <a:r>
                        <a:rPr sz="740" b="0">
                          <a:solidFill>
                            <a:srgbClr val="20242A"/>
                          </a:solidFill>
                          <a:latin typeface="Aptos"/>
                        </a:rPr>
                        <a:t>Add login details</a:t>
                      </a:r>
                    </a:p>
                  </a:txBody>
                  <a:tcPr>
                    <a:solidFill>
                      <a:srgbClr val="F4F7F8"/>
                    </a:solidFill>
                  </a:tcPr>
                </a:tc>
                <a:tc>
                  <a:txBody>
                    <a:bodyPr/>
                    <a:lstStyle/>
                    <a:p>
                      <a:pPr algn="ctr"/>
                      <a:r>
                        <a:rPr sz="740" b="0">
                          <a:solidFill>
                            <a:srgbClr val="20242A"/>
                          </a:solidFill>
                          <a:latin typeface="Aptos"/>
                        </a:rPr>
                        <a:t>Valid</a:t>
                      </a:r>
                    </a:p>
                  </a:txBody>
                  <a:tcPr>
                    <a:solidFill>
                      <a:srgbClr val="F4F7F8"/>
                    </a:solidFill>
                  </a:tcPr>
                </a:tc>
                <a:tc>
                  <a:txBody>
                    <a:bodyPr/>
                    <a:lstStyle/>
                    <a:p>
                      <a:pPr algn="ctr"/>
                      <a:r>
                        <a:rPr sz="740" b="0">
                          <a:solidFill>
                            <a:srgbClr val="20242A"/>
                          </a:solidFill>
                          <a:latin typeface="Aptos"/>
                        </a:rPr>
                        <a:t>Valid</a:t>
                      </a:r>
                    </a:p>
                  </a:txBody>
                  <a:tcPr>
                    <a:solidFill>
                      <a:srgbClr val="F4F7F8"/>
                    </a:solidFill>
                  </a:tcPr>
                </a:tc>
                <a:tc>
                  <a:txBody>
                    <a:bodyPr/>
                    <a:lstStyle/>
                    <a:p>
                      <a:pPr algn="ctr"/>
                      <a:r>
                        <a:rPr sz="740" b="0">
                          <a:solidFill>
                            <a:srgbClr val="20242A"/>
                          </a:solidFill>
                          <a:latin typeface="Aptos"/>
                        </a:rPr>
                        <a:t>Valid</a:t>
                      </a:r>
                    </a:p>
                  </a:txBody>
                  <a:tcPr>
                    <a:solidFill>
                      <a:srgbClr val="F4F7F8"/>
                    </a:solidFill>
                  </a:tcPr>
                </a:tc>
                <a:tc>
                  <a:txBody>
                    <a:bodyPr/>
                    <a:lstStyle/>
                    <a:p>
                      <a:pPr algn="ctr"/>
                      <a:r>
                        <a:rPr sz="740" b="0">
                          <a:solidFill>
                            <a:srgbClr val="20242A"/>
                          </a:solidFill>
                          <a:latin typeface="Aptos"/>
                        </a:rPr>
                        <a:t>Valid</a:t>
                      </a:r>
                    </a:p>
                  </a:txBody>
                  <a:tcPr>
                    <a:solidFill>
                      <a:srgbClr val="F4F7F8"/>
                    </a:solidFill>
                  </a:tcPr>
                </a:tc>
                <a:tc>
                  <a:txBody>
                    <a:bodyPr/>
                    <a:lstStyle/>
                    <a:p>
                      <a:pPr algn="ctr"/>
                      <a:r>
                        <a:rPr sz="740" b="0">
                          <a:solidFill>
                            <a:srgbClr val="20242A"/>
                          </a:solidFill>
                          <a:latin typeface="Aptos"/>
                        </a:rPr>
                        <a:t>N/A</a:t>
                      </a:r>
                    </a:p>
                  </a:txBody>
                  <a:tcPr>
                    <a:solidFill>
                      <a:srgbClr val="F4F7F8"/>
                    </a:solidFill>
                  </a:tcPr>
                </a:tc>
                <a:tc>
                  <a:txBody>
                    <a:bodyPr/>
                    <a:lstStyle/>
                    <a:p>
                      <a:pPr algn="ctr"/>
                      <a:r>
                        <a:rPr sz="740" b="0">
                          <a:solidFill>
                            <a:srgbClr val="20242A"/>
                          </a:solidFill>
                          <a:latin typeface="Aptos"/>
                        </a:rPr>
                        <a:t>Valid</a:t>
                      </a:r>
                    </a:p>
                  </a:txBody>
                  <a:tcPr>
                    <a:solidFill>
                      <a:srgbClr val="F4F7F8"/>
                    </a:solidFill>
                  </a:tcPr>
                </a:tc>
                <a:tc>
                  <a:txBody>
                    <a:bodyPr/>
                    <a:lstStyle/>
                    <a:p>
                      <a:pPr algn="l"/>
                      <a:r>
                        <a:rPr sz="740" b="0">
                          <a:solidFill>
                            <a:srgbClr val="20242A"/>
                          </a:solidFill>
                          <a:latin typeface="Aptos"/>
                        </a:rPr>
                        <a:t>Employee and login created</a:t>
                      </a:r>
                    </a:p>
                  </a:txBody>
                  <a:tcPr>
                    <a:solidFill>
                      <a:srgbClr val="F4F7F8"/>
                    </a:solidFill>
                  </a:tcPr>
                </a:tc>
                <a:extLst>
                  <a:ext uri="{0D108BD9-81ED-4DB2-BD59-A6C34878D82A}">
                    <a16:rowId xmlns:a16="http://schemas.microsoft.com/office/drawing/2014/main" val="10004"/>
                  </a:ext>
                </a:extLst>
              </a:tr>
              <a:tr h="388620">
                <a:tc>
                  <a:txBody>
                    <a:bodyPr/>
                    <a:lstStyle/>
                    <a:p>
                      <a:pPr algn="ctr"/>
                      <a:r>
                        <a:rPr sz="740" b="1">
                          <a:solidFill>
                            <a:srgbClr val="20242A"/>
                          </a:solidFill>
                          <a:latin typeface="Aptos"/>
                        </a:rPr>
                        <a:t>TC5</a:t>
                      </a:r>
                    </a:p>
                  </a:txBody>
                  <a:tcPr>
                    <a:solidFill>
                      <a:srgbClr val="DDF1F4"/>
                    </a:solidFill>
                  </a:tcPr>
                </a:tc>
                <a:tc>
                  <a:txBody>
                    <a:bodyPr/>
                    <a:lstStyle/>
                    <a:p>
                      <a:pPr algn="l"/>
                      <a:r>
                        <a:rPr sz="740" b="0">
                          <a:solidFill>
                            <a:srgbClr val="20242A"/>
                          </a:solidFill>
                          <a:latin typeface="Aptos"/>
                        </a:rPr>
                        <a:t>First name empty</a:t>
                      </a:r>
                    </a:p>
                  </a:txBody>
                  <a:tcPr>
                    <a:solidFill>
                      <a:srgbClr val="FFFFFF"/>
                    </a:solidFill>
                  </a:tcPr>
                </a:tc>
                <a:tc>
                  <a:txBody>
                    <a:bodyPr/>
                    <a:lstStyle/>
                    <a:p>
                      <a:pPr algn="ctr"/>
                      <a:r>
                        <a:rPr sz="740" b="0">
                          <a:solidFill>
                            <a:srgbClr val="20242A"/>
                          </a:solidFill>
                          <a:latin typeface="Aptos"/>
                        </a:rPr>
                        <a:t>Invalid</a:t>
                      </a:r>
                    </a:p>
                  </a:txBody>
                  <a:tcPr>
                    <a:solidFill>
                      <a:srgbClr val="FFFFFF"/>
                    </a:solidFill>
                  </a:tcPr>
                </a:tc>
                <a:tc>
                  <a:txBody>
                    <a:bodyPr/>
                    <a:lstStyle/>
                    <a:p>
                      <a:pPr algn="ctr"/>
                      <a:r>
                        <a:rPr sz="740" b="0">
                          <a:solidFill>
                            <a:srgbClr val="20242A"/>
                          </a:solidFill>
                          <a:latin typeface="Aptos"/>
                        </a:rPr>
                        <a:t>Valid</a:t>
                      </a:r>
                    </a:p>
                  </a:txBody>
                  <a:tcPr>
                    <a:solidFill>
                      <a:srgbClr val="FFFFFF"/>
                    </a:solidFill>
                  </a:tcPr>
                </a:tc>
                <a:tc>
                  <a:txBody>
                    <a:bodyPr/>
                    <a:lstStyle/>
                    <a:p>
                      <a:pPr algn="ctr"/>
                      <a:r>
                        <a:rPr sz="740" b="0">
                          <a:solidFill>
                            <a:srgbClr val="20242A"/>
                          </a:solidFill>
                          <a:latin typeface="Aptos"/>
                        </a:rPr>
                        <a:t>Valid</a:t>
                      </a:r>
                    </a:p>
                  </a:txBody>
                  <a:tcPr>
                    <a:solidFill>
                      <a:srgbClr val="FFFFFF"/>
                    </a:solidFill>
                  </a:tcPr>
                </a:tc>
                <a:tc>
                  <a:txBody>
                    <a:bodyPr/>
                    <a:lstStyle/>
                    <a:p>
                      <a:pPr algn="ctr"/>
                      <a:r>
                        <a:rPr sz="740" b="0">
                          <a:solidFill>
                            <a:srgbClr val="20242A"/>
                          </a:solidFill>
                          <a:latin typeface="Aptos"/>
                        </a:rPr>
                        <a:t>N/A</a:t>
                      </a:r>
                    </a:p>
                  </a:txBody>
                  <a:tcPr>
                    <a:solidFill>
                      <a:srgbClr val="FFFFFF"/>
                    </a:solidFill>
                  </a:tcPr>
                </a:tc>
                <a:tc>
                  <a:txBody>
                    <a:bodyPr/>
                    <a:lstStyle/>
                    <a:p>
                      <a:pPr algn="ctr"/>
                      <a:r>
                        <a:rPr sz="740" b="0">
                          <a:solidFill>
                            <a:srgbClr val="20242A"/>
                          </a:solidFill>
                          <a:latin typeface="Aptos"/>
                        </a:rPr>
                        <a:t>N/A</a:t>
                      </a:r>
                    </a:p>
                  </a:txBody>
                  <a:tcPr>
                    <a:solidFill>
                      <a:srgbClr val="FFFFFF"/>
                    </a:solidFill>
                  </a:tcPr>
                </a:tc>
                <a:tc>
                  <a:txBody>
                    <a:bodyPr/>
                    <a:lstStyle/>
                    <a:p>
                      <a:pPr algn="ctr"/>
                      <a:r>
                        <a:rPr sz="740" b="0">
                          <a:solidFill>
                            <a:srgbClr val="20242A"/>
                          </a:solidFill>
                          <a:latin typeface="Aptos"/>
                        </a:rPr>
                        <a:t>Valid</a:t>
                      </a:r>
                    </a:p>
                  </a:txBody>
                  <a:tcPr>
                    <a:solidFill>
                      <a:srgbClr val="FFFFFF"/>
                    </a:solidFill>
                  </a:tcPr>
                </a:tc>
                <a:tc>
                  <a:txBody>
                    <a:bodyPr/>
                    <a:lstStyle/>
                    <a:p>
                      <a:pPr algn="l"/>
                      <a:r>
                        <a:rPr sz="740" b="0">
                          <a:solidFill>
                            <a:srgbClr val="20242A"/>
                          </a:solidFill>
                          <a:latin typeface="Aptos"/>
                        </a:rPr>
                        <a:t>Employee not created</a:t>
                      </a:r>
                    </a:p>
                  </a:txBody>
                  <a:tcPr>
                    <a:solidFill>
                      <a:srgbClr val="FFFFFF"/>
                    </a:solidFill>
                  </a:tcPr>
                </a:tc>
                <a:extLst>
                  <a:ext uri="{0D108BD9-81ED-4DB2-BD59-A6C34878D82A}">
                    <a16:rowId xmlns:a16="http://schemas.microsoft.com/office/drawing/2014/main" val="10005"/>
                  </a:ext>
                </a:extLst>
              </a:tr>
              <a:tr h="388620">
                <a:tc>
                  <a:txBody>
                    <a:bodyPr/>
                    <a:lstStyle/>
                    <a:p>
                      <a:pPr algn="ctr"/>
                      <a:r>
                        <a:rPr sz="740" b="1">
                          <a:solidFill>
                            <a:srgbClr val="20242A"/>
                          </a:solidFill>
                          <a:latin typeface="Aptos"/>
                        </a:rPr>
                        <a:t>TC6</a:t>
                      </a:r>
                    </a:p>
                  </a:txBody>
                  <a:tcPr>
                    <a:solidFill>
                      <a:srgbClr val="DDF1F4"/>
                    </a:solidFill>
                  </a:tcPr>
                </a:tc>
                <a:tc>
                  <a:txBody>
                    <a:bodyPr/>
                    <a:lstStyle/>
                    <a:p>
                      <a:pPr algn="l"/>
                      <a:r>
                        <a:rPr sz="740" b="0">
                          <a:solidFill>
                            <a:srgbClr val="20242A"/>
                          </a:solidFill>
                          <a:latin typeface="Aptos"/>
                        </a:rPr>
                        <a:t>Last name empty</a:t>
                      </a:r>
                    </a:p>
                  </a:txBody>
                  <a:tcPr>
                    <a:solidFill>
                      <a:srgbClr val="F4F7F8"/>
                    </a:solidFill>
                  </a:tcPr>
                </a:tc>
                <a:tc>
                  <a:txBody>
                    <a:bodyPr/>
                    <a:lstStyle/>
                    <a:p>
                      <a:pPr algn="ctr"/>
                      <a:r>
                        <a:rPr sz="740" b="0">
                          <a:solidFill>
                            <a:srgbClr val="20242A"/>
                          </a:solidFill>
                          <a:latin typeface="Aptos"/>
                        </a:rPr>
                        <a:t>Valid</a:t>
                      </a:r>
                    </a:p>
                  </a:txBody>
                  <a:tcPr>
                    <a:solidFill>
                      <a:srgbClr val="F4F7F8"/>
                    </a:solidFill>
                  </a:tcPr>
                </a:tc>
                <a:tc>
                  <a:txBody>
                    <a:bodyPr/>
                    <a:lstStyle/>
                    <a:p>
                      <a:pPr algn="ctr"/>
                      <a:r>
                        <a:rPr sz="740" b="0">
                          <a:solidFill>
                            <a:srgbClr val="20242A"/>
                          </a:solidFill>
                          <a:latin typeface="Aptos"/>
                        </a:rPr>
                        <a:t>Invalid</a:t>
                      </a:r>
                    </a:p>
                  </a:txBody>
                  <a:tcPr>
                    <a:solidFill>
                      <a:srgbClr val="F4F7F8"/>
                    </a:solidFill>
                  </a:tcPr>
                </a:tc>
                <a:tc>
                  <a:txBody>
                    <a:bodyPr/>
                    <a:lstStyle/>
                    <a:p>
                      <a:pPr algn="ctr"/>
                      <a:r>
                        <a:rPr sz="740" b="0">
                          <a:solidFill>
                            <a:srgbClr val="20242A"/>
                          </a:solidFill>
                          <a:latin typeface="Aptos"/>
                        </a:rPr>
                        <a:t>Valid</a:t>
                      </a:r>
                    </a:p>
                  </a:txBody>
                  <a:tcPr>
                    <a:solidFill>
                      <a:srgbClr val="F4F7F8"/>
                    </a:solidFill>
                  </a:tcPr>
                </a:tc>
                <a:tc>
                  <a:txBody>
                    <a:bodyPr/>
                    <a:lstStyle/>
                    <a:p>
                      <a:pPr algn="ctr"/>
                      <a:r>
                        <a:rPr sz="740" b="0">
                          <a:solidFill>
                            <a:srgbClr val="20242A"/>
                          </a:solidFill>
                          <a:latin typeface="Aptos"/>
                        </a:rPr>
                        <a:t>N/A</a:t>
                      </a:r>
                    </a:p>
                  </a:txBody>
                  <a:tcPr>
                    <a:solidFill>
                      <a:srgbClr val="F4F7F8"/>
                    </a:solidFill>
                  </a:tcPr>
                </a:tc>
                <a:tc>
                  <a:txBody>
                    <a:bodyPr/>
                    <a:lstStyle/>
                    <a:p>
                      <a:pPr algn="ctr"/>
                      <a:r>
                        <a:rPr sz="740" b="0">
                          <a:solidFill>
                            <a:srgbClr val="20242A"/>
                          </a:solidFill>
                          <a:latin typeface="Aptos"/>
                        </a:rPr>
                        <a:t>N/A</a:t>
                      </a:r>
                    </a:p>
                  </a:txBody>
                  <a:tcPr>
                    <a:solidFill>
                      <a:srgbClr val="F4F7F8"/>
                    </a:solidFill>
                  </a:tcPr>
                </a:tc>
                <a:tc>
                  <a:txBody>
                    <a:bodyPr/>
                    <a:lstStyle/>
                    <a:p>
                      <a:pPr algn="ctr"/>
                      <a:r>
                        <a:rPr sz="740" b="0">
                          <a:solidFill>
                            <a:srgbClr val="20242A"/>
                          </a:solidFill>
                          <a:latin typeface="Aptos"/>
                        </a:rPr>
                        <a:t>Valid</a:t>
                      </a:r>
                    </a:p>
                  </a:txBody>
                  <a:tcPr>
                    <a:solidFill>
                      <a:srgbClr val="F4F7F8"/>
                    </a:solidFill>
                  </a:tcPr>
                </a:tc>
                <a:tc>
                  <a:txBody>
                    <a:bodyPr/>
                    <a:lstStyle/>
                    <a:p>
                      <a:pPr algn="l"/>
                      <a:r>
                        <a:rPr sz="740" b="0">
                          <a:solidFill>
                            <a:srgbClr val="20242A"/>
                          </a:solidFill>
                          <a:latin typeface="Aptos"/>
                        </a:rPr>
                        <a:t>Employee not created</a:t>
                      </a:r>
                    </a:p>
                  </a:txBody>
                  <a:tcPr>
                    <a:solidFill>
                      <a:srgbClr val="F4F7F8"/>
                    </a:solidFill>
                  </a:tcPr>
                </a:tc>
                <a:extLst>
                  <a:ext uri="{0D108BD9-81ED-4DB2-BD59-A6C34878D82A}">
                    <a16:rowId xmlns:a16="http://schemas.microsoft.com/office/drawing/2014/main" val="10006"/>
                  </a:ext>
                </a:extLst>
              </a:tr>
              <a:tr h="388620">
                <a:tc>
                  <a:txBody>
                    <a:bodyPr/>
                    <a:lstStyle/>
                    <a:p>
                      <a:pPr algn="ctr"/>
                      <a:r>
                        <a:rPr sz="740" b="1">
                          <a:solidFill>
                            <a:srgbClr val="20242A"/>
                          </a:solidFill>
                          <a:latin typeface="Aptos"/>
                        </a:rPr>
                        <a:t>TC7</a:t>
                      </a:r>
                    </a:p>
                  </a:txBody>
                  <a:tcPr>
                    <a:solidFill>
                      <a:srgbClr val="DDF1F4"/>
                    </a:solidFill>
                  </a:tcPr>
                </a:tc>
                <a:tc>
                  <a:txBody>
                    <a:bodyPr/>
                    <a:lstStyle/>
                    <a:p>
                      <a:pPr algn="l"/>
                      <a:r>
                        <a:rPr sz="740" b="0">
                          <a:solidFill>
                            <a:srgbClr val="20242A"/>
                          </a:solidFill>
                          <a:latin typeface="Aptos"/>
                        </a:rPr>
                        <a:t>Duplicated ID</a:t>
                      </a:r>
                    </a:p>
                  </a:txBody>
                  <a:tcPr>
                    <a:solidFill>
                      <a:srgbClr val="FFFFFF"/>
                    </a:solidFill>
                  </a:tcPr>
                </a:tc>
                <a:tc>
                  <a:txBody>
                    <a:bodyPr/>
                    <a:lstStyle/>
                    <a:p>
                      <a:pPr algn="ctr"/>
                      <a:r>
                        <a:rPr sz="740" b="0">
                          <a:solidFill>
                            <a:srgbClr val="20242A"/>
                          </a:solidFill>
                          <a:latin typeface="Aptos"/>
                        </a:rPr>
                        <a:t>Valid</a:t>
                      </a:r>
                    </a:p>
                  </a:txBody>
                  <a:tcPr>
                    <a:solidFill>
                      <a:srgbClr val="FFFFFF"/>
                    </a:solidFill>
                  </a:tcPr>
                </a:tc>
                <a:tc>
                  <a:txBody>
                    <a:bodyPr/>
                    <a:lstStyle/>
                    <a:p>
                      <a:pPr algn="ctr"/>
                      <a:r>
                        <a:rPr sz="740" b="0">
                          <a:solidFill>
                            <a:srgbClr val="20242A"/>
                          </a:solidFill>
                          <a:latin typeface="Aptos"/>
                        </a:rPr>
                        <a:t>Valid</a:t>
                      </a:r>
                    </a:p>
                  </a:txBody>
                  <a:tcPr>
                    <a:solidFill>
                      <a:srgbClr val="FFFFFF"/>
                    </a:solidFill>
                  </a:tcPr>
                </a:tc>
                <a:tc>
                  <a:txBody>
                    <a:bodyPr/>
                    <a:lstStyle/>
                    <a:p>
                      <a:pPr algn="ctr"/>
                      <a:r>
                        <a:rPr sz="740" b="0">
                          <a:solidFill>
                            <a:srgbClr val="20242A"/>
                          </a:solidFill>
                          <a:latin typeface="Aptos"/>
                        </a:rPr>
                        <a:t>Invalid</a:t>
                      </a:r>
                    </a:p>
                  </a:txBody>
                  <a:tcPr>
                    <a:solidFill>
                      <a:srgbClr val="FFFFFF"/>
                    </a:solidFill>
                  </a:tcPr>
                </a:tc>
                <a:tc>
                  <a:txBody>
                    <a:bodyPr/>
                    <a:lstStyle/>
                    <a:p>
                      <a:pPr algn="ctr"/>
                      <a:r>
                        <a:rPr sz="740" b="0">
                          <a:solidFill>
                            <a:srgbClr val="20242A"/>
                          </a:solidFill>
                          <a:latin typeface="Aptos"/>
                        </a:rPr>
                        <a:t>N/A</a:t>
                      </a:r>
                    </a:p>
                  </a:txBody>
                  <a:tcPr>
                    <a:solidFill>
                      <a:srgbClr val="FFFFFF"/>
                    </a:solidFill>
                  </a:tcPr>
                </a:tc>
                <a:tc>
                  <a:txBody>
                    <a:bodyPr/>
                    <a:lstStyle/>
                    <a:p>
                      <a:pPr algn="ctr"/>
                      <a:r>
                        <a:rPr sz="740" b="0">
                          <a:solidFill>
                            <a:srgbClr val="20242A"/>
                          </a:solidFill>
                          <a:latin typeface="Aptos"/>
                        </a:rPr>
                        <a:t>N/A</a:t>
                      </a:r>
                    </a:p>
                  </a:txBody>
                  <a:tcPr>
                    <a:solidFill>
                      <a:srgbClr val="FFFFFF"/>
                    </a:solidFill>
                  </a:tcPr>
                </a:tc>
                <a:tc>
                  <a:txBody>
                    <a:bodyPr/>
                    <a:lstStyle/>
                    <a:p>
                      <a:pPr algn="ctr"/>
                      <a:r>
                        <a:rPr sz="740" b="0">
                          <a:solidFill>
                            <a:srgbClr val="20242A"/>
                          </a:solidFill>
                          <a:latin typeface="Aptos"/>
                        </a:rPr>
                        <a:t>Valid</a:t>
                      </a:r>
                    </a:p>
                  </a:txBody>
                  <a:tcPr>
                    <a:solidFill>
                      <a:srgbClr val="FFFFFF"/>
                    </a:solidFill>
                  </a:tcPr>
                </a:tc>
                <a:tc>
                  <a:txBody>
                    <a:bodyPr/>
                    <a:lstStyle/>
                    <a:p>
                      <a:pPr algn="l"/>
                      <a:r>
                        <a:rPr sz="740" b="0">
                          <a:solidFill>
                            <a:srgbClr val="20242A"/>
                          </a:solidFill>
                          <a:latin typeface="Aptos"/>
                        </a:rPr>
                        <a:t>Employee not created</a:t>
                      </a:r>
                    </a:p>
                  </a:txBody>
                  <a:tcPr>
                    <a:solidFill>
                      <a:srgbClr val="FFFFFF"/>
                    </a:solidFill>
                  </a:tcPr>
                </a:tc>
                <a:extLst>
                  <a:ext uri="{0D108BD9-81ED-4DB2-BD59-A6C34878D82A}">
                    <a16:rowId xmlns:a16="http://schemas.microsoft.com/office/drawing/2014/main" val="10007"/>
                  </a:ext>
                </a:extLst>
              </a:tr>
              <a:tr h="388620">
                <a:tc>
                  <a:txBody>
                    <a:bodyPr/>
                    <a:lstStyle/>
                    <a:p>
                      <a:pPr algn="ctr"/>
                      <a:r>
                        <a:rPr sz="740" b="1">
                          <a:solidFill>
                            <a:srgbClr val="20242A"/>
                          </a:solidFill>
                          <a:latin typeface="Aptos"/>
                        </a:rPr>
                        <a:t>TC8</a:t>
                      </a:r>
                    </a:p>
                  </a:txBody>
                  <a:tcPr>
                    <a:solidFill>
                      <a:srgbClr val="DDF1F4"/>
                    </a:solidFill>
                  </a:tcPr>
                </a:tc>
                <a:tc>
                  <a:txBody>
                    <a:bodyPr/>
                    <a:lstStyle/>
                    <a:p>
                      <a:pPr algn="l"/>
                      <a:r>
                        <a:rPr sz="740" b="0">
                          <a:solidFill>
                            <a:srgbClr val="20242A"/>
                          </a:solidFill>
                          <a:latin typeface="Aptos"/>
                        </a:rPr>
                        <a:t>Weak password</a:t>
                      </a:r>
                    </a:p>
                  </a:txBody>
                  <a:tcPr>
                    <a:solidFill>
                      <a:srgbClr val="F4F7F8"/>
                    </a:solidFill>
                  </a:tcPr>
                </a:tc>
                <a:tc>
                  <a:txBody>
                    <a:bodyPr/>
                    <a:lstStyle/>
                    <a:p>
                      <a:pPr algn="ctr"/>
                      <a:r>
                        <a:rPr sz="740" b="0">
                          <a:solidFill>
                            <a:srgbClr val="20242A"/>
                          </a:solidFill>
                          <a:latin typeface="Aptos"/>
                        </a:rPr>
                        <a:t>Valid</a:t>
                      </a:r>
                    </a:p>
                  </a:txBody>
                  <a:tcPr>
                    <a:solidFill>
                      <a:srgbClr val="F4F7F8"/>
                    </a:solidFill>
                  </a:tcPr>
                </a:tc>
                <a:tc>
                  <a:txBody>
                    <a:bodyPr/>
                    <a:lstStyle/>
                    <a:p>
                      <a:pPr algn="ctr"/>
                      <a:r>
                        <a:rPr sz="740" b="0">
                          <a:solidFill>
                            <a:srgbClr val="20242A"/>
                          </a:solidFill>
                          <a:latin typeface="Aptos"/>
                        </a:rPr>
                        <a:t>Valid</a:t>
                      </a:r>
                    </a:p>
                  </a:txBody>
                  <a:tcPr>
                    <a:solidFill>
                      <a:srgbClr val="F4F7F8"/>
                    </a:solidFill>
                  </a:tcPr>
                </a:tc>
                <a:tc>
                  <a:txBody>
                    <a:bodyPr/>
                    <a:lstStyle/>
                    <a:p>
                      <a:pPr algn="ctr"/>
                      <a:r>
                        <a:rPr sz="740" b="0">
                          <a:solidFill>
                            <a:srgbClr val="20242A"/>
                          </a:solidFill>
                          <a:latin typeface="Aptos"/>
                        </a:rPr>
                        <a:t>Valid</a:t>
                      </a:r>
                    </a:p>
                  </a:txBody>
                  <a:tcPr>
                    <a:solidFill>
                      <a:srgbClr val="F4F7F8"/>
                    </a:solidFill>
                  </a:tcPr>
                </a:tc>
                <a:tc>
                  <a:txBody>
                    <a:bodyPr/>
                    <a:lstStyle/>
                    <a:p>
                      <a:pPr algn="ctr"/>
                      <a:r>
                        <a:rPr sz="740" b="0">
                          <a:solidFill>
                            <a:srgbClr val="20242A"/>
                          </a:solidFill>
                          <a:latin typeface="Aptos"/>
                        </a:rPr>
                        <a:t>Invalid</a:t>
                      </a:r>
                    </a:p>
                  </a:txBody>
                  <a:tcPr>
                    <a:solidFill>
                      <a:srgbClr val="F4F7F8"/>
                    </a:solidFill>
                  </a:tcPr>
                </a:tc>
                <a:tc>
                  <a:txBody>
                    <a:bodyPr/>
                    <a:lstStyle/>
                    <a:p>
                      <a:pPr algn="ctr"/>
                      <a:r>
                        <a:rPr sz="740" b="0">
                          <a:solidFill>
                            <a:srgbClr val="20242A"/>
                          </a:solidFill>
                          <a:latin typeface="Aptos"/>
                        </a:rPr>
                        <a:t>N/A</a:t>
                      </a:r>
                    </a:p>
                  </a:txBody>
                  <a:tcPr>
                    <a:solidFill>
                      <a:srgbClr val="F4F7F8"/>
                    </a:solidFill>
                  </a:tcPr>
                </a:tc>
                <a:tc>
                  <a:txBody>
                    <a:bodyPr/>
                    <a:lstStyle/>
                    <a:p>
                      <a:pPr algn="ctr"/>
                      <a:r>
                        <a:rPr sz="740" b="0">
                          <a:solidFill>
                            <a:srgbClr val="20242A"/>
                          </a:solidFill>
                          <a:latin typeface="Aptos"/>
                        </a:rPr>
                        <a:t>Valid</a:t>
                      </a:r>
                    </a:p>
                  </a:txBody>
                  <a:tcPr>
                    <a:solidFill>
                      <a:srgbClr val="F4F7F8"/>
                    </a:solidFill>
                  </a:tcPr>
                </a:tc>
                <a:tc>
                  <a:txBody>
                    <a:bodyPr/>
                    <a:lstStyle/>
                    <a:p>
                      <a:pPr algn="l"/>
                      <a:r>
                        <a:rPr sz="740" b="0">
                          <a:solidFill>
                            <a:srgbClr val="20242A"/>
                          </a:solidFill>
                          <a:latin typeface="Aptos"/>
                        </a:rPr>
                        <a:t>Employee not created</a:t>
                      </a:r>
                    </a:p>
                  </a:txBody>
                  <a:tcPr>
                    <a:solidFill>
                      <a:srgbClr val="F4F7F8"/>
                    </a:solidFill>
                  </a:tcPr>
                </a:tc>
                <a:extLst>
                  <a:ext uri="{0D108BD9-81ED-4DB2-BD59-A6C34878D82A}">
                    <a16:rowId xmlns:a16="http://schemas.microsoft.com/office/drawing/2014/main" val="10008"/>
                  </a:ext>
                </a:extLst>
              </a:tr>
              <a:tr h="388620">
                <a:tc>
                  <a:txBody>
                    <a:bodyPr/>
                    <a:lstStyle/>
                    <a:p>
                      <a:pPr algn="ctr"/>
                      <a:r>
                        <a:rPr sz="740" b="1">
                          <a:solidFill>
                            <a:srgbClr val="20242A"/>
                          </a:solidFill>
                          <a:latin typeface="Aptos"/>
                        </a:rPr>
                        <a:t>TC9</a:t>
                      </a:r>
                    </a:p>
                  </a:txBody>
                  <a:tcPr>
                    <a:solidFill>
                      <a:srgbClr val="DDF1F4"/>
                    </a:solidFill>
                  </a:tcPr>
                </a:tc>
                <a:tc>
                  <a:txBody>
                    <a:bodyPr/>
                    <a:lstStyle/>
                    <a:p>
                      <a:pPr algn="l"/>
                      <a:r>
                        <a:rPr sz="740" b="0">
                          <a:solidFill>
                            <a:srgbClr val="20242A"/>
                          </a:solidFill>
                          <a:latin typeface="Aptos"/>
                        </a:rPr>
                        <a:t>Invalid photo</a:t>
                      </a:r>
                    </a:p>
                  </a:txBody>
                  <a:tcPr>
                    <a:solidFill>
                      <a:srgbClr val="FFFFFF"/>
                    </a:solidFill>
                  </a:tcPr>
                </a:tc>
                <a:tc>
                  <a:txBody>
                    <a:bodyPr/>
                    <a:lstStyle/>
                    <a:p>
                      <a:pPr algn="ctr"/>
                      <a:r>
                        <a:rPr sz="740" b="0">
                          <a:solidFill>
                            <a:srgbClr val="20242A"/>
                          </a:solidFill>
                          <a:latin typeface="Aptos"/>
                        </a:rPr>
                        <a:t>Valid</a:t>
                      </a:r>
                    </a:p>
                  </a:txBody>
                  <a:tcPr>
                    <a:solidFill>
                      <a:srgbClr val="FFFFFF"/>
                    </a:solidFill>
                  </a:tcPr>
                </a:tc>
                <a:tc>
                  <a:txBody>
                    <a:bodyPr/>
                    <a:lstStyle/>
                    <a:p>
                      <a:pPr algn="ctr"/>
                      <a:r>
                        <a:rPr sz="740" b="0">
                          <a:solidFill>
                            <a:srgbClr val="20242A"/>
                          </a:solidFill>
                          <a:latin typeface="Aptos"/>
                        </a:rPr>
                        <a:t>Valid</a:t>
                      </a:r>
                    </a:p>
                  </a:txBody>
                  <a:tcPr>
                    <a:solidFill>
                      <a:srgbClr val="FFFFFF"/>
                    </a:solidFill>
                  </a:tcPr>
                </a:tc>
                <a:tc>
                  <a:txBody>
                    <a:bodyPr/>
                    <a:lstStyle/>
                    <a:p>
                      <a:pPr algn="ctr"/>
                      <a:r>
                        <a:rPr sz="740" b="0">
                          <a:solidFill>
                            <a:srgbClr val="20242A"/>
                          </a:solidFill>
                          <a:latin typeface="Aptos"/>
                        </a:rPr>
                        <a:t>Valid</a:t>
                      </a:r>
                    </a:p>
                  </a:txBody>
                  <a:tcPr>
                    <a:solidFill>
                      <a:srgbClr val="FFFFFF"/>
                    </a:solidFill>
                  </a:tcPr>
                </a:tc>
                <a:tc>
                  <a:txBody>
                    <a:bodyPr/>
                    <a:lstStyle/>
                    <a:p>
                      <a:pPr algn="ctr"/>
                      <a:r>
                        <a:rPr sz="740" b="0">
                          <a:solidFill>
                            <a:srgbClr val="20242A"/>
                          </a:solidFill>
                          <a:latin typeface="Aptos"/>
                        </a:rPr>
                        <a:t>N/A</a:t>
                      </a:r>
                    </a:p>
                  </a:txBody>
                  <a:tcPr>
                    <a:solidFill>
                      <a:srgbClr val="FFFFFF"/>
                    </a:solidFill>
                  </a:tcPr>
                </a:tc>
                <a:tc>
                  <a:txBody>
                    <a:bodyPr/>
                    <a:lstStyle/>
                    <a:p>
                      <a:pPr algn="ctr"/>
                      <a:r>
                        <a:rPr sz="740" b="0">
                          <a:solidFill>
                            <a:srgbClr val="20242A"/>
                          </a:solidFill>
                          <a:latin typeface="Aptos"/>
                        </a:rPr>
                        <a:t>Invalid</a:t>
                      </a:r>
                    </a:p>
                  </a:txBody>
                  <a:tcPr>
                    <a:solidFill>
                      <a:srgbClr val="FFFFFF"/>
                    </a:solidFill>
                  </a:tcPr>
                </a:tc>
                <a:tc>
                  <a:txBody>
                    <a:bodyPr/>
                    <a:lstStyle/>
                    <a:p>
                      <a:pPr algn="ctr"/>
                      <a:r>
                        <a:rPr sz="740" b="0">
                          <a:solidFill>
                            <a:srgbClr val="20242A"/>
                          </a:solidFill>
                          <a:latin typeface="Aptos"/>
                        </a:rPr>
                        <a:t>Valid</a:t>
                      </a:r>
                    </a:p>
                  </a:txBody>
                  <a:tcPr>
                    <a:solidFill>
                      <a:srgbClr val="FFFFFF"/>
                    </a:solidFill>
                  </a:tcPr>
                </a:tc>
                <a:tc>
                  <a:txBody>
                    <a:bodyPr/>
                    <a:lstStyle/>
                    <a:p>
                      <a:pPr algn="l"/>
                      <a:r>
                        <a:rPr sz="740" b="0">
                          <a:solidFill>
                            <a:srgbClr val="20242A"/>
                          </a:solidFill>
                          <a:latin typeface="Aptos"/>
                        </a:rPr>
                        <a:t>Employee not created</a:t>
                      </a:r>
                    </a:p>
                  </a:txBody>
                  <a:tcPr>
                    <a:solidFill>
                      <a:srgbClr val="FFFFFF"/>
                    </a:solidFill>
                  </a:tcPr>
                </a:tc>
                <a:extLst>
                  <a:ext uri="{0D108BD9-81ED-4DB2-BD59-A6C34878D82A}">
                    <a16:rowId xmlns:a16="http://schemas.microsoft.com/office/drawing/2014/main" val="10009"/>
                  </a:ext>
                </a:extLst>
              </a:tr>
            </a:tbl>
          </a:graphicData>
        </a:graphic>
      </p:graphicFrame>
      <p:sp>
        <p:nvSpPr>
          <p:cNvPr id="10" name="TextBox 9"/>
          <p:cNvSpPr txBox="1"/>
          <p:nvPr/>
        </p:nvSpPr>
        <p:spPr>
          <a:xfrm>
            <a:off x="685800" y="5897880"/>
            <a:ext cx="9667875" cy="492443"/>
          </a:xfrm>
          <a:prstGeom prst="rect">
            <a:avLst/>
          </a:prstGeom>
          <a:noFill/>
        </p:spPr>
        <p:txBody>
          <a:bodyPr wrap="square">
            <a:spAutoFit/>
          </a:bodyPr>
          <a:lstStyle/>
          <a:p>
            <a:r>
              <a:rPr sz="1300" dirty="0">
                <a:solidFill>
                  <a:srgbClr val="3C3C3C"/>
                </a:solidFill>
              </a:rPr>
              <a:t>The use case table follows the Add Employee workflow from normal completion to alternative failure paths. Positive cases confirm successful PIM creation, while negative cases verify prevention of missing names, duplicate IDs, weak passwords, and invalid photos.</a:t>
            </a:r>
          </a:p>
        </p:txBody>
      </p:sp>
      <p:sp>
        <p:nvSpPr>
          <p:cNvPr id="8" name="TextBox 2">
            <a:extLst>
              <a:ext uri="{FF2B5EF4-FFF2-40B4-BE49-F238E27FC236}">
                <a16:creationId xmlns:a16="http://schemas.microsoft.com/office/drawing/2014/main" id="{FF7D7645-49E2-4268-ECEC-B4A176B8A562}"/>
              </a:ext>
            </a:extLst>
          </p:cNvPr>
          <p:cNvSpPr txBox="1"/>
          <p:nvPr/>
        </p:nvSpPr>
        <p:spPr>
          <a:xfrm>
            <a:off x="731520" y="640080"/>
            <a:ext cx="5669280" cy="320040"/>
          </a:xfrm>
          <a:prstGeom prst="rect">
            <a:avLst/>
          </a:prstGeom>
          <a:noFill/>
        </p:spPr>
        <p:txBody>
          <a:bodyPr wrap="square">
            <a:spAutoFit/>
          </a:bodyPr>
          <a:lstStyle/>
          <a:p>
            <a:pPr algn="l"/>
            <a:r>
              <a:rPr lang="tr-TR" sz="1400" b="1" dirty="0">
                <a:solidFill>
                  <a:srgbClr val="64748B"/>
                </a:solidFill>
                <a:latin typeface="Aptos"/>
              </a:rPr>
              <a:t>1</a:t>
            </a:r>
            <a:r>
              <a:rPr sz="1400" b="1" dirty="0">
                <a:solidFill>
                  <a:srgbClr val="64748B"/>
                </a:solidFill>
                <a:latin typeface="Aptos"/>
              </a:rPr>
              <a:t>.Functional Testing &amp; GUI Automation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7F9"/>
        </a:solidFill>
        <a:effectLst/>
      </p:bgPr>
    </p:bg>
    <p:spTree>
      <p:nvGrpSpPr>
        <p:cNvPr id="1" name=""/>
        <p:cNvGrpSpPr/>
        <p:nvPr/>
      </p:nvGrpSpPr>
      <p:grpSpPr>
        <a:xfrm>
          <a:off x="0" y="0"/>
          <a:ext cx="0" cy="0"/>
          <a:chOff x="0" y="0"/>
          <a:chExt cx="0" cy="0"/>
        </a:xfrm>
      </p:grpSpPr>
      <p:sp>
        <p:nvSpPr>
          <p:cNvPr id="2" name="TextBox 1"/>
          <p:cNvSpPr txBox="1"/>
          <p:nvPr/>
        </p:nvSpPr>
        <p:spPr>
          <a:xfrm>
            <a:off x="502920" y="228600"/>
            <a:ext cx="4572000" cy="228600"/>
          </a:xfrm>
          <a:prstGeom prst="rect">
            <a:avLst/>
          </a:prstGeom>
          <a:noFill/>
        </p:spPr>
        <p:txBody>
          <a:bodyPr wrap="none">
            <a:spAutoFit/>
          </a:bodyPr>
          <a:lstStyle/>
          <a:p>
            <a:pPr>
              <a:defRPr sz="900" b="1">
                <a:solidFill>
                  <a:srgbClr val="FF6000"/>
                </a:solidFill>
              </a:defRPr>
            </a:pPr>
            <a:r>
              <a:t>SE 2226 TESTING PROJECT</a:t>
            </a:r>
          </a:p>
        </p:txBody>
      </p:sp>
      <p:sp>
        <p:nvSpPr>
          <p:cNvPr id="4" name="TextBox 3"/>
          <p:cNvSpPr txBox="1"/>
          <p:nvPr/>
        </p:nvSpPr>
        <p:spPr>
          <a:xfrm>
            <a:off x="640080" y="868680"/>
            <a:ext cx="8961120" cy="502920"/>
          </a:xfrm>
          <a:prstGeom prst="rect">
            <a:avLst/>
          </a:prstGeom>
          <a:noFill/>
        </p:spPr>
        <p:txBody>
          <a:bodyPr wrap="none">
            <a:spAutoFit/>
          </a:bodyPr>
          <a:lstStyle/>
          <a:p>
            <a:pPr>
              <a:defRPr sz="2700" b="1">
                <a:solidFill>
                  <a:srgbClr val="20242A"/>
                </a:solidFill>
              </a:defRPr>
            </a:pPr>
            <a:r>
              <a:t>Decision Table — Leave Request Logic</a:t>
            </a:r>
          </a:p>
        </p:txBody>
      </p:sp>
      <p:sp>
        <p:nvSpPr>
          <p:cNvPr id="5" name="TextBox 4"/>
          <p:cNvSpPr txBox="1"/>
          <p:nvPr/>
        </p:nvSpPr>
        <p:spPr>
          <a:xfrm>
            <a:off x="502920" y="6519672"/>
            <a:ext cx="7132320" cy="164592"/>
          </a:xfrm>
          <a:prstGeom prst="rect">
            <a:avLst/>
          </a:prstGeom>
          <a:noFill/>
        </p:spPr>
        <p:txBody>
          <a:bodyPr wrap="none">
            <a:spAutoFit/>
          </a:bodyPr>
          <a:lstStyle/>
          <a:p>
            <a:pPr>
              <a:defRPr sz="750">
                <a:solidFill>
                  <a:srgbClr val="5F6770"/>
                </a:solidFill>
              </a:defRPr>
            </a:pPr>
            <a:r>
              <a:t>3.Functional Testing &amp; GUI Automation</a:t>
            </a:r>
          </a:p>
        </p:txBody>
      </p:sp>
      <p:sp>
        <p:nvSpPr>
          <p:cNvPr id="6" name="TextBox 5"/>
          <p:cNvSpPr txBox="1"/>
          <p:nvPr/>
        </p:nvSpPr>
        <p:spPr>
          <a:xfrm>
            <a:off x="11292840" y="6473952"/>
            <a:ext cx="320040" cy="182880"/>
          </a:xfrm>
          <a:prstGeom prst="rect">
            <a:avLst/>
          </a:prstGeom>
          <a:noFill/>
        </p:spPr>
        <p:txBody>
          <a:bodyPr wrap="none">
            <a:spAutoFit/>
          </a:bodyPr>
          <a:lstStyle/>
          <a:p>
            <a:r>
              <a:rPr sz="800" b="0">
                <a:solidFill>
                  <a:srgbClr val="FFFFFF"/>
                </a:solidFill>
              </a:rPr>
              <a:t>8</a:t>
            </a:r>
          </a:p>
        </p:txBody>
      </p:sp>
      <p:sp>
        <p:nvSpPr>
          <p:cNvPr id="7" name="Rectangle 6"/>
          <p:cNvSpPr/>
          <p:nvPr/>
        </p:nvSpPr>
        <p:spPr>
          <a:xfrm>
            <a:off x="640080" y="1417320"/>
            <a:ext cx="1143000" cy="54864"/>
          </a:xfrm>
          <a:prstGeom prst="rect">
            <a:avLst/>
          </a:prstGeom>
          <a:solidFill>
            <a:srgbClr val="FF6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9" name="Table 8"/>
          <p:cNvGraphicFramePr>
            <a:graphicFrameLocks noGrp="1"/>
          </p:cNvGraphicFramePr>
          <p:nvPr/>
        </p:nvGraphicFramePr>
        <p:xfrm>
          <a:off x="914400" y="1938528"/>
          <a:ext cx="10195555" cy="3798912"/>
        </p:xfrm>
        <a:graphic>
          <a:graphicData uri="http://schemas.openxmlformats.org/drawingml/2006/table">
            <a:tbl>
              <a:tblPr firstRow="1" bandRow="1">
                <a:tableStyleId>{5C22544A-7EE6-4342-B048-85BDC9FD1C3A}</a:tableStyleId>
              </a:tblPr>
              <a:tblGrid>
                <a:gridCol w="3670401">
                  <a:extLst>
                    <a:ext uri="{9D8B030D-6E8A-4147-A177-3AD203B41FA5}">
                      <a16:colId xmlns:a16="http://schemas.microsoft.com/office/drawing/2014/main" val="20000"/>
                    </a:ext>
                  </a:extLst>
                </a:gridCol>
                <a:gridCol w="1070533">
                  <a:extLst>
                    <a:ext uri="{9D8B030D-6E8A-4147-A177-3AD203B41FA5}">
                      <a16:colId xmlns:a16="http://schemas.microsoft.com/office/drawing/2014/main" val="20001"/>
                    </a:ext>
                  </a:extLst>
                </a:gridCol>
                <a:gridCol w="1070533">
                  <a:extLst>
                    <a:ext uri="{9D8B030D-6E8A-4147-A177-3AD203B41FA5}">
                      <a16:colId xmlns:a16="http://schemas.microsoft.com/office/drawing/2014/main" val="20002"/>
                    </a:ext>
                  </a:extLst>
                </a:gridCol>
                <a:gridCol w="1070533">
                  <a:extLst>
                    <a:ext uri="{9D8B030D-6E8A-4147-A177-3AD203B41FA5}">
                      <a16:colId xmlns:a16="http://schemas.microsoft.com/office/drawing/2014/main" val="20003"/>
                    </a:ext>
                  </a:extLst>
                </a:gridCol>
                <a:gridCol w="1070533">
                  <a:extLst>
                    <a:ext uri="{9D8B030D-6E8A-4147-A177-3AD203B41FA5}">
                      <a16:colId xmlns:a16="http://schemas.microsoft.com/office/drawing/2014/main" val="20004"/>
                    </a:ext>
                  </a:extLst>
                </a:gridCol>
                <a:gridCol w="1070533">
                  <a:extLst>
                    <a:ext uri="{9D8B030D-6E8A-4147-A177-3AD203B41FA5}">
                      <a16:colId xmlns:a16="http://schemas.microsoft.com/office/drawing/2014/main" val="20005"/>
                    </a:ext>
                  </a:extLst>
                </a:gridCol>
                <a:gridCol w="1172489">
                  <a:extLst>
                    <a:ext uri="{9D8B030D-6E8A-4147-A177-3AD203B41FA5}">
                      <a16:colId xmlns:a16="http://schemas.microsoft.com/office/drawing/2014/main" val="20006"/>
                    </a:ext>
                  </a:extLst>
                </a:gridCol>
              </a:tblGrid>
              <a:tr h="328352">
                <a:tc>
                  <a:txBody>
                    <a:bodyPr/>
                    <a:lstStyle/>
                    <a:p>
                      <a:pPr algn="l"/>
                      <a:r>
                        <a:rPr sz="869" b="1">
                          <a:solidFill>
                            <a:srgbClr val="FFFFFF"/>
                          </a:solidFill>
                          <a:latin typeface="Aptos"/>
                        </a:rPr>
                        <a:t>Conditions / Actions</a:t>
                      </a:r>
                    </a:p>
                  </a:txBody>
                  <a:tcPr>
                    <a:solidFill>
                      <a:srgbClr val="1C707C"/>
                    </a:solidFill>
                  </a:tcPr>
                </a:tc>
                <a:tc>
                  <a:txBody>
                    <a:bodyPr/>
                    <a:lstStyle/>
                    <a:p>
                      <a:pPr algn="ctr"/>
                      <a:r>
                        <a:rPr sz="869" b="1">
                          <a:solidFill>
                            <a:srgbClr val="FFFFFF"/>
                          </a:solidFill>
                          <a:latin typeface="Aptos"/>
                        </a:rPr>
                        <a:t>R1</a:t>
                      </a:r>
                    </a:p>
                  </a:txBody>
                  <a:tcPr>
                    <a:solidFill>
                      <a:srgbClr val="1C707C"/>
                    </a:solidFill>
                  </a:tcPr>
                </a:tc>
                <a:tc>
                  <a:txBody>
                    <a:bodyPr/>
                    <a:lstStyle/>
                    <a:p>
                      <a:pPr algn="ctr"/>
                      <a:r>
                        <a:rPr sz="869" b="1">
                          <a:solidFill>
                            <a:srgbClr val="FFFFFF"/>
                          </a:solidFill>
                          <a:latin typeface="Aptos"/>
                        </a:rPr>
                        <a:t>R2</a:t>
                      </a:r>
                    </a:p>
                  </a:txBody>
                  <a:tcPr>
                    <a:solidFill>
                      <a:srgbClr val="1C707C"/>
                    </a:solidFill>
                  </a:tcPr>
                </a:tc>
                <a:tc>
                  <a:txBody>
                    <a:bodyPr/>
                    <a:lstStyle/>
                    <a:p>
                      <a:pPr algn="ctr"/>
                      <a:r>
                        <a:rPr sz="869" b="1">
                          <a:solidFill>
                            <a:srgbClr val="FFFFFF"/>
                          </a:solidFill>
                          <a:latin typeface="Aptos"/>
                        </a:rPr>
                        <a:t>R3</a:t>
                      </a:r>
                    </a:p>
                  </a:txBody>
                  <a:tcPr>
                    <a:solidFill>
                      <a:srgbClr val="1C707C"/>
                    </a:solidFill>
                  </a:tcPr>
                </a:tc>
                <a:tc>
                  <a:txBody>
                    <a:bodyPr/>
                    <a:lstStyle/>
                    <a:p>
                      <a:pPr algn="ctr"/>
                      <a:r>
                        <a:rPr sz="869" b="1">
                          <a:solidFill>
                            <a:srgbClr val="FFFFFF"/>
                          </a:solidFill>
                          <a:latin typeface="Aptos"/>
                        </a:rPr>
                        <a:t>R4</a:t>
                      </a:r>
                    </a:p>
                  </a:txBody>
                  <a:tcPr>
                    <a:solidFill>
                      <a:srgbClr val="1C707C"/>
                    </a:solidFill>
                  </a:tcPr>
                </a:tc>
                <a:tc>
                  <a:txBody>
                    <a:bodyPr/>
                    <a:lstStyle/>
                    <a:p>
                      <a:pPr algn="ctr"/>
                      <a:r>
                        <a:rPr sz="869" b="1">
                          <a:solidFill>
                            <a:srgbClr val="FFFFFF"/>
                          </a:solidFill>
                          <a:latin typeface="Aptos"/>
                        </a:rPr>
                        <a:t>R5</a:t>
                      </a:r>
                    </a:p>
                  </a:txBody>
                  <a:tcPr>
                    <a:solidFill>
                      <a:srgbClr val="1C707C"/>
                    </a:solidFill>
                  </a:tcPr>
                </a:tc>
                <a:tc>
                  <a:txBody>
                    <a:bodyPr/>
                    <a:lstStyle/>
                    <a:p>
                      <a:pPr algn="ctr"/>
                      <a:r>
                        <a:rPr sz="869" b="1">
                          <a:solidFill>
                            <a:srgbClr val="FFFFFF"/>
                          </a:solidFill>
                          <a:latin typeface="Aptos"/>
                        </a:rPr>
                        <a:t>R6</a:t>
                      </a:r>
                    </a:p>
                  </a:txBody>
                  <a:tcPr>
                    <a:solidFill>
                      <a:srgbClr val="1C707C"/>
                    </a:solidFill>
                  </a:tcPr>
                </a:tc>
                <a:extLst>
                  <a:ext uri="{0D108BD9-81ED-4DB2-BD59-A6C34878D82A}">
                    <a16:rowId xmlns:a16="http://schemas.microsoft.com/office/drawing/2014/main" val="10000"/>
                  </a:ext>
                </a:extLst>
              </a:tr>
              <a:tr h="328352">
                <a:tc>
                  <a:txBody>
                    <a:bodyPr/>
                    <a:lstStyle/>
                    <a:p>
                      <a:pPr algn="l"/>
                      <a:r>
                        <a:rPr sz="869" b="1">
                          <a:solidFill>
                            <a:srgbClr val="20242A"/>
                          </a:solidFill>
                          <a:latin typeface="Aptos"/>
                        </a:rPr>
                        <a:t>C1: Request already processed</a:t>
                      </a:r>
                    </a:p>
                  </a:txBody>
                  <a:tcPr>
                    <a:solidFill>
                      <a:srgbClr val="DDF1F4"/>
                    </a:solidFill>
                  </a:tcPr>
                </a:tc>
                <a:tc>
                  <a:txBody>
                    <a:bodyPr/>
                    <a:lstStyle/>
                    <a:p>
                      <a:pPr algn="ctr"/>
                      <a:r>
                        <a:rPr sz="869" b="0">
                          <a:solidFill>
                            <a:srgbClr val="20242A"/>
                          </a:solidFill>
                          <a:latin typeface="Aptos"/>
                        </a:rPr>
                        <a:t>Y</a:t>
                      </a:r>
                    </a:p>
                  </a:txBody>
                  <a:tcPr>
                    <a:solidFill>
                      <a:srgbClr val="FFFFFF"/>
                    </a:solidFill>
                  </a:tcPr>
                </a:tc>
                <a:tc>
                  <a:txBody>
                    <a:bodyPr/>
                    <a:lstStyle/>
                    <a:p>
                      <a:pPr algn="ctr"/>
                      <a:r>
                        <a:rPr sz="869" b="0">
                          <a:solidFill>
                            <a:srgbClr val="20242A"/>
                          </a:solidFill>
                          <a:latin typeface="Aptos"/>
                        </a:rPr>
                        <a:t>N</a:t>
                      </a:r>
                    </a:p>
                  </a:txBody>
                  <a:tcPr>
                    <a:solidFill>
                      <a:srgbClr val="FFFFFF"/>
                    </a:solidFill>
                  </a:tcPr>
                </a:tc>
                <a:tc>
                  <a:txBody>
                    <a:bodyPr/>
                    <a:lstStyle/>
                    <a:p>
                      <a:pPr algn="ctr"/>
                      <a:r>
                        <a:rPr sz="869" b="0">
                          <a:solidFill>
                            <a:srgbClr val="20242A"/>
                          </a:solidFill>
                          <a:latin typeface="Aptos"/>
                        </a:rPr>
                        <a:t>N</a:t>
                      </a:r>
                    </a:p>
                  </a:txBody>
                  <a:tcPr>
                    <a:solidFill>
                      <a:srgbClr val="FFFFFF"/>
                    </a:solidFill>
                  </a:tcPr>
                </a:tc>
                <a:tc>
                  <a:txBody>
                    <a:bodyPr/>
                    <a:lstStyle/>
                    <a:p>
                      <a:pPr algn="ctr"/>
                      <a:r>
                        <a:rPr sz="869" b="0">
                          <a:solidFill>
                            <a:srgbClr val="20242A"/>
                          </a:solidFill>
                          <a:latin typeface="Aptos"/>
                        </a:rPr>
                        <a:t>N</a:t>
                      </a:r>
                    </a:p>
                  </a:txBody>
                  <a:tcPr>
                    <a:solidFill>
                      <a:srgbClr val="FFFFFF"/>
                    </a:solidFill>
                  </a:tcPr>
                </a:tc>
                <a:tc>
                  <a:txBody>
                    <a:bodyPr/>
                    <a:lstStyle/>
                    <a:p>
                      <a:pPr algn="ctr"/>
                      <a:r>
                        <a:rPr sz="869" b="0">
                          <a:solidFill>
                            <a:srgbClr val="20242A"/>
                          </a:solidFill>
                          <a:latin typeface="Aptos"/>
                        </a:rPr>
                        <a:t>N</a:t>
                      </a:r>
                    </a:p>
                  </a:txBody>
                  <a:tcPr>
                    <a:solidFill>
                      <a:srgbClr val="FFFFFF"/>
                    </a:solidFill>
                  </a:tcPr>
                </a:tc>
                <a:tc>
                  <a:txBody>
                    <a:bodyPr/>
                    <a:lstStyle/>
                    <a:p>
                      <a:pPr algn="ctr"/>
                      <a:r>
                        <a:rPr sz="869" b="0">
                          <a:solidFill>
                            <a:srgbClr val="20242A"/>
                          </a:solidFill>
                          <a:latin typeface="Aptos"/>
                        </a:rPr>
                        <a:t>N</a:t>
                      </a:r>
                    </a:p>
                  </a:txBody>
                  <a:tcPr>
                    <a:solidFill>
                      <a:srgbClr val="FFFFFF"/>
                    </a:solidFill>
                  </a:tcPr>
                </a:tc>
                <a:extLst>
                  <a:ext uri="{0D108BD9-81ED-4DB2-BD59-A6C34878D82A}">
                    <a16:rowId xmlns:a16="http://schemas.microsoft.com/office/drawing/2014/main" val="10001"/>
                  </a:ext>
                </a:extLst>
              </a:tr>
              <a:tr h="328352">
                <a:tc>
                  <a:txBody>
                    <a:bodyPr/>
                    <a:lstStyle/>
                    <a:p>
                      <a:pPr algn="l"/>
                      <a:r>
                        <a:rPr sz="869" b="1">
                          <a:solidFill>
                            <a:srgbClr val="20242A"/>
                          </a:solidFill>
                          <a:latin typeface="Aptos"/>
                        </a:rPr>
                        <a:t>C2: Leave type selected</a:t>
                      </a:r>
                    </a:p>
                  </a:txBody>
                  <a:tcPr>
                    <a:solidFill>
                      <a:srgbClr val="DDF1F4"/>
                    </a:solidFill>
                  </a:tcPr>
                </a:tc>
                <a:tc>
                  <a:txBody>
                    <a:bodyPr/>
                    <a:lstStyle/>
                    <a:p>
                      <a:pPr algn="ctr"/>
                      <a:r>
                        <a:rPr sz="869" b="0">
                          <a:solidFill>
                            <a:srgbClr val="20242A"/>
                          </a:solidFill>
                          <a:latin typeface="Aptos"/>
                        </a:rPr>
                        <a:t>–</a:t>
                      </a:r>
                    </a:p>
                  </a:txBody>
                  <a:tcPr>
                    <a:solidFill>
                      <a:srgbClr val="F4F7F8"/>
                    </a:solidFill>
                  </a:tcPr>
                </a:tc>
                <a:tc>
                  <a:txBody>
                    <a:bodyPr/>
                    <a:lstStyle/>
                    <a:p>
                      <a:pPr algn="ctr"/>
                      <a:r>
                        <a:rPr sz="869" b="0">
                          <a:solidFill>
                            <a:srgbClr val="20242A"/>
                          </a:solidFill>
                          <a:latin typeface="Aptos"/>
                        </a:rPr>
                        <a:t>Y</a:t>
                      </a:r>
                    </a:p>
                  </a:txBody>
                  <a:tcPr>
                    <a:solidFill>
                      <a:srgbClr val="F4F7F8"/>
                    </a:solidFill>
                  </a:tcPr>
                </a:tc>
                <a:tc>
                  <a:txBody>
                    <a:bodyPr/>
                    <a:lstStyle/>
                    <a:p>
                      <a:pPr algn="ctr"/>
                      <a:r>
                        <a:rPr sz="869" b="0">
                          <a:solidFill>
                            <a:srgbClr val="20242A"/>
                          </a:solidFill>
                          <a:latin typeface="Aptos"/>
                        </a:rPr>
                        <a:t>Y</a:t>
                      </a:r>
                    </a:p>
                  </a:txBody>
                  <a:tcPr>
                    <a:solidFill>
                      <a:srgbClr val="F4F7F8"/>
                    </a:solidFill>
                  </a:tcPr>
                </a:tc>
                <a:tc>
                  <a:txBody>
                    <a:bodyPr/>
                    <a:lstStyle/>
                    <a:p>
                      <a:pPr algn="ctr"/>
                      <a:r>
                        <a:rPr sz="869" b="0">
                          <a:solidFill>
                            <a:srgbClr val="20242A"/>
                          </a:solidFill>
                          <a:latin typeface="Aptos"/>
                        </a:rPr>
                        <a:t>Y</a:t>
                      </a:r>
                    </a:p>
                  </a:txBody>
                  <a:tcPr>
                    <a:solidFill>
                      <a:srgbClr val="F4F7F8"/>
                    </a:solidFill>
                  </a:tcPr>
                </a:tc>
                <a:tc>
                  <a:txBody>
                    <a:bodyPr/>
                    <a:lstStyle/>
                    <a:p>
                      <a:pPr algn="ctr"/>
                      <a:r>
                        <a:rPr sz="869" b="0">
                          <a:solidFill>
                            <a:srgbClr val="20242A"/>
                          </a:solidFill>
                          <a:latin typeface="Aptos"/>
                        </a:rPr>
                        <a:t>Y</a:t>
                      </a:r>
                    </a:p>
                  </a:txBody>
                  <a:tcPr>
                    <a:solidFill>
                      <a:srgbClr val="F4F7F8"/>
                    </a:solidFill>
                  </a:tcPr>
                </a:tc>
                <a:tc>
                  <a:txBody>
                    <a:bodyPr/>
                    <a:lstStyle/>
                    <a:p>
                      <a:pPr algn="ctr"/>
                      <a:r>
                        <a:rPr sz="869" b="0">
                          <a:solidFill>
                            <a:srgbClr val="20242A"/>
                          </a:solidFill>
                          <a:latin typeface="Aptos"/>
                        </a:rPr>
                        <a:t>N</a:t>
                      </a:r>
                    </a:p>
                  </a:txBody>
                  <a:tcPr>
                    <a:solidFill>
                      <a:srgbClr val="F4F7F8"/>
                    </a:solidFill>
                  </a:tcPr>
                </a:tc>
                <a:extLst>
                  <a:ext uri="{0D108BD9-81ED-4DB2-BD59-A6C34878D82A}">
                    <a16:rowId xmlns:a16="http://schemas.microsoft.com/office/drawing/2014/main" val="10002"/>
                  </a:ext>
                </a:extLst>
              </a:tr>
              <a:tr h="328352">
                <a:tc>
                  <a:txBody>
                    <a:bodyPr/>
                    <a:lstStyle/>
                    <a:p>
                      <a:pPr algn="l"/>
                      <a:r>
                        <a:rPr sz="869" b="1">
                          <a:solidFill>
                            <a:srgbClr val="20242A"/>
                          </a:solidFill>
                          <a:latin typeface="Aptos"/>
                        </a:rPr>
                        <a:t>C3: Leave dates valid</a:t>
                      </a:r>
                    </a:p>
                  </a:txBody>
                  <a:tcPr>
                    <a:solidFill>
                      <a:srgbClr val="DDF1F4"/>
                    </a:solidFill>
                  </a:tcPr>
                </a:tc>
                <a:tc>
                  <a:txBody>
                    <a:bodyPr/>
                    <a:lstStyle/>
                    <a:p>
                      <a:pPr algn="ctr"/>
                      <a:r>
                        <a:rPr sz="869" b="0">
                          <a:solidFill>
                            <a:srgbClr val="20242A"/>
                          </a:solidFill>
                          <a:latin typeface="Aptos"/>
                        </a:rPr>
                        <a:t>–</a:t>
                      </a:r>
                    </a:p>
                  </a:txBody>
                  <a:tcPr>
                    <a:solidFill>
                      <a:srgbClr val="FFFFFF"/>
                    </a:solidFill>
                  </a:tcPr>
                </a:tc>
                <a:tc>
                  <a:txBody>
                    <a:bodyPr/>
                    <a:lstStyle/>
                    <a:p>
                      <a:pPr algn="ctr"/>
                      <a:r>
                        <a:rPr sz="869" b="0">
                          <a:solidFill>
                            <a:srgbClr val="20242A"/>
                          </a:solidFill>
                          <a:latin typeface="Aptos"/>
                        </a:rPr>
                        <a:t>Y</a:t>
                      </a:r>
                    </a:p>
                  </a:txBody>
                  <a:tcPr>
                    <a:solidFill>
                      <a:srgbClr val="FFFFFF"/>
                    </a:solidFill>
                  </a:tcPr>
                </a:tc>
                <a:tc>
                  <a:txBody>
                    <a:bodyPr/>
                    <a:lstStyle/>
                    <a:p>
                      <a:pPr algn="ctr"/>
                      <a:r>
                        <a:rPr sz="869" b="0">
                          <a:solidFill>
                            <a:srgbClr val="20242A"/>
                          </a:solidFill>
                          <a:latin typeface="Aptos"/>
                        </a:rPr>
                        <a:t>Y</a:t>
                      </a:r>
                    </a:p>
                  </a:txBody>
                  <a:tcPr>
                    <a:solidFill>
                      <a:srgbClr val="FFFFFF"/>
                    </a:solidFill>
                  </a:tcPr>
                </a:tc>
                <a:tc>
                  <a:txBody>
                    <a:bodyPr/>
                    <a:lstStyle/>
                    <a:p>
                      <a:pPr algn="ctr"/>
                      <a:r>
                        <a:rPr sz="869" b="0">
                          <a:solidFill>
                            <a:srgbClr val="20242A"/>
                          </a:solidFill>
                          <a:latin typeface="Aptos"/>
                        </a:rPr>
                        <a:t>Y</a:t>
                      </a:r>
                    </a:p>
                  </a:txBody>
                  <a:tcPr>
                    <a:solidFill>
                      <a:srgbClr val="FFFFFF"/>
                    </a:solidFill>
                  </a:tcPr>
                </a:tc>
                <a:tc>
                  <a:txBody>
                    <a:bodyPr/>
                    <a:lstStyle/>
                    <a:p>
                      <a:pPr algn="ctr"/>
                      <a:r>
                        <a:rPr sz="869" b="0">
                          <a:solidFill>
                            <a:srgbClr val="20242A"/>
                          </a:solidFill>
                          <a:latin typeface="Aptos"/>
                        </a:rPr>
                        <a:t>N</a:t>
                      </a:r>
                    </a:p>
                  </a:txBody>
                  <a:tcPr>
                    <a:solidFill>
                      <a:srgbClr val="FFFFFF"/>
                    </a:solidFill>
                  </a:tcPr>
                </a:tc>
                <a:tc>
                  <a:txBody>
                    <a:bodyPr/>
                    <a:lstStyle/>
                    <a:p>
                      <a:pPr algn="ctr"/>
                      <a:r>
                        <a:rPr sz="869" b="0">
                          <a:solidFill>
                            <a:srgbClr val="20242A"/>
                          </a:solidFill>
                          <a:latin typeface="Aptos"/>
                        </a:rPr>
                        <a:t>–</a:t>
                      </a:r>
                    </a:p>
                  </a:txBody>
                  <a:tcPr>
                    <a:solidFill>
                      <a:srgbClr val="FFFFFF"/>
                    </a:solidFill>
                  </a:tcPr>
                </a:tc>
                <a:extLst>
                  <a:ext uri="{0D108BD9-81ED-4DB2-BD59-A6C34878D82A}">
                    <a16:rowId xmlns:a16="http://schemas.microsoft.com/office/drawing/2014/main" val="10003"/>
                  </a:ext>
                </a:extLst>
              </a:tr>
              <a:tr h="328352">
                <a:tc>
                  <a:txBody>
                    <a:bodyPr/>
                    <a:lstStyle/>
                    <a:p>
                      <a:pPr algn="l"/>
                      <a:r>
                        <a:rPr sz="869" b="1">
                          <a:solidFill>
                            <a:srgbClr val="20242A"/>
                          </a:solidFill>
                          <a:latin typeface="Aptos"/>
                        </a:rPr>
                        <a:t>C4: Leave balance sufficient</a:t>
                      </a:r>
                    </a:p>
                  </a:txBody>
                  <a:tcPr>
                    <a:solidFill>
                      <a:srgbClr val="DDF1F4"/>
                    </a:solidFill>
                  </a:tcPr>
                </a:tc>
                <a:tc>
                  <a:txBody>
                    <a:bodyPr/>
                    <a:lstStyle/>
                    <a:p>
                      <a:pPr algn="ctr"/>
                      <a:r>
                        <a:rPr sz="869" b="0">
                          <a:solidFill>
                            <a:srgbClr val="20242A"/>
                          </a:solidFill>
                          <a:latin typeface="Aptos"/>
                        </a:rPr>
                        <a:t>–</a:t>
                      </a:r>
                    </a:p>
                  </a:txBody>
                  <a:tcPr>
                    <a:solidFill>
                      <a:srgbClr val="F4F7F8"/>
                    </a:solidFill>
                  </a:tcPr>
                </a:tc>
                <a:tc>
                  <a:txBody>
                    <a:bodyPr/>
                    <a:lstStyle/>
                    <a:p>
                      <a:pPr algn="ctr"/>
                      <a:r>
                        <a:rPr sz="869" b="0">
                          <a:solidFill>
                            <a:srgbClr val="20242A"/>
                          </a:solidFill>
                          <a:latin typeface="Aptos"/>
                        </a:rPr>
                        <a:t>Y</a:t>
                      </a:r>
                    </a:p>
                  </a:txBody>
                  <a:tcPr>
                    <a:solidFill>
                      <a:srgbClr val="F4F7F8"/>
                    </a:solidFill>
                  </a:tcPr>
                </a:tc>
                <a:tc>
                  <a:txBody>
                    <a:bodyPr/>
                    <a:lstStyle/>
                    <a:p>
                      <a:pPr algn="ctr"/>
                      <a:r>
                        <a:rPr sz="869" b="0">
                          <a:solidFill>
                            <a:srgbClr val="20242A"/>
                          </a:solidFill>
                          <a:latin typeface="Aptos"/>
                        </a:rPr>
                        <a:t>Y</a:t>
                      </a:r>
                    </a:p>
                  </a:txBody>
                  <a:tcPr>
                    <a:solidFill>
                      <a:srgbClr val="F4F7F8"/>
                    </a:solidFill>
                  </a:tcPr>
                </a:tc>
                <a:tc>
                  <a:txBody>
                    <a:bodyPr/>
                    <a:lstStyle/>
                    <a:p>
                      <a:pPr algn="ctr"/>
                      <a:r>
                        <a:rPr sz="869" b="0">
                          <a:solidFill>
                            <a:srgbClr val="20242A"/>
                          </a:solidFill>
                          <a:latin typeface="Aptos"/>
                        </a:rPr>
                        <a:t>N</a:t>
                      </a:r>
                    </a:p>
                  </a:txBody>
                  <a:tcPr>
                    <a:solidFill>
                      <a:srgbClr val="F4F7F8"/>
                    </a:solidFill>
                  </a:tcPr>
                </a:tc>
                <a:tc>
                  <a:txBody>
                    <a:bodyPr/>
                    <a:lstStyle/>
                    <a:p>
                      <a:pPr algn="ctr"/>
                      <a:r>
                        <a:rPr sz="869" b="0">
                          <a:solidFill>
                            <a:srgbClr val="20242A"/>
                          </a:solidFill>
                          <a:latin typeface="Aptos"/>
                        </a:rPr>
                        <a:t>–</a:t>
                      </a:r>
                    </a:p>
                  </a:txBody>
                  <a:tcPr>
                    <a:solidFill>
                      <a:srgbClr val="F4F7F8"/>
                    </a:solidFill>
                  </a:tcPr>
                </a:tc>
                <a:tc>
                  <a:txBody>
                    <a:bodyPr/>
                    <a:lstStyle/>
                    <a:p>
                      <a:pPr algn="ctr"/>
                      <a:r>
                        <a:rPr sz="869" b="0">
                          <a:solidFill>
                            <a:srgbClr val="20242A"/>
                          </a:solidFill>
                          <a:latin typeface="Aptos"/>
                        </a:rPr>
                        <a:t>–</a:t>
                      </a:r>
                    </a:p>
                  </a:txBody>
                  <a:tcPr>
                    <a:solidFill>
                      <a:srgbClr val="F4F7F8"/>
                    </a:solidFill>
                  </a:tcPr>
                </a:tc>
                <a:extLst>
                  <a:ext uri="{0D108BD9-81ED-4DB2-BD59-A6C34878D82A}">
                    <a16:rowId xmlns:a16="http://schemas.microsoft.com/office/drawing/2014/main" val="10004"/>
                  </a:ext>
                </a:extLst>
              </a:tr>
              <a:tr h="328352">
                <a:tc>
                  <a:txBody>
                    <a:bodyPr/>
                    <a:lstStyle/>
                    <a:p>
                      <a:pPr algn="l"/>
                      <a:r>
                        <a:rPr sz="869" b="1">
                          <a:solidFill>
                            <a:srgbClr val="20242A"/>
                          </a:solidFill>
                          <a:latin typeface="Aptos"/>
                        </a:rPr>
                        <a:t>C5: Manager approves</a:t>
                      </a:r>
                    </a:p>
                  </a:txBody>
                  <a:tcPr>
                    <a:solidFill>
                      <a:srgbClr val="DDF1F4"/>
                    </a:solidFill>
                  </a:tcPr>
                </a:tc>
                <a:tc>
                  <a:txBody>
                    <a:bodyPr/>
                    <a:lstStyle/>
                    <a:p>
                      <a:pPr algn="ctr"/>
                      <a:r>
                        <a:rPr sz="869" b="0">
                          <a:solidFill>
                            <a:srgbClr val="20242A"/>
                          </a:solidFill>
                          <a:latin typeface="Aptos"/>
                        </a:rPr>
                        <a:t>–</a:t>
                      </a:r>
                    </a:p>
                  </a:txBody>
                  <a:tcPr>
                    <a:solidFill>
                      <a:srgbClr val="FFFFFF"/>
                    </a:solidFill>
                  </a:tcPr>
                </a:tc>
                <a:tc>
                  <a:txBody>
                    <a:bodyPr/>
                    <a:lstStyle/>
                    <a:p>
                      <a:pPr algn="ctr"/>
                      <a:r>
                        <a:rPr sz="869" b="0">
                          <a:solidFill>
                            <a:srgbClr val="20242A"/>
                          </a:solidFill>
                          <a:latin typeface="Aptos"/>
                        </a:rPr>
                        <a:t>Y</a:t>
                      </a:r>
                    </a:p>
                  </a:txBody>
                  <a:tcPr>
                    <a:solidFill>
                      <a:srgbClr val="FFFFFF"/>
                    </a:solidFill>
                  </a:tcPr>
                </a:tc>
                <a:tc>
                  <a:txBody>
                    <a:bodyPr/>
                    <a:lstStyle/>
                    <a:p>
                      <a:pPr algn="ctr"/>
                      <a:r>
                        <a:rPr sz="869" b="0">
                          <a:solidFill>
                            <a:srgbClr val="20242A"/>
                          </a:solidFill>
                          <a:latin typeface="Aptos"/>
                        </a:rPr>
                        <a:t>N</a:t>
                      </a:r>
                    </a:p>
                  </a:txBody>
                  <a:tcPr>
                    <a:solidFill>
                      <a:srgbClr val="FFFFFF"/>
                    </a:solidFill>
                  </a:tcPr>
                </a:tc>
                <a:tc>
                  <a:txBody>
                    <a:bodyPr/>
                    <a:lstStyle/>
                    <a:p>
                      <a:pPr algn="ctr"/>
                      <a:r>
                        <a:rPr sz="869" b="0">
                          <a:solidFill>
                            <a:srgbClr val="20242A"/>
                          </a:solidFill>
                          <a:latin typeface="Aptos"/>
                        </a:rPr>
                        <a:t>–</a:t>
                      </a:r>
                    </a:p>
                  </a:txBody>
                  <a:tcPr>
                    <a:solidFill>
                      <a:srgbClr val="FFFFFF"/>
                    </a:solidFill>
                  </a:tcPr>
                </a:tc>
                <a:tc>
                  <a:txBody>
                    <a:bodyPr/>
                    <a:lstStyle/>
                    <a:p>
                      <a:pPr algn="ctr"/>
                      <a:r>
                        <a:rPr sz="869" b="0">
                          <a:solidFill>
                            <a:srgbClr val="20242A"/>
                          </a:solidFill>
                          <a:latin typeface="Aptos"/>
                        </a:rPr>
                        <a:t>–</a:t>
                      </a:r>
                    </a:p>
                  </a:txBody>
                  <a:tcPr>
                    <a:solidFill>
                      <a:srgbClr val="FFFFFF"/>
                    </a:solidFill>
                  </a:tcPr>
                </a:tc>
                <a:tc>
                  <a:txBody>
                    <a:bodyPr/>
                    <a:lstStyle/>
                    <a:p>
                      <a:pPr algn="ctr"/>
                      <a:r>
                        <a:rPr sz="869" b="0">
                          <a:solidFill>
                            <a:srgbClr val="20242A"/>
                          </a:solidFill>
                          <a:latin typeface="Aptos"/>
                        </a:rPr>
                        <a:t>–</a:t>
                      </a:r>
                    </a:p>
                  </a:txBody>
                  <a:tcPr>
                    <a:solidFill>
                      <a:srgbClr val="FFFFFF"/>
                    </a:solidFill>
                  </a:tcPr>
                </a:tc>
                <a:extLst>
                  <a:ext uri="{0D108BD9-81ED-4DB2-BD59-A6C34878D82A}">
                    <a16:rowId xmlns:a16="http://schemas.microsoft.com/office/drawing/2014/main" val="10005"/>
                  </a:ext>
                </a:extLst>
              </a:tr>
              <a:tr h="328352">
                <a:tc>
                  <a:txBody>
                    <a:bodyPr/>
                    <a:lstStyle/>
                    <a:p>
                      <a:pPr algn="l"/>
                      <a:r>
                        <a:rPr sz="869" b="1">
                          <a:solidFill>
                            <a:srgbClr val="FFFFFF"/>
                          </a:solidFill>
                          <a:latin typeface="Aptos"/>
                        </a:rPr>
                        <a:t>Actions</a:t>
                      </a:r>
                    </a:p>
                  </a:txBody>
                  <a:tcPr>
                    <a:solidFill>
                      <a:srgbClr val="5F6770"/>
                    </a:solidFill>
                  </a:tcPr>
                </a:tc>
                <a:tc>
                  <a:txBody>
                    <a:bodyPr/>
                    <a:lstStyle/>
                    <a:p>
                      <a:pPr algn="ctr"/>
                      <a:endParaRPr/>
                    </a:p>
                  </a:txBody>
                  <a:tcPr>
                    <a:solidFill>
                      <a:srgbClr val="5F6770"/>
                    </a:solidFill>
                  </a:tcPr>
                </a:tc>
                <a:tc>
                  <a:txBody>
                    <a:bodyPr/>
                    <a:lstStyle/>
                    <a:p>
                      <a:pPr algn="ctr"/>
                      <a:endParaRPr/>
                    </a:p>
                  </a:txBody>
                  <a:tcPr>
                    <a:solidFill>
                      <a:srgbClr val="5F6770"/>
                    </a:solidFill>
                  </a:tcPr>
                </a:tc>
                <a:tc>
                  <a:txBody>
                    <a:bodyPr/>
                    <a:lstStyle/>
                    <a:p>
                      <a:pPr algn="ctr"/>
                      <a:endParaRPr/>
                    </a:p>
                  </a:txBody>
                  <a:tcPr>
                    <a:solidFill>
                      <a:srgbClr val="5F6770"/>
                    </a:solidFill>
                  </a:tcPr>
                </a:tc>
                <a:tc>
                  <a:txBody>
                    <a:bodyPr/>
                    <a:lstStyle/>
                    <a:p>
                      <a:pPr algn="ctr"/>
                      <a:endParaRPr/>
                    </a:p>
                  </a:txBody>
                  <a:tcPr>
                    <a:solidFill>
                      <a:srgbClr val="5F6770"/>
                    </a:solidFill>
                  </a:tcPr>
                </a:tc>
                <a:tc>
                  <a:txBody>
                    <a:bodyPr/>
                    <a:lstStyle/>
                    <a:p>
                      <a:pPr algn="ctr"/>
                      <a:endParaRPr/>
                    </a:p>
                  </a:txBody>
                  <a:tcPr>
                    <a:solidFill>
                      <a:srgbClr val="5F6770"/>
                    </a:solidFill>
                  </a:tcPr>
                </a:tc>
                <a:tc>
                  <a:txBody>
                    <a:bodyPr/>
                    <a:lstStyle/>
                    <a:p>
                      <a:pPr algn="ctr"/>
                      <a:endParaRPr/>
                    </a:p>
                  </a:txBody>
                  <a:tcPr>
                    <a:solidFill>
                      <a:srgbClr val="5F6770"/>
                    </a:solidFill>
                  </a:tcPr>
                </a:tc>
                <a:extLst>
                  <a:ext uri="{0D108BD9-81ED-4DB2-BD59-A6C34878D82A}">
                    <a16:rowId xmlns:a16="http://schemas.microsoft.com/office/drawing/2014/main" val="10006"/>
                  </a:ext>
                </a:extLst>
              </a:tr>
              <a:tr h="328352">
                <a:tc>
                  <a:txBody>
                    <a:bodyPr/>
                    <a:lstStyle/>
                    <a:p>
                      <a:pPr algn="l"/>
                      <a:r>
                        <a:rPr sz="869" b="1">
                          <a:solidFill>
                            <a:srgbClr val="20242A"/>
                          </a:solidFill>
                          <a:latin typeface="Aptos"/>
                        </a:rPr>
                        <a:t>A1: Leave is approved</a:t>
                      </a:r>
                    </a:p>
                  </a:txBody>
                  <a:tcPr>
                    <a:solidFill>
                      <a:srgbClr val="DDF1F4"/>
                    </a:solidFill>
                  </a:tcPr>
                </a:tc>
                <a:tc>
                  <a:txBody>
                    <a:bodyPr/>
                    <a:lstStyle/>
                    <a:p>
                      <a:pPr algn="ctr"/>
                      <a:endParaRPr/>
                    </a:p>
                  </a:txBody>
                  <a:tcPr>
                    <a:solidFill>
                      <a:srgbClr val="FFFFFF"/>
                    </a:solidFill>
                  </a:tcPr>
                </a:tc>
                <a:tc>
                  <a:txBody>
                    <a:bodyPr/>
                    <a:lstStyle/>
                    <a:p>
                      <a:pPr algn="ctr"/>
                      <a:r>
                        <a:rPr sz="869" b="0">
                          <a:solidFill>
                            <a:srgbClr val="20242A"/>
                          </a:solidFill>
                          <a:latin typeface="Aptos"/>
                        </a:rPr>
                        <a:t>✓</a:t>
                      </a:r>
                    </a:p>
                  </a:txBody>
                  <a:tcPr>
                    <a:solidFill>
                      <a:srgbClr val="FFFFFF"/>
                    </a:solidFill>
                  </a:tcPr>
                </a:tc>
                <a:tc>
                  <a:txBody>
                    <a:bodyPr/>
                    <a:lstStyle/>
                    <a:p>
                      <a:pPr algn="ctr"/>
                      <a:endParaRPr/>
                    </a:p>
                  </a:txBody>
                  <a:tcPr>
                    <a:solidFill>
                      <a:srgbClr val="FFFFFF"/>
                    </a:solidFill>
                  </a:tcPr>
                </a:tc>
                <a:tc>
                  <a:txBody>
                    <a:bodyPr/>
                    <a:lstStyle/>
                    <a:p>
                      <a:pPr algn="ctr"/>
                      <a:endParaRPr/>
                    </a:p>
                  </a:txBody>
                  <a:tcPr>
                    <a:solidFill>
                      <a:srgbClr val="FFFFFF"/>
                    </a:solidFill>
                  </a:tcPr>
                </a:tc>
                <a:tc>
                  <a:txBody>
                    <a:bodyPr/>
                    <a:lstStyle/>
                    <a:p>
                      <a:pPr algn="ctr"/>
                      <a:endParaRPr/>
                    </a:p>
                  </a:txBody>
                  <a:tcPr>
                    <a:solidFill>
                      <a:srgbClr val="FFFFFF"/>
                    </a:solidFill>
                  </a:tcPr>
                </a:tc>
                <a:tc>
                  <a:txBody>
                    <a:bodyPr/>
                    <a:lstStyle/>
                    <a:p>
                      <a:pPr algn="ctr"/>
                      <a:endParaRPr/>
                    </a:p>
                  </a:txBody>
                  <a:tcPr>
                    <a:solidFill>
                      <a:srgbClr val="FFFFFF"/>
                    </a:solidFill>
                  </a:tcPr>
                </a:tc>
                <a:extLst>
                  <a:ext uri="{0D108BD9-81ED-4DB2-BD59-A6C34878D82A}">
                    <a16:rowId xmlns:a16="http://schemas.microsoft.com/office/drawing/2014/main" val="10007"/>
                  </a:ext>
                </a:extLst>
              </a:tr>
              <a:tr h="328352">
                <a:tc>
                  <a:txBody>
                    <a:bodyPr/>
                    <a:lstStyle/>
                    <a:p>
                      <a:pPr algn="l"/>
                      <a:r>
                        <a:rPr sz="869" b="1">
                          <a:solidFill>
                            <a:srgbClr val="20242A"/>
                          </a:solidFill>
                          <a:latin typeface="Aptos"/>
                        </a:rPr>
                        <a:t>A2: Leave is rejected</a:t>
                      </a:r>
                    </a:p>
                  </a:txBody>
                  <a:tcPr>
                    <a:solidFill>
                      <a:srgbClr val="DDF1F4"/>
                    </a:solidFill>
                  </a:tcPr>
                </a:tc>
                <a:tc>
                  <a:txBody>
                    <a:bodyPr/>
                    <a:lstStyle/>
                    <a:p>
                      <a:pPr algn="ctr"/>
                      <a:endParaRPr/>
                    </a:p>
                  </a:txBody>
                  <a:tcPr>
                    <a:solidFill>
                      <a:srgbClr val="F4F7F8"/>
                    </a:solidFill>
                  </a:tcPr>
                </a:tc>
                <a:tc>
                  <a:txBody>
                    <a:bodyPr/>
                    <a:lstStyle/>
                    <a:p>
                      <a:pPr algn="ctr"/>
                      <a:endParaRPr/>
                    </a:p>
                  </a:txBody>
                  <a:tcPr>
                    <a:solidFill>
                      <a:srgbClr val="F4F7F8"/>
                    </a:solidFill>
                  </a:tcPr>
                </a:tc>
                <a:tc>
                  <a:txBody>
                    <a:bodyPr/>
                    <a:lstStyle/>
                    <a:p>
                      <a:pPr algn="ctr"/>
                      <a:r>
                        <a:rPr sz="869" b="0">
                          <a:solidFill>
                            <a:srgbClr val="20242A"/>
                          </a:solidFill>
                          <a:latin typeface="Aptos"/>
                        </a:rPr>
                        <a:t>✓</a:t>
                      </a:r>
                    </a:p>
                  </a:txBody>
                  <a:tcPr>
                    <a:solidFill>
                      <a:srgbClr val="F4F7F8"/>
                    </a:solidFill>
                  </a:tcPr>
                </a:tc>
                <a:tc>
                  <a:txBody>
                    <a:bodyPr/>
                    <a:lstStyle/>
                    <a:p>
                      <a:pPr algn="ctr"/>
                      <a:r>
                        <a:rPr sz="869" b="0">
                          <a:solidFill>
                            <a:srgbClr val="20242A"/>
                          </a:solidFill>
                          <a:latin typeface="Aptos"/>
                        </a:rPr>
                        <a:t>✓</a:t>
                      </a:r>
                    </a:p>
                  </a:txBody>
                  <a:tcPr>
                    <a:solidFill>
                      <a:srgbClr val="F4F7F8"/>
                    </a:solidFill>
                  </a:tcPr>
                </a:tc>
                <a:tc>
                  <a:txBody>
                    <a:bodyPr/>
                    <a:lstStyle/>
                    <a:p>
                      <a:pPr algn="ctr"/>
                      <a:endParaRPr/>
                    </a:p>
                  </a:txBody>
                  <a:tcPr>
                    <a:solidFill>
                      <a:srgbClr val="F4F7F8"/>
                    </a:solidFill>
                  </a:tcPr>
                </a:tc>
                <a:tc>
                  <a:txBody>
                    <a:bodyPr/>
                    <a:lstStyle/>
                    <a:p>
                      <a:pPr algn="ctr"/>
                      <a:endParaRPr/>
                    </a:p>
                  </a:txBody>
                  <a:tcPr>
                    <a:solidFill>
                      <a:srgbClr val="F4F7F8"/>
                    </a:solidFill>
                  </a:tcPr>
                </a:tc>
                <a:extLst>
                  <a:ext uri="{0D108BD9-81ED-4DB2-BD59-A6C34878D82A}">
                    <a16:rowId xmlns:a16="http://schemas.microsoft.com/office/drawing/2014/main" val="10008"/>
                  </a:ext>
                </a:extLst>
              </a:tr>
              <a:tr h="328352">
                <a:tc>
                  <a:txBody>
                    <a:bodyPr/>
                    <a:lstStyle/>
                    <a:p>
                      <a:pPr algn="l"/>
                      <a:r>
                        <a:rPr sz="869" b="1">
                          <a:solidFill>
                            <a:srgbClr val="20242A"/>
                          </a:solidFill>
                          <a:latin typeface="Aptos"/>
                        </a:rPr>
                        <a:t>A3: Already processed</a:t>
                      </a:r>
                    </a:p>
                  </a:txBody>
                  <a:tcPr>
                    <a:solidFill>
                      <a:srgbClr val="DDF1F4"/>
                    </a:solidFill>
                  </a:tcPr>
                </a:tc>
                <a:tc>
                  <a:txBody>
                    <a:bodyPr/>
                    <a:lstStyle/>
                    <a:p>
                      <a:pPr algn="ctr"/>
                      <a:r>
                        <a:rPr sz="869" b="0">
                          <a:solidFill>
                            <a:srgbClr val="20242A"/>
                          </a:solidFill>
                          <a:latin typeface="Aptos"/>
                        </a:rPr>
                        <a:t>✓</a:t>
                      </a:r>
                    </a:p>
                  </a:txBody>
                  <a:tcPr>
                    <a:solidFill>
                      <a:srgbClr val="FFFFFF"/>
                    </a:solidFill>
                  </a:tcPr>
                </a:tc>
                <a:tc>
                  <a:txBody>
                    <a:bodyPr/>
                    <a:lstStyle/>
                    <a:p>
                      <a:pPr algn="ctr"/>
                      <a:endParaRPr/>
                    </a:p>
                  </a:txBody>
                  <a:tcPr>
                    <a:solidFill>
                      <a:srgbClr val="FFFFFF"/>
                    </a:solidFill>
                  </a:tcPr>
                </a:tc>
                <a:tc>
                  <a:txBody>
                    <a:bodyPr/>
                    <a:lstStyle/>
                    <a:p>
                      <a:pPr algn="ctr"/>
                      <a:endParaRPr/>
                    </a:p>
                  </a:txBody>
                  <a:tcPr>
                    <a:solidFill>
                      <a:srgbClr val="FFFFFF"/>
                    </a:solidFill>
                  </a:tcPr>
                </a:tc>
                <a:tc>
                  <a:txBody>
                    <a:bodyPr/>
                    <a:lstStyle/>
                    <a:p>
                      <a:pPr algn="ctr"/>
                      <a:endParaRPr/>
                    </a:p>
                  </a:txBody>
                  <a:tcPr>
                    <a:solidFill>
                      <a:srgbClr val="FFFFFF"/>
                    </a:solidFill>
                  </a:tcPr>
                </a:tc>
                <a:tc>
                  <a:txBody>
                    <a:bodyPr/>
                    <a:lstStyle/>
                    <a:p>
                      <a:pPr algn="ctr"/>
                      <a:endParaRPr/>
                    </a:p>
                  </a:txBody>
                  <a:tcPr>
                    <a:solidFill>
                      <a:srgbClr val="FFFFFF"/>
                    </a:solidFill>
                  </a:tcPr>
                </a:tc>
                <a:tc>
                  <a:txBody>
                    <a:bodyPr/>
                    <a:lstStyle/>
                    <a:p>
                      <a:pPr algn="ctr"/>
                      <a:endParaRPr/>
                    </a:p>
                  </a:txBody>
                  <a:tcPr>
                    <a:solidFill>
                      <a:srgbClr val="FFFFFF"/>
                    </a:solidFill>
                  </a:tcPr>
                </a:tc>
                <a:extLst>
                  <a:ext uri="{0D108BD9-81ED-4DB2-BD59-A6C34878D82A}">
                    <a16:rowId xmlns:a16="http://schemas.microsoft.com/office/drawing/2014/main" val="10009"/>
                  </a:ext>
                </a:extLst>
              </a:tr>
              <a:tr h="328360">
                <a:tc>
                  <a:txBody>
                    <a:bodyPr/>
                    <a:lstStyle/>
                    <a:p>
                      <a:pPr algn="l"/>
                      <a:r>
                        <a:rPr sz="869" b="1">
                          <a:solidFill>
                            <a:srgbClr val="20242A"/>
                          </a:solidFill>
                          <a:latin typeface="Aptos"/>
                        </a:rPr>
                        <a:t>A4: Error message</a:t>
                      </a:r>
                    </a:p>
                  </a:txBody>
                  <a:tcPr>
                    <a:solidFill>
                      <a:srgbClr val="DDF1F4"/>
                    </a:solidFill>
                  </a:tcPr>
                </a:tc>
                <a:tc>
                  <a:txBody>
                    <a:bodyPr/>
                    <a:lstStyle/>
                    <a:p>
                      <a:pPr algn="ctr"/>
                      <a:endParaRPr/>
                    </a:p>
                  </a:txBody>
                  <a:tcPr>
                    <a:solidFill>
                      <a:srgbClr val="F4F7F8"/>
                    </a:solidFill>
                  </a:tcPr>
                </a:tc>
                <a:tc>
                  <a:txBody>
                    <a:bodyPr/>
                    <a:lstStyle/>
                    <a:p>
                      <a:pPr algn="ctr"/>
                      <a:endParaRPr/>
                    </a:p>
                  </a:txBody>
                  <a:tcPr>
                    <a:solidFill>
                      <a:srgbClr val="F4F7F8"/>
                    </a:solidFill>
                  </a:tcPr>
                </a:tc>
                <a:tc>
                  <a:txBody>
                    <a:bodyPr/>
                    <a:lstStyle/>
                    <a:p>
                      <a:pPr algn="ctr"/>
                      <a:endParaRPr/>
                    </a:p>
                  </a:txBody>
                  <a:tcPr>
                    <a:solidFill>
                      <a:srgbClr val="F4F7F8"/>
                    </a:solidFill>
                  </a:tcPr>
                </a:tc>
                <a:tc>
                  <a:txBody>
                    <a:bodyPr/>
                    <a:lstStyle/>
                    <a:p>
                      <a:pPr algn="ctr"/>
                      <a:endParaRPr/>
                    </a:p>
                  </a:txBody>
                  <a:tcPr>
                    <a:solidFill>
                      <a:srgbClr val="F4F7F8"/>
                    </a:solidFill>
                  </a:tcPr>
                </a:tc>
                <a:tc>
                  <a:txBody>
                    <a:bodyPr/>
                    <a:lstStyle/>
                    <a:p>
                      <a:pPr algn="ctr"/>
                      <a:r>
                        <a:rPr sz="869" b="0">
                          <a:solidFill>
                            <a:srgbClr val="20242A"/>
                          </a:solidFill>
                          <a:latin typeface="Aptos"/>
                        </a:rPr>
                        <a:t>✓</a:t>
                      </a:r>
                    </a:p>
                  </a:txBody>
                  <a:tcPr>
                    <a:solidFill>
                      <a:srgbClr val="F4F7F8"/>
                    </a:solidFill>
                  </a:tcPr>
                </a:tc>
                <a:tc>
                  <a:txBody>
                    <a:bodyPr/>
                    <a:lstStyle/>
                    <a:p>
                      <a:pPr algn="ctr"/>
                      <a:r>
                        <a:rPr sz="869" b="0">
                          <a:solidFill>
                            <a:srgbClr val="20242A"/>
                          </a:solidFill>
                          <a:latin typeface="Aptos"/>
                        </a:rPr>
                        <a:t>✓</a:t>
                      </a:r>
                    </a:p>
                  </a:txBody>
                  <a:tcPr>
                    <a:solidFill>
                      <a:srgbClr val="F4F7F8"/>
                    </a:solidFill>
                  </a:tcPr>
                </a:tc>
                <a:extLst>
                  <a:ext uri="{0D108BD9-81ED-4DB2-BD59-A6C34878D82A}">
                    <a16:rowId xmlns:a16="http://schemas.microsoft.com/office/drawing/2014/main" val="10010"/>
                  </a:ext>
                </a:extLst>
              </a:tr>
            </a:tbl>
          </a:graphicData>
        </a:graphic>
      </p:graphicFrame>
      <p:sp>
        <p:nvSpPr>
          <p:cNvPr id="10" name="Rounded Rectangle 9"/>
          <p:cNvSpPr/>
          <p:nvPr/>
        </p:nvSpPr>
        <p:spPr>
          <a:xfrm>
            <a:off x="914400" y="5687568"/>
            <a:ext cx="10195560" cy="502920"/>
          </a:xfrm>
          <a:prstGeom prst="roundRect">
            <a:avLst/>
          </a:prstGeom>
          <a:solidFill>
            <a:srgbClr val="DDF1F4"/>
          </a:solidFill>
          <a:ln w="12700">
            <a:solidFill>
              <a:srgbClr val="1C707C"/>
            </a:solidFill>
          </a:ln>
        </p:spPr>
        <p:style>
          <a:lnRef idx="1">
            <a:schemeClr val="accent1"/>
          </a:lnRef>
          <a:fillRef idx="3">
            <a:schemeClr val="accent1"/>
          </a:fillRef>
          <a:effectRef idx="2">
            <a:schemeClr val="accent1"/>
          </a:effectRef>
          <a:fontRef idx="minor">
            <a:schemeClr val="lt1"/>
          </a:fontRef>
        </p:style>
        <p:txBody>
          <a:bodyPr lIns="137160" tIns="54864" rIns="137160" rtlCol="0" anchor="ctr"/>
          <a:lstStyle/>
          <a:p>
            <a:r>
              <a:rPr sz="1300">
                <a:solidFill>
                  <a:srgbClr val="3C3C3C"/>
                </a:solidFill>
              </a:rPr>
              <a:t>Interpretation: R2 is the only fully approved path. R3–R4 reject the request, R1 returns “already processed,” and R5–R6 trigger validation errors before approval can continue.</a:t>
            </a:r>
          </a:p>
        </p:txBody>
      </p:sp>
      <p:sp>
        <p:nvSpPr>
          <p:cNvPr id="8" name="TextBox 2">
            <a:extLst>
              <a:ext uri="{FF2B5EF4-FFF2-40B4-BE49-F238E27FC236}">
                <a16:creationId xmlns:a16="http://schemas.microsoft.com/office/drawing/2014/main" id="{44C73D7E-BB0D-DB48-A3DC-84561298EF48}"/>
              </a:ext>
            </a:extLst>
          </p:cNvPr>
          <p:cNvSpPr txBox="1"/>
          <p:nvPr/>
        </p:nvSpPr>
        <p:spPr>
          <a:xfrm>
            <a:off x="731520" y="640080"/>
            <a:ext cx="5669280" cy="320040"/>
          </a:xfrm>
          <a:prstGeom prst="rect">
            <a:avLst/>
          </a:prstGeom>
          <a:noFill/>
        </p:spPr>
        <p:txBody>
          <a:bodyPr wrap="square">
            <a:spAutoFit/>
          </a:bodyPr>
          <a:lstStyle/>
          <a:p>
            <a:pPr algn="l"/>
            <a:r>
              <a:rPr lang="tr-TR" sz="1400" b="1" dirty="0">
                <a:solidFill>
                  <a:srgbClr val="64748B"/>
                </a:solidFill>
                <a:latin typeface="Aptos"/>
              </a:rPr>
              <a:t>1</a:t>
            </a:r>
            <a:r>
              <a:rPr sz="1400" b="1" dirty="0">
                <a:solidFill>
                  <a:srgbClr val="64748B"/>
                </a:solidFill>
                <a:latin typeface="Aptos"/>
              </a:rPr>
              <a:t>.Functional Testing &amp; GUI Automation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C92B5-7AFF-8A9E-530F-6F2C3AEBE1D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F7BF516-95FA-3C7A-CAAD-EECD58A6D473}"/>
              </a:ext>
            </a:extLst>
          </p:cNvPr>
          <p:cNvSpPr/>
          <p:nvPr/>
        </p:nvSpPr>
        <p:spPr>
          <a:xfrm>
            <a:off x="502920" y="228600"/>
            <a:ext cx="4572000" cy="201168"/>
          </a:xfrm>
          <a:prstGeom prst="rect">
            <a:avLst/>
          </a:prstGeom>
          <a:noFill/>
          <a:ln/>
        </p:spPr>
        <p:txBody>
          <a:bodyPr wrap="square" lIns="0" tIns="0" rIns="0" bIns="0" rtlCol="0" anchor="ctr"/>
          <a:lstStyle/>
          <a:p>
            <a:pPr marL="0" indent="0">
              <a:buNone/>
            </a:pPr>
            <a:r>
              <a:rPr lang="en-US" sz="850" b="1" dirty="0">
                <a:solidFill>
                  <a:srgbClr val="F97316"/>
                </a:solidFill>
              </a:rPr>
              <a:t>SE 2226 TESTING PROJECT</a:t>
            </a:r>
            <a:endParaRPr lang="en-US" sz="850" dirty="0"/>
          </a:p>
        </p:txBody>
      </p:sp>
      <p:sp>
        <p:nvSpPr>
          <p:cNvPr id="3" name="Text 1">
            <a:extLst>
              <a:ext uri="{FF2B5EF4-FFF2-40B4-BE49-F238E27FC236}">
                <a16:creationId xmlns:a16="http://schemas.microsoft.com/office/drawing/2014/main" id="{00160364-30F4-AFD2-7D89-735D483E61CC}"/>
              </a:ext>
            </a:extLst>
          </p:cNvPr>
          <p:cNvSpPr/>
          <p:nvPr/>
        </p:nvSpPr>
        <p:spPr>
          <a:xfrm>
            <a:off x="1153160" y="1081173"/>
            <a:ext cx="8869680" cy="411480"/>
          </a:xfrm>
          <a:prstGeom prst="rect">
            <a:avLst/>
          </a:prstGeom>
          <a:noFill/>
          <a:ln/>
        </p:spPr>
        <p:txBody>
          <a:bodyPr wrap="square" lIns="0" tIns="0" rIns="0" bIns="0" rtlCol="0" anchor="ctr">
            <a:normAutofit/>
          </a:bodyPr>
          <a:lstStyle/>
          <a:p>
            <a:pPr marL="0" indent="0">
              <a:buNone/>
            </a:pPr>
            <a:r>
              <a:rPr lang="en-US" sz="2500" b="1" dirty="0">
                <a:solidFill>
                  <a:srgbClr val="101828"/>
                </a:solidFill>
              </a:rPr>
              <a:t>Automated Scenario 1 — Login </a:t>
            </a:r>
            <a:r>
              <a:rPr lang="tr-TR" sz="2500" b="1" dirty="0" err="1">
                <a:solidFill>
                  <a:srgbClr val="101828"/>
                </a:solidFill>
              </a:rPr>
              <a:t>Valid</a:t>
            </a:r>
            <a:endParaRPr lang="en-US" sz="2500" dirty="0"/>
          </a:p>
        </p:txBody>
      </p:sp>
      <p:sp>
        <p:nvSpPr>
          <p:cNvPr id="4" name="Text 2">
            <a:extLst>
              <a:ext uri="{FF2B5EF4-FFF2-40B4-BE49-F238E27FC236}">
                <a16:creationId xmlns:a16="http://schemas.microsoft.com/office/drawing/2014/main" id="{3DEF4B0B-70C8-A5EC-72EE-EB98DF5BD08A}"/>
              </a:ext>
            </a:extLst>
          </p:cNvPr>
          <p:cNvSpPr/>
          <p:nvPr/>
        </p:nvSpPr>
        <p:spPr>
          <a:xfrm>
            <a:off x="502920" y="6519672"/>
            <a:ext cx="7772400" cy="146304"/>
          </a:xfrm>
          <a:prstGeom prst="rect">
            <a:avLst/>
          </a:prstGeom>
          <a:noFill/>
          <a:ln/>
        </p:spPr>
        <p:txBody>
          <a:bodyPr wrap="square" lIns="0" tIns="0" rIns="0" bIns="0" rtlCol="0" anchor="ctr"/>
          <a:lstStyle/>
          <a:p>
            <a:pPr marL="0" indent="0">
              <a:buNone/>
            </a:pPr>
            <a:r>
              <a:rPr lang="en-US" sz="750">
                <a:solidFill>
                  <a:srgbClr val="667085"/>
                </a:solidFill>
              </a:rPr>
              <a:t>3.Functional Testing &amp; GUI Automation</a:t>
            </a:r>
            <a:endParaRPr lang="en-US" sz="750" dirty="0">
              <a:solidFill>
                <a:srgbClr val="667085"/>
              </a:solidFill>
            </a:endParaRPr>
          </a:p>
        </p:txBody>
      </p:sp>
      <p:sp>
        <p:nvSpPr>
          <p:cNvPr id="5" name="Text 3">
            <a:extLst>
              <a:ext uri="{FF2B5EF4-FFF2-40B4-BE49-F238E27FC236}">
                <a16:creationId xmlns:a16="http://schemas.microsoft.com/office/drawing/2014/main" id="{8539FFDE-30DD-E8C5-9F7C-48D17047315A}"/>
              </a:ext>
            </a:extLst>
          </p:cNvPr>
          <p:cNvSpPr/>
          <p:nvPr/>
        </p:nvSpPr>
        <p:spPr>
          <a:xfrm>
            <a:off x="502920" y="1081173"/>
            <a:ext cx="502920" cy="411480"/>
          </a:xfrm>
          <a:prstGeom prst="rect">
            <a:avLst/>
          </a:prstGeom>
          <a:noFill/>
          <a:ln/>
        </p:spPr>
        <p:txBody>
          <a:bodyPr wrap="square" lIns="0" tIns="0" rIns="0" bIns="0" rtlCol="0" anchor="ctr"/>
          <a:lstStyle/>
          <a:p>
            <a:pPr marL="0" indent="0" algn="ctr">
              <a:buNone/>
            </a:pPr>
            <a:r>
              <a:rPr lang="en-US" sz="2300" b="1" dirty="0">
                <a:solidFill>
                  <a:srgbClr val="F97316"/>
                </a:solidFill>
              </a:rPr>
              <a:t>▶</a:t>
            </a:r>
            <a:endParaRPr lang="en-US" sz="2300" dirty="0"/>
          </a:p>
        </p:txBody>
      </p:sp>
      <p:sp>
        <p:nvSpPr>
          <p:cNvPr id="25" name="Slide Number Placeholder 0">
            <a:extLst>
              <a:ext uri="{FF2B5EF4-FFF2-40B4-BE49-F238E27FC236}">
                <a16:creationId xmlns:a16="http://schemas.microsoft.com/office/drawing/2014/main" id="{1CD025CC-437E-1809-3FC2-27F97388D304}"/>
              </a:ext>
            </a:extLst>
          </p:cNvPr>
          <p:cNvSpPr>
            <a:spLocks noGrp="1"/>
          </p:cNvSpPr>
          <p:nvPr>
            <p:ph type="sldNum" sz="quarter" idx="4294967295"/>
          </p:nvPr>
        </p:nvSpPr>
        <p:spPr>
          <a:xfrm>
            <a:off x="11311128"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67085"/>
                </a:solidFill>
                <a:latin typeface="Aptos"/>
                <a:ea typeface="Aptos"/>
                <a:cs typeface="Aptos"/>
              </a:defRPr>
            </a:lvl1pPr>
          </a:lstStyle>
          <a:p>
            <a:r>
              <a:rPr sz="800" b="0">
                <a:solidFill>
                  <a:srgbClr val="FFFFFF"/>
                </a:solidFill>
              </a:rPr>
              <a:t>9</a:t>
            </a:r>
          </a:p>
        </p:txBody>
      </p:sp>
      <p:sp>
        <p:nvSpPr>
          <p:cNvPr id="17" name="Metin kutusu 16">
            <a:extLst>
              <a:ext uri="{FF2B5EF4-FFF2-40B4-BE49-F238E27FC236}">
                <a16:creationId xmlns:a16="http://schemas.microsoft.com/office/drawing/2014/main" id="{0AA1A2CC-2BA1-3138-C0C0-3CAB77CA3920}"/>
              </a:ext>
            </a:extLst>
          </p:cNvPr>
          <p:cNvSpPr txBox="1"/>
          <p:nvPr/>
        </p:nvSpPr>
        <p:spPr>
          <a:xfrm>
            <a:off x="8228125" y="1738786"/>
            <a:ext cx="3963875" cy="1384995"/>
          </a:xfrm>
          <a:prstGeom prst="rect">
            <a:avLst/>
          </a:prstGeom>
          <a:noFill/>
        </p:spPr>
        <p:txBody>
          <a:bodyPr wrap="square">
            <a:spAutoFit/>
          </a:bodyPr>
          <a:lstStyle/>
          <a:p>
            <a:r>
              <a:rPr lang="en-US" sz="1600" dirty="0"/>
              <a:t>Validating the system's core authentication flow to ensure secure access for authorized users. </a:t>
            </a:r>
            <a:endParaRPr lang="tr-TR" sz="1600" dirty="0"/>
          </a:p>
          <a:p>
            <a:endParaRPr lang="tr-TR" dirty="0"/>
          </a:p>
          <a:p>
            <a:endParaRPr lang="tr-TR" dirty="0"/>
          </a:p>
        </p:txBody>
      </p:sp>
      <p:sp>
        <p:nvSpPr>
          <p:cNvPr id="19" name="Rectangle 2">
            <a:extLst>
              <a:ext uri="{FF2B5EF4-FFF2-40B4-BE49-F238E27FC236}">
                <a16:creationId xmlns:a16="http://schemas.microsoft.com/office/drawing/2014/main" id="{002FC20A-CD77-FE05-446A-57891333B0D3}"/>
              </a:ext>
            </a:extLst>
          </p:cNvPr>
          <p:cNvSpPr>
            <a:spLocks noChangeArrowheads="1"/>
          </p:cNvSpPr>
          <p:nvPr/>
        </p:nvSpPr>
        <p:spPr bwMode="auto">
          <a:xfrm>
            <a:off x="8275320" y="2832102"/>
            <a:ext cx="3748632" cy="1769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600" b="1" i="0" u="none" strike="noStrike" cap="none" normalizeH="0" baseline="0" dirty="0" err="1">
                <a:ln>
                  <a:noFill/>
                </a:ln>
                <a:effectLst/>
              </a:rPr>
              <a:t>Scenario</a:t>
            </a:r>
            <a:r>
              <a:rPr kumimoji="0" lang="tr-TR" altLang="tr-TR" sz="1600" b="1" i="0" u="none" strike="noStrike" cap="none" normalizeH="0" baseline="0" dirty="0">
                <a:ln>
                  <a:noFill/>
                </a:ln>
                <a:effectLst/>
              </a:rPr>
              <a:t>: </a:t>
            </a:r>
            <a:r>
              <a:rPr kumimoji="0" lang="tr-TR" altLang="tr-TR" sz="1600" b="0" i="0" u="none" strike="noStrike" cap="none" normalizeH="0" baseline="0" dirty="0" err="1">
                <a:ln>
                  <a:noFill/>
                </a:ln>
                <a:effectLst/>
              </a:rPr>
              <a:t>Valid</a:t>
            </a:r>
            <a:r>
              <a:rPr kumimoji="0" lang="tr-TR" altLang="tr-TR" sz="1600" b="0" i="0" u="none" strike="noStrike" cap="none" normalizeH="0" baseline="0" dirty="0">
                <a:ln>
                  <a:noFill/>
                </a:ln>
                <a:effectLst/>
              </a:rPr>
              <a:t> </a:t>
            </a:r>
            <a:r>
              <a:rPr kumimoji="0" lang="tr-TR" altLang="tr-TR" sz="1600" b="0" i="0" u="none" strike="noStrike" cap="none" normalizeH="0" baseline="0" dirty="0" err="1">
                <a:ln>
                  <a:noFill/>
                </a:ln>
                <a:effectLst/>
              </a:rPr>
              <a:t>Username</a:t>
            </a:r>
            <a:r>
              <a:rPr kumimoji="0" lang="tr-TR" altLang="tr-TR" sz="1600" b="0" i="0" u="none" strike="noStrike" cap="none" normalizeH="0" baseline="0" dirty="0">
                <a:ln>
                  <a:noFill/>
                </a:ln>
                <a:effectLst/>
              </a:rPr>
              <a:t> / </a:t>
            </a:r>
            <a:r>
              <a:rPr kumimoji="0" lang="tr-TR" altLang="tr-TR" sz="1600" b="0" i="0" u="none" strike="noStrike" cap="none" normalizeH="0" baseline="0" dirty="0" err="1">
                <a:ln>
                  <a:noFill/>
                </a:ln>
                <a:effectLst/>
              </a:rPr>
              <a:t>Password</a:t>
            </a:r>
            <a:r>
              <a:rPr kumimoji="0" lang="tr-TR" altLang="tr-TR" sz="1600" b="0" i="0" u="none" strike="noStrike" cap="none" normalizeH="0" baseline="0" dirty="0">
                <a:ln>
                  <a:noFill/>
                </a:ln>
                <a:effectLst/>
              </a:rPr>
              <a:t> </a:t>
            </a:r>
            <a:r>
              <a:rPr kumimoji="0" lang="tr-TR" altLang="tr-TR" sz="1600" b="0" i="0" u="none" strike="noStrike" cap="none" normalizeH="0" baseline="0" dirty="0" err="1">
                <a:ln>
                  <a:noFill/>
                </a:ln>
                <a:effectLst/>
              </a:rPr>
              <a:t>combination</a:t>
            </a:r>
            <a:r>
              <a:rPr kumimoji="0" lang="tr-TR" altLang="tr-TR" sz="1600" b="0" i="0" u="none" strike="noStrike" cap="none" normalizeH="0" baseline="0" dirty="0">
                <a:ln>
                  <a:noFill/>
                </a:ln>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600" b="1" i="0" u="none" strike="noStrike" cap="none" normalizeH="0" baseline="0" dirty="0" err="1">
                <a:ln>
                  <a:noFill/>
                </a:ln>
                <a:effectLst/>
              </a:rPr>
              <a:t>Expected</a:t>
            </a:r>
            <a:r>
              <a:rPr kumimoji="0" lang="tr-TR" altLang="tr-TR" sz="1600" b="1" i="0" u="none" strike="noStrike" cap="none" normalizeH="0" baseline="0" dirty="0">
                <a:ln>
                  <a:noFill/>
                </a:ln>
                <a:effectLst/>
              </a:rPr>
              <a:t>: </a:t>
            </a:r>
            <a:r>
              <a:rPr kumimoji="0" lang="tr-TR" altLang="tr-TR" sz="1600" b="0" i="0" u="none" strike="noStrike" cap="none" normalizeH="0" baseline="0" dirty="0" err="1">
                <a:ln>
                  <a:noFill/>
                </a:ln>
                <a:effectLst/>
              </a:rPr>
              <a:t>Seamless</a:t>
            </a:r>
            <a:r>
              <a:rPr kumimoji="0" lang="tr-TR" altLang="tr-TR" sz="1600" b="0" i="0" u="none" strike="noStrike" cap="none" normalizeH="0" baseline="0" dirty="0">
                <a:ln>
                  <a:noFill/>
                </a:ln>
                <a:effectLst/>
              </a:rPr>
              <a:t> </a:t>
            </a:r>
            <a:r>
              <a:rPr kumimoji="0" lang="tr-TR" altLang="tr-TR" sz="1600" b="0" i="0" u="none" strike="noStrike" cap="none" normalizeH="0" baseline="0" dirty="0" err="1">
                <a:ln>
                  <a:noFill/>
                </a:ln>
                <a:effectLst/>
              </a:rPr>
              <a:t>redirection</a:t>
            </a:r>
            <a:r>
              <a:rPr kumimoji="0" lang="tr-TR" altLang="tr-TR" sz="1600" b="0" i="0" u="none" strike="noStrike" cap="none" normalizeH="0" baseline="0" dirty="0">
                <a:ln>
                  <a:noFill/>
                </a:ln>
                <a:effectLst/>
              </a:rPr>
              <a:t> </a:t>
            </a:r>
            <a:r>
              <a:rPr kumimoji="0" lang="tr-TR" altLang="tr-TR" sz="1600" b="0" i="0" u="none" strike="noStrike" cap="none" normalizeH="0" baseline="0" dirty="0" err="1">
                <a:ln>
                  <a:noFill/>
                </a:ln>
                <a:effectLst/>
              </a:rPr>
              <a:t>to</a:t>
            </a:r>
            <a:r>
              <a:rPr kumimoji="0" lang="tr-TR" altLang="tr-TR" sz="1600" b="0" i="0" u="none" strike="noStrike" cap="none" normalizeH="0" baseline="0" dirty="0">
                <a:ln>
                  <a:noFill/>
                </a:ln>
                <a:effectLst/>
              </a:rPr>
              <a:t> </a:t>
            </a:r>
            <a:r>
              <a:rPr kumimoji="0" lang="tr-TR" altLang="tr-TR" sz="1600" b="0" i="0" u="none" strike="noStrike" cap="none" normalizeH="0" baseline="0" dirty="0" err="1">
                <a:ln>
                  <a:noFill/>
                </a:ln>
                <a:effectLst/>
              </a:rPr>
              <a:t>the</a:t>
            </a:r>
            <a:r>
              <a:rPr kumimoji="0" lang="tr-TR" altLang="tr-TR" sz="1600" b="0" i="0" u="none" strike="noStrike" cap="none" normalizeH="0" baseline="0" dirty="0">
                <a:ln>
                  <a:noFill/>
                </a:ln>
                <a:effectLst/>
              </a:rPr>
              <a:t> Dashboard </a:t>
            </a:r>
            <a:r>
              <a:rPr kumimoji="0" lang="tr-TR" altLang="tr-TR" sz="1600" b="0" i="0" u="none" strike="noStrike" cap="none" normalizeH="0" baseline="0" dirty="0" err="1">
                <a:ln>
                  <a:noFill/>
                </a:ln>
                <a:effectLst/>
              </a:rPr>
              <a:t>across</a:t>
            </a:r>
            <a:r>
              <a:rPr kumimoji="0" lang="tr-TR" altLang="tr-TR" sz="1600" b="0" i="0" u="none" strike="noStrike" cap="none" normalizeH="0" baseline="0" dirty="0">
                <a:ln>
                  <a:noFill/>
                </a:ln>
                <a:effectLst/>
              </a:rPr>
              <a:t> </a:t>
            </a:r>
            <a:r>
              <a:rPr kumimoji="0" lang="tr-TR" altLang="tr-TR" sz="1600" b="0" i="0" u="none" strike="noStrike" cap="none" normalizeH="0" baseline="0" dirty="0" err="1">
                <a:ln>
                  <a:noFill/>
                </a:ln>
                <a:effectLst/>
              </a:rPr>
              <a:t>all</a:t>
            </a:r>
            <a:r>
              <a:rPr kumimoji="0" lang="tr-TR" altLang="tr-TR" sz="1600" b="0" i="0" u="none" strike="noStrike" cap="none" normalizeH="0" baseline="0" dirty="0">
                <a:ln>
                  <a:noFill/>
                </a:ln>
                <a:effectLst/>
              </a:rPr>
              <a:t> browser </a:t>
            </a:r>
            <a:r>
              <a:rPr kumimoji="0" lang="tr-TR" altLang="tr-TR" sz="1600" b="0" i="0" u="none" strike="noStrike" cap="none" normalizeH="0" baseline="0" dirty="0" err="1">
                <a:ln>
                  <a:noFill/>
                </a:ln>
                <a:effectLst/>
              </a:rPr>
              <a:t>environments</a:t>
            </a:r>
            <a:r>
              <a:rPr kumimoji="0" lang="tr-TR" altLang="tr-TR" sz="1600" b="0" i="0" u="none" strike="noStrike" cap="none" normalizeH="0" baseline="0" dirty="0">
                <a:ln>
                  <a:noFill/>
                </a:ln>
                <a:effectLst/>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tr-TR" altLang="tr-TR" sz="1600" b="1" i="0" u="none" strike="noStrike" cap="none" normalizeH="0" baseline="0" dirty="0" err="1">
                <a:ln>
                  <a:noFill/>
                </a:ln>
                <a:effectLst/>
              </a:rPr>
              <a:t>Regression</a:t>
            </a:r>
            <a:r>
              <a:rPr kumimoji="0" lang="tr-TR" altLang="tr-TR" sz="1600" b="1" i="0" u="none" strike="noStrike" cap="none" normalizeH="0" baseline="0" dirty="0">
                <a:ln>
                  <a:noFill/>
                </a:ln>
                <a:effectLst/>
              </a:rPr>
              <a:t>: </a:t>
            </a:r>
            <a:r>
              <a:rPr kumimoji="0" lang="tr-TR" altLang="tr-TR" sz="1600" b="0" i="0" u="none" strike="noStrike" cap="none" normalizeH="0" baseline="0" dirty="0">
                <a:ln>
                  <a:noFill/>
                </a:ln>
                <a:effectLst/>
              </a:rPr>
              <a:t>High-</a:t>
            </a:r>
            <a:r>
              <a:rPr kumimoji="0" lang="tr-TR" altLang="tr-TR" sz="1600" b="0" i="0" u="none" strike="noStrike" cap="none" normalizeH="0" baseline="0" dirty="0" err="1">
                <a:ln>
                  <a:noFill/>
                </a:ln>
                <a:effectLst/>
              </a:rPr>
              <a:t>priority</a:t>
            </a:r>
            <a:r>
              <a:rPr kumimoji="0" lang="tr-TR" altLang="tr-TR" sz="1600" b="0" i="0" u="none" strike="noStrike" cap="none" normalizeH="0" baseline="0" dirty="0">
                <a:ln>
                  <a:noFill/>
                </a:ln>
                <a:effectLst/>
              </a:rPr>
              <a:t> </a:t>
            </a:r>
            <a:r>
              <a:rPr kumimoji="0" lang="tr-TR" altLang="tr-TR" sz="1600" b="0" i="0" u="none" strike="noStrike" cap="none" normalizeH="0" baseline="0" dirty="0" err="1">
                <a:ln>
                  <a:noFill/>
                </a:ln>
                <a:effectLst/>
              </a:rPr>
              <a:t>automated</a:t>
            </a:r>
            <a:r>
              <a:rPr kumimoji="0" lang="tr-TR" altLang="tr-TR" sz="1600" b="0" i="0" u="none" strike="noStrike" cap="none" normalizeH="0" baseline="0" dirty="0">
                <a:ln>
                  <a:noFill/>
                </a:ln>
                <a:effectLst/>
              </a:rPr>
              <a:t> </a:t>
            </a:r>
            <a:r>
              <a:rPr kumimoji="0" lang="tr-TR" altLang="tr-TR" sz="1600" b="0" i="0" u="none" strike="noStrike" cap="none" normalizeH="0" baseline="0" dirty="0" err="1">
                <a:ln>
                  <a:noFill/>
                </a:ln>
                <a:effectLst/>
              </a:rPr>
              <a:t>script</a:t>
            </a:r>
            <a:r>
              <a:rPr kumimoji="0" lang="tr-TR" altLang="tr-TR" sz="1600" b="0" i="0" u="none" strike="noStrike" cap="none" normalizeH="0" baseline="0" dirty="0">
                <a:ln>
                  <a:noFill/>
                </a:ln>
                <a:effectLst/>
              </a:rPr>
              <a:t> </a:t>
            </a:r>
            <a:r>
              <a:rPr kumimoji="0" lang="tr-TR" altLang="tr-TR" sz="1600" b="0" i="0" u="none" strike="noStrike" cap="none" normalizeH="0" baseline="0" dirty="0" err="1">
                <a:ln>
                  <a:noFill/>
                </a:ln>
                <a:effectLst/>
              </a:rPr>
              <a:t>for</a:t>
            </a:r>
            <a:r>
              <a:rPr kumimoji="0" lang="tr-TR" altLang="tr-TR" sz="1600" b="0" i="0" u="none" strike="noStrike" cap="none" normalizeH="0" baseline="0" dirty="0">
                <a:ln>
                  <a:noFill/>
                </a:ln>
                <a:effectLst/>
              </a:rPr>
              <a:t> </a:t>
            </a:r>
            <a:r>
              <a:rPr kumimoji="0" lang="tr-TR" altLang="tr-TR" sz="1600" b="0" i="0" u="none" strike="noStrike" cap="none" normalizeH="0" baseline="0" dirty="0" err="1">
                <a:ln>
                  <a:noFill/>
                </a:ln>
                <a:effectLst/>
              </a:rPr>
              <a:t>happy-path</a:t>
            </a:r>
            <a:r>
              <a:rPr kumimoji="0" lang="tr-TR" altLang="tr-TR" sz="1600" b="0" i="0" u="none" strike="noStrike" cap="none" normalizeH="0" baseline="0" dirty="0">
                <a:ln>
                  <a:noFill/>
                </a:ln>
                <a:effectLst/>
              </a:rPr>
              <a:t> </a:t>
            </a:r>
            <a:r>
              <a:rPr kumimoji="0" lang="tr-TR" altLang="tr-TR" sz="1600" b="0" i="0" u="none" strike="noStrike" cap="none" normalizeH="0" baseline="0" dirty="0" err="1">
                <a:ln>
                  <a:noFill/>
                </a:ln>
                <a:effectLst/>
              </a:rPr>
              <a:t>verification</a:t>
            </a:r>
            <a:r>
              <a:rPr kumimoji="0" lang="tr-TR" altLang="tr-TR" sz="1600" b="0" i="0" u="none" strike="noStrike" cap="none" normalizeH="0" baseline="0" dirty="0">
                <a:ln>
                  <a:noFill/>
                </a:ln>
                <a:effectLst/>
              </a:rPr>
              <a:t>. </a:t>
            </a:r>
          </a:p>
        </p:txBody>
      </p:sp>
      <p:pic>
        <p:nvPicPr>
          <p:cNvPr id="10" name="Resim 9">
            <a:extLst>
              <a:ext uri="{FF2B5EF4-FFF2-40B4-BE49-F238E27FC236}">
                <a16:creationId xmlns:a16="http://schemas.microsoft.com/office/drawing/2014/main" id="{0FD2C409-43F6-3B35-7039-EBC336205844}"/>
              </a:ext>
            </a:extLst>
          </p:cNvPr>
          <p:cNvPicPr>
            <a:picLocks noChangeAspect="1"/>
          </p:cNvPicPr>
          <p:nvPr/>
        </p:nvPicPr>
        <p:blipFill>
          <a:blip r:embed="rId3"/>
          <a:srcRect l="9458" r="9458"/>
          <a:stretch>
            <a:fillRect/>
          </a:stretch>
        </p:blipFill>
        <p:spPr>
          <a:xfrm>
            <a:off x="247610" y="1612226"/>
            <a:ext cx="7956917" cy="4532499"/>
          </a:xfrm>
          <a:prstGeom prst="rect">
            <a:avLst/>
          </a:prstGeom>
        </p:spPr>
      </p:pic>
      <p:sp>
        <p:nvSpPr>
          <p:cNvPr id="7" name="TextBox 2">
            <a:extLst>
              <a:ext uri="{FF2B5EF4-FFF2-40B4-BE49-F238E27FC236}">
                <a16:creationId xmlns:a16="http://schemas.microsoft.com/office/drawing/2014/main" id="{D57C61C6-AE1E-A4B4-ED48-FD7647CA73E9}"/>
              </a:ext>
            </a:extLst>
          </p:cNvPr>
          <p:cNvSpPr txBox="1"/>
          <p:nvPr/>
        </p:nvSpPr>
        <p:spPr>
          <a:xfrm>
            <a:off x="731520" y="640080"/>
            <a:ext cx="5669280" cy="320040"/>
          </a:xfrm>
          <a:prstGeom prst="rect">
            <a:avLst/>
          </a:prstGeom>
          <a:noFill/>
        </p:spPr>
        <p:txBody>
          <a:bodyPr wrap="square">
            <a:spAutoFit/>
          </a:bodyPr>
          <a:lstStyle/>
          <a:p>
            <a:pPr algn="l"/>
            <a:r>
              <a:rPr lang="tr-TR" sz="1400" b="1" dirty="0">
                <a:solidFill>
                  <a:srgbClr val="64748B"/>
                </a:solidFill>
                <a:latin typeface="Aptos"/>
              </a:rPr>
              <a:t>1</a:t>
            </a:r>
            <a:r>
              <a:rPr sz="1400" b="1" dirty="0">
                <a:solidFill>
                  <a:srgbClr val="64748B"/>
                </a:solidFill>
                <a:latin typeface="Aptos"/>
              </a:rPr>
              <a:t>.Functional Testing &amp; GUI Automation</a:t>
            </a:r>
          </a:p>
        </p:txBody>
      </p:sp>
    </p:spTree>
    <p:extLst>
      <p:ext uri="{BB962C8B-B14F-4D97-AF65-F5344CB8AC3E}">
        <p14:creationId xmlns:p14="http://schemas.microsoft.com/office/powerpoint/2010/main" val="866434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4572000" cy="201168"/>
          </a:xfrm>
          <a:prstGeom prst="rect">
            <a:avLst/>
          </a:prstGeom>
          <a:noFill/>
          <a:ln/>
        </p:spPr>
        <p:txBody>
          <a:bodyPr wrap="square" lIns="0" tIns="0" rIns="0" bIns="0" rtlCol="0" anchor="ctr"/>
          <a:lstStyle/>
          <a:p>
            <a:pPr marL="0" indent="0">
              <a:buNone/>
            </a:pPr>
            <a:r>
              <a:rPr lang="en-US" sz="850" b="1" dirty="0">
                <a:solidFill>
                  <a:srgbClr val="F97316"/>
                </a:solidFill>
              </a:rPr>
              <a:t>SE 2226 TESTING PROJECT</a:t>
            </a:r>
            <a:endParaRPr lang="en-US" sz="850" dirty="0"/>
          </a:p>
        </p:txBody>
      </p:sp>
      <p:sp>
        <p:nvSpPr>
          <p:cNvPr id="4" name="Text 2"/>
          <p:cNvSpPr/>
          <p:nvPr/>
        </p:nvSpPr>
        <p:spPr>
          <a:xfrm>
            <a:off x="502920" y="6519672"/>
            <a:ext cx="7772400" cy="146304"/>
          </a:xfrm>
          <a:prstGeom prst="rect">
            <a:avLst/>
          </a:prstGeom>
          <a:noFill/>
          <a:ln/>
        </p:spPr>
        <p:txBody>
          <a:bodyPr wrap="square" lIns="0" tIns="0" rIns="0" bIns="0" rtlCol="0" anchor="ctr"/>
          <a:lstStyle/>
          <a:p>
            <a:pPr marL="0" indent="0">
              <a:buNone/>
            </a:pPr>
            <a:r>
              <a:rPr lang="en-US" sz="750">
                <a:solidFill>
                  <a:srgbClr val="667085"/>
                </a:solidFill>
              </a:rPr>
              <a:t>3.Functional Testing &amp; GUI Automation</a:t>
            </a:r>
            <a:endParaRPr lang="en-US" sz="750" dirty="0">
              <a:solidFill>
                <a:srgbClr val="667085"/>
              </a:solidFill>
            </a:endParaRPr>
          </a:p>
        </p:txBody>
      </p:sp>
      <p:sp>
        <p:nvSpPr>
          <p:cNvPr id="5" name="Text 3"/>
          <p:cNvSpPr/>
          <p:nvPr/>
        </p:nvSpPr>
        <p:spPr>
          <a:xfrm>
            <a:off x="502920" y="1081173"/>
            <a:ext cx="502920" cy="411480"/>
          </a:xfrm>
          <a:prstGeom prst="rect">
            <a:avLst/>
          </a:prstGeom>
          <a:noFill/>
          <a:ln/>
        </p:spPr>
        <p:txBody>
          <a:bodyPr wrap="square" lIns="0" tIns="0" rIns="0" bIns="0" rtlCol="0" anchor="ctr"/>
          <a:lstStyle/>
          <a:p>
            <a:pPr marL="0" indent="0" algn="ctr">
              <a:buNone/>
            </a:pPr>
            <a:r>
              <a:rPr lang="en-US" sz="2300" b="1" dirty="0">
                <a:solidFill>
                  <a:srgbClr val="F97316"/>
                </a:solidFill>
              </a:rPr>
              <a:t>▶</a:t>
            </a:r>
            <a:endParaRPr lang="en-US" sz="2300" dirty="0"/>
          </a:p>
        </p:txBody>
      </p:sp>
      <p:sp>
        <p:nvSpPr>
          <p:cNvPr id="25" name="Slide Number Placeholder 0"/>
          <p:cNvSpPr>
            <a:spLocks noGrp="1"/>
          </p:cNvSpPr>
          <p:nvPr>
            <p:ph type="sldNum" sz="quarter" idx="4294967295"/>
          </p:nvPr>
        </p:nvSpPr>
        <p:spPr>
          <a:xfrm>
            <a:off x="11311128" y="6537960"/>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67085"/>
                </a:solidFill>
                <a:latin typeface="Aptos"/>
                <a:ea typeface="Aptos"/>
                <a:cs typeface="Aptos"/>
              </a:defRPr>
            </a:lvl1pPr>
          </a:lstStyle>
          <a:p>
            <a:r>
              <a:rPr sz="800" b="0">
                <a:solidFill>
                  <a:srgbClr val="FFFFFF"/>
                </a:solidFill>
              </a:rPr>
              <a:t>10</a:t>
            </a:r>
          </a:p>
        </p:txBody>
      </p:sp>
      <p:sp>
        <p:nvSpPr>
          <p:cNvPr id="6" name="Text 1">
            <a:extLst>
              <a:ext uri="{FF2B5EF4-FFF2-40B4-BE49-F238E27FC236}">
                <a16:creationId xmlns:a16="http://schemas.microsoft.com/office/drawing/2014/main" id="{B8D20073-E74D-9D90-68BF-360FEB64D0F9}"/>
              </a:ext>
            </a:extLst>
          </p:cNvPr>
          <p:cNvSpPr/>
          <p:nvPr/>
        </p:nvSpPr>
        <p:spPr>
          <a:xfrm>
            <a:off x="1005840" y="1116264"/>
            <a:ext cx="8869680" cy="411480"/>
          </a:xfrm>
          <a:prstGeom prst="rect">
            <a:avLst/>
          </a:prstGeom>
          <a:noFill/>
          <a:ln/>
        </p:spPr>
        <p:txBody>
          <a:bodyPr wrap="square" lIns="0" tIns="0" rIns="0" bIns="0" rtlCol="0" anchor="ctr">
            <a:normAutofit/>
          </a:bodyPr>
          <a:lstStyle/>
          <a:p>
            <a:pPr marL="0" indent="0">
              <a:buNone/>
            </a:pPr>
            <a:r>
              <a:rPr lang="en-US" sz="2500" b="1" dirty="0">
                <a:solidFill>
                  <a:srgbClr val="101828"/>
                </a:solidFill>
              </a:rPr>
              <a:t>Automated Scenario </a:t>
            </a:r>
            <a:r>
              <a:rPr lang="tr-TR" sz="2500" b="1" dirty="0">
                <a:solidFill>
                  <a:srgbClr val="101828"/>
                </a:solidFill>
              </a:rPr>
              <a:t>2</a:t>
            </a:r>
            <a:r>
              <a:rPr lang="en-US" sz="2500" b="1" dirty="0">
                <a:solidFill>
                  <a:srgbClr val="101828"/>
                </a:solidFill>
              </a:rPr>
              <a:t> — </a:t>
            </a:r>
            <a:r>
              <a:rPr lang="tr-TR" sz="2500" b="1" dirty="0" err="1">
                <a:solidFill>
                  <a:srgbClr val="101828"/>
                </a:solidFill>
              </a:rPr>
              <a:t>Invalid</a:t>
            </a:r>
            <a:r>
              <a:rPr lang="tr-TR" sz="2500" b="1" dirty="0">
                <a:solidFill>
                  <a:srgbClr val="101828"/>
                </a:solidFill>
              </a:rPr>
              <a:t> Login </a:t>
            </a:r>
            <a:r>
              <a:rPr lang="tr-TR" sz="2500" b="1" dirty="0" err="1">
                <a:solidFill>
                  <a:srgbClr val="101828"/>
                </a:solidFill>
              </a:rPr>
              <a:t>Prevention</a:t>
            </a:r>
            <a:endParaRPr lang="en-US" sz="2500" dirty="0"/>
          </a:p>
        </p:txBody>
      </p:sp>
      <p:sp>
        <p:nvSpPr>
          <p:cNvPr id="7" name="Metin kutusu 6">
            <a:extLst>
              <a:ext uri="{FF2B5EF4-FFF2-40B4-BE49-F238E27FC236}">
                <a16:creationId xmlns:a16="http://schemas.microsoft.com/office/drawing/2014/main" id="{144DD682-E2EB-78B5-A176-6F1A437EBBBD}"/>
              </a:ext>
            </a:extLst>
          </p:cNvPr>
          <p:cNvSpPr txBox="1"/>
          <p:nvPr/>
        </p:nvSpPr>
        <p:spPr>
          <a:xfrm>
            <a:off x="8403564" y="1897910"/>
            <a:ext cx="3579368" cy="830997"/>
          </a:xfrm>
          <a:prstGeom prst="rect">
            <a:avLst/>
          </a:prstGeom>
          <a:noFill/>
        </p:spPr>
        <p:txBody>
          <a:bodyPr wrap="square">
            <a:spAutoFit/>
          </a:bodyPr>
          <a:lstStyle/>
          <a:p>
            <a:r>
              <a:rPr lang="en-US" sz="1600" dirty="0"/>
              <a:t>Validating the system's resilience against incorrect credentials and unauthorized access attempts.</a:t>
            </a:r>
            <a:endParaRPr lang="tr-TR" sz="1600" dirty="0"/>
          </a:p>
        </p:txBody>
      </p:sp>
      <p:sp>
        <p:nvSpPr>
          <p:cNvPr id="8" name="Metin kutusu 7">
            <a:extLst>
              <a:ext uri="{FF2B5EF4-FFF2-40B4-BE49-F238E27FC236}">
                <a16:creationId xmlns:a16="http://schemas.microsoft.com/office/drawing/2014/main" id="{E707637D-B25B-C2DE-013E-C2161B024C07}"/>
              </a:ext>
            </a:extLst>
          </p:cNvPr>
          <p:cNvSpPr txBox="1"/>
          <p:nvPr/>
        </p:nvSpPr>
        <p:spPr>
          <a:xfrm>
            <a:off x="8403564" y="2817337"/>
            <a:ext cx="3850640" cy="1569660"/>
          </a:xfrm>
          <a:prstGeom prst="rect">
            <a:avLst/>
          </a:prstGeom>
          <a:noFill/>
        </p:spPr>
        <p:txBody>
          <a:bodyPr wrap="square">
            <a:spAutoFit/>
          </a:bodyPr>
          <a:lstStyle/>
          <a:p>
            <a:pPr marL="285750" indent="-285750">
              <a:buFont typeface="Arial" panose="020B0604020202020204" pitchFamily="34" charset="0"/>
              <a:buChar char="•"/>
            </a:pPr>
            <a:r>
              <a:rPr lang="en-US" sz="1600" b="1" dirty="0"/>
              <a:t>Scenario: </a:t>
            </a:r>
            <a:r>
              <a:rPr lang="en-US" sz="1600" dirty="0"/>
              <a:t>Invalid Username / Password combination. </a:t>
            </a:r>
            <a:endParaRPr lang="tr-TR" sz="1600" dirty="0"/>
          </a:p>
          <a:p>
            <a:pPr marL="285750" indent="-285750">
              <a:buFont typeface="Arial" panose="020B0604020202020204" pitchFamily="34" charset="0"/>
              <a:buChar char="•"/>
            </a:pPr>
            <a:r>
              <a:rPr lang="en-US" sz="1600" b="1" dirty="0"/>
              <a:t>Expected: </a:t>
            </a:r>
            <a:r>
              <a:rPr lang="en-US" sz="1600" dirty="0"/>
              <a:t>Uniform "Invalid Credentials" alert across browsers. </a:t>
            </a:r>
            <a:endParaRPr lang="tr-TR" sz="1600" dirty="0"/>
          </a:p>
          <a:p>
            <a:pPr marL="285750" indent="-285750">
              <a:buFont typeface="Arial" panose="020B0604020202020204" pitchFamily="34" charset="0"/>
              <a:buChar char="•"/>
            </a:pPr>
            <a:r>
              <a:rPr lang="en-US" sz="1600" b="1" dirty="0"/>
              <a:t>Regression: </a:t>
            </a:r>
            <a:r>
              <a:rPr lang="en-US" sz="1600" dirty="0"/>
              <a:t>High-priority automated script.</a:t>
            </a:r>
            <a:endParaRPr lang="tr-TR" sz="1600" dirty="0"/>
          </a:p>
        </p:txBody>
      </p:sp>
      <p:pic>
        <p:nvPicPr>
          <p:cNvPr id="12" name="Resim 11">
            <a:extLst>
              <a:ext uri="{FF2B5EF4-FFF2-40B4-BE49-F238E27FC236}">
                <a16:creationId xmlns:a16="http://schemas.microsoft.com/office/drawing/2014/main" id="{6F809905-CED2-83CF-5670-DC6E4437A0E9}"/>
              </a:ext>
            </a:extLst>
          </p:cNvPr>
          <p:cNvPicPr>
            <a:picLocks noChangeAspect="1"/>
          </p:cNvPicPr>
          <p:nvPr/>
        </p:nvPicPr>
        <p:blipFill>
          <a:blip r:embed="rId3"/>
          <a:srcRect l="9374" r="9458"/>
          <a:stretch>
            <a:fillRect/>
          </a:stretch>
        </p:blipFill>
        <p:spPr>
          <a:xfrm>
            <a:off x="230839" y="1612225"/>
            <a:ext cx="8044481" cy="4577673"/>
          </a:xfrm>
          <a:prstGeom prst="rect">
            <a:avLst/>
          </a:prstGeom>
        </p:spPr>
      </p:pic>
      <p:sp>
        <p:nvSpPr>
          <p:cNvPr id="9" name="TextBox 2">
            <a:extLst>
              <a:ext uri="{FF2B5EF4-FFF2-40B4-BE49-F238E27FC236}">
                <a16:creationId xmlns:a16="http://schemas.microsoft.com/office/drawing/2014/main" id="{80C988C7-F027-3C9C-C55C-10A5474BF5CF}"/>
              </a:ext>
            </a:extLst>
          </p:cNvPr>
          <p:cNvSpPr txBox="1"/>
          <p:nvPr/>
        </p:nvSpPr>
        <p:spPr>
          <a:xfrm>
            <a:off x="731520" y="640080"/>
            <a:ext cx="5669280" cy="320040"/>
          </a:xfrm>
          <a:prstGeom prst="rect">
            <a:avLst/>
          </a:prstGeom>
          <a:noFill/>
        </p:spPr>
        <p:txBody>
          <a:bodyPr wrap="square">
            <a:spAutoFit/>
          </a:bodyPr>
          <a:lstStyle/>
          <a:p>
            <a:pPr algn="l"/>
            <a:r>
              <a:rPr lang="tr-TR" sz="1400" b="1" dirty="0">
                <a:solidFill>
                  <a:srgbClr val="64748B"/>
                </a:solidFill>
                <a:latin typeface="Aptos"/>
              </a:rPr>
              <a:t>1</a:t>
            </a:r>
            <a:r>
              <a:rPr sz="1400" b="1" dirty="0">
                <a:solidFill>
                  <a:srgbClr val="64748B"/>
                </a:solidFill>
                <a:latin typeface="Aptos"/>
              </a:rPr>
              <a:t>.Functional Testing &amp; GUI Automation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4572000" cy="201168"/>
          </a:xfrm>
          <a:prstGeom prst="rect">
            <a:avLst/>
          </a:prstGeom>
          <a:noFill/>
          <a:ln/>
        </p:spPr>
        <p:txBody>
          <a:bodyPr wrap="square" lIns="0" tIns="0" rIns="0" bIns="0" rtlCol="0" anchor="ctr"/>
          <a:lstStyle/>
          <a:p>
            <a:pPr marL="0" indent="0">
              <a:buNone/>
            </a:pPr>
            <a:r>
              <a:rPr lang="en-US" sz="850" b="1" dirty="0">
                <a:solidFill>
                  <a:srgbClr val="F97316"/>
                </a:solidFill>
              </a:rPr>
              <a:t>SE 2226 TESTING PROJECT</a:t>
            </a:r>
            <a:endParaRPr lang="en-US" sz="850" dirty="0"/>
          </a:p>
        </p:txBody>
      </p:sp>
      <p:sp>
        <p:nvSpPr>
          <p:cNvPr id="3" name="Text 1"/>
          <p:cNvSpPr/>
          <p:nvPr/>
        </p:nvSpPr>
        <p:spPr>
          <a:xfrm>
            <a:off x="374182" y="540619"/>
            <a:ext cx="7149164" cy="475488"/>
          </a:xfrm>
          <a:prstGeom prst="rect">
            <a:avLst/>
          </a:prstGeom>
          <a:noFill/>
          <a:ln/>
        </p:spPr>
        <p:txBody>
          <a:bodyPr wrap="square" lIns="0" tIns="0" rIns="0" bIns="0" rtlCol="0" anchor="ctr">
            <a:normAutofit/>
          </a:bodyPr>
          <a:lstStyle/>
          <a:p>
            <a:pPr lvl="0" defTabSz="914400" eaLnBrk="0" fontAlgn="base" hangingPunct="0">
              <a:spcBef>
                <a:spcPct val="0"/>
              </a:spcBef>
              <a:spcAft>
                <a:spcPct val="0"/>
              </a:spcAft>
            </a:pPr>
            <a:r>
              <a:rPr lang="tr-TR" sz="2400" b="1" dirty="0">
                <a:solidFill>
                  <a:srgbClr val="101828"/>
                </a:solidFill>
              </a:rPr>
              <a:t>2</a:t>
            </a:r>
            <a:r>
              <a:rPr sz="2400" b="1" dirty="0">
                <a:solidFill>
                  <a:srgbClr val="101828"/>
                </a:solidFill>
              </a:rPr>
              <a:t>.Structural Testing — Coverage Analysis (SUT 2)</a:t>
            </a:r>
            <a:endParaRPr lang="tr-TR" altLang="tr-TR" sz="2400" dirty="0">
              <a:solidFill>
                <a:schemeClr val="bg1"/>
              </a:solidFill>
              <a:latin typeface="Google Sans Text"/>
            </a:endParaRPr>
          </a:p>
        </p:txBody>
      </p:sp>
      <p:sp>
        <p:nvSpPr>
          <p:cNvPr id="4" name="Text 2"/>
          <p:cNvSpPr/>
          <p:nvPr/>
        </p:nvSpPr>
        <p:spPr>
          <a:xfrm>
            <a:off x="502920" y="6519672"/>
            <a:ext cx="7772400" cy="146304"/>
          </a:xfrm>
          <a:prstGeom prst="rect">
            <a:avLst/>
          </a:prstGeom>
          <a:noFill/>
          <a:ln/>
        </p:spPr>
        <p:txBody>
          <a:bodyPr wrap="square" lIns="0" tIns="0" rIns="0" bIns="0" rtlCol="0" anchor="ctr"/>
          <a:lstStyle/>
          <a:p>
            <a:pPr marL="0" indent="0">
              <a:buNone/>
            </a:pPr>
            <a:r>
              <a:rPr sz="800" b="0">
                <a:solidFill>
                  <a:srgbClr val="667085"/>
                </a:solidFill>
              </a:rPr>
              <a:t>4.Structural Testing &amp; Mutation Analysis (SUT 2)</a:t>
            </a:r>
            <a:endParaRPr lang="en-US" sz="750" dirty="0">
              <a:solidFill>
                <a:srgbClr val="667085"/>
              </a:solidFill>
            </a:endParaRPr>
          </a:p>
        </p:txBody>
      </p:sp>
      <p:sp>
        <p:nvSpPr>
          <p:cNvPr id="25" name="Slide Number Placeholder 0"/>
          <p:cNvSpPr>
            <a:spLocks noGrp="1"/>
          </p:cNvSpPr>
          <p:nvPr>
            <p:ph type="sldNum" sz="quarter" idx="4294967295"/>
          </p:nvPr>
        </p:nvSpPr>
        <p:spPr>
          <a:xfrm>
            <a:off x="11311128" y="6537960"/>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67085"/>
                </a:solidFill>
                <a:latin typeface="Aptos"/>
                <a:ea typeface="Aptos"/>
                <a:cs typeface="Aptos"/>
              </a:defRPr>
            </a:lvl1pPr>
          </a:lstStyle>
          <a:p>
            <a:pPr>
              <a:defRPr sz="1100">
                <a:solidFill>
                  <a:srgbClr val="667085"/>
                </a:solidFill>
              </a:defRPr>
            </a:pPr>
            <a:r>
              <a:t>10</a:t>
            </a:r>
          </a:p>
        </p:txBody>
      </p:sp>
      <p:sp>
        <p:nvSpPr>
          <p:cNvPr id="26" name="Rectangle 25"/>
          <p:cNvSpPr/>
          <p:nvPr/>
        </p:nvSpPr>
        <p:spPr>
          <a:xfrm>
            <a:off x="502920" y="1170432"/>
            <a:ext cx="3703320" cy="31089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lIns="109728" tIns="73152" rIns="109728" bIns="73152" rtlCol="0" anchor="ctr"/>
          <a:lstStyle/>
          <a:p>
            <a:pPr algn="ctr">
              <a:defRPr sz="1600" b="1">
                <a:solidFill>
                  <a:srgbClr val="F97316"/>
                </a:solidFill>
              </a:defRPr>
            </a:pPr>
            <a:r>
              <a:t>Coverage Evidence</a:t>
            </a:r>
          </a:p>
        </p:txBody>
      </p:sp>
      <p:sp>
        <p:nvSpPr>
          <p:cNvPr id="27" name="Rounded Rectangle 26"/>
          <p:cNvSpPr/>
          <p:nvPr/>
        </p:nvSpPr>
        <p:spPr>
          <a:xfrm>
            <a:off x="502920" y="1627632"/>
            <a:ext cx="3886200" cy="2971800"/>
          </a:xfrm>
          <a:prstGeom prst="roundRect">
            <a:avLst/>
          </a:prstGeom>
          <a:solidFill>
            <a:srgbClr val="F8FAFC"/>
          </a:solidFill>
          <a:ln w="12700">
            <a:solidFill>
              <a:srgbClr val="EAECF0"/>
            </a:solidFill>
          </a:ln>
        </p:spPr>
        <p:style>
          <a:lnRef idx="1">
            <a:schemeClr val="accent1"/>
          </a:lnRef>
          <a:fillRef idx="3">
            <a:schemeClr val="accent1"/>
          </a:fillRef>
          <a:effectRef idx="2">
            <a:schemeClr val="accent1"/>
          </a:effectRef>
          <a:fontRef idx="minor">
            <a:schemeClr val="lt1"/>
          </a:fontRef>
        </p:style>
        <p:txBody>
          <a:bodyPr wrap="square" lIns="128016" tIns="91440" rIns="128016" bIns="91440" rtlCol="0" anchor="ctr"/>
          <a:lstStyle/>
          <a:p>
            <a:pPr algn="ctr">
              <a:spcAft>
                <a:spcPts val="700"/>
              </a:spcAft>
              <a:defRPr sz="1800" b="0">
                <a:solidFill>
                  <a:srgbClr val="344054"/>
                </a:solidFill>
              </a:defRPr>
            </a:pPr>
            <a:r>
              <a:rPr sz="1400" b="1" dirty="0">
                <a:solidFill>
                  <a:srgbClr val="F97316"/>
                </a:solidFill>
              </a:rPr>
              <a:t>Result</a:t>
            </a:r>
            <a:r>
              <a:rPr sz="1400" dirty="0">
                <a:solidFill>
                  <a:srgbClr val="344054"/>
                </a:solidFill>
              </a:rPr>
              <a:t> — Most executable statements were covered by Jest/</a:t>
            </a:r>
            <a:r>
              <a:rPr sz="1400" dirty="0" err="1">
                <a:solidFill>
                  <a:srgbClr val="344054"/>
                </a:solidFill>
              </a:rPr>
              <a:t>Supertest</a:t>
            </a:r>
            <a:r>
              <a:rPr sz="1400" dirty="0">
                <a:solidFill>
                  <a:srgbClr val="344054"/>
                </a:solidFill>
              </a:rPr>
              <a:t> tests.</a:t>
            </a:r>
          </a:p>
          <a:p>
            <a:pPr>
              <a:spcAft>
                <a:spcPts val="700"/>
              </a:spcAft>
            </a:pPr>
            <a:r>
              <a:rPr sz="1400" b="1" dirty="0">
                <a:solidFill>
                  <a:srgbClr val="F97316"/>
                </a:solidFill>
              </a:rPr>
              <a:t>Main limitation</a:t>
            </a:r>
            <a:r>
              <a:rPr sz="1400" dirty="0">
                <a:solidFill>
                  <a:srgbClr val="344054"/>
                </a:solidFill>
              </a:rPr>
              <a:t> — 100% coverage was not reached because the highlighted fallback line is unreachable in normal execution.</a:t>
            </a:r>
          </a:p>
          <a:p>
            <a:pPr>
              <a:spcAft>
                <a:spcPts val="700"/>
              </a:spcAft>
            </a:pPr>
            <a:r>
              <a:rPr sz="1400" b="1" dirty="0">
                <a:solidFill>
                  <a:srgbClr val="F97316"/>
                </a:solidFill>
              </a:rPr>
              <a:t>Interpretation</a:t>
            </a:r>
            <a:r>
              <a:rPr sz="1400" dirty="0">
                <a:solidFill>
                  <a:srgbClr val="344054"/>
                </a:solidFill>
              </a:rPr>
              <a:t> — The uncovered line belongs to a defensive server-error branch; it is hard to trigger without artificially forcing an internal failure.</a:t>
            </a:r>
          </a:p>
        </p:txBody>
      </p:sp>
      <p:pic>
        <p:nvPicPr>
          <p:cNvPr id="29" name="Picture 28" descr="WhatsApp Image 2026-05-04 at 14.58.04.jpeg"/>
          <p:cNvPicPr>
            <a:picLocks noChangeAspect="1"/>
          </p:cNvPicPr>
          <p:nvPr/>
        </p:nvPicPr>
        <p:blipFill>
          <a:blip r:embed="rId3"/>
          <a:stretch>
            <a:fillRect/>
          </a:stretch>
        </p:blipFill>
        <p:spPr>
          <a:xfrm>
            <a:off x="6603210" y="0"/>
            <a:ext cx="5507917" cy="3472750"/>
          </a:xfrm>
          <a:prstGeom prst="rect">
            <a:avLst/>
          </a:prstGeom>
        </p:spPr>
      </p:pic>
      <p:sp>
        <p:nvSpPr>
          <p:cNvPr id="5" name="Rectangle 28">
            <a:extLst>
              <a:ext uri="{FF2B5EF4-FFF2-40B4-BE49-F238E27FC236}">
                <a16:creationId xmlns:a16="http://schemas.microsoft.com/office/drawing/2014/main" id="{F262002B-8743-FF6E-3B23-920B4AF56E8A}"/>
              </a:ext>
            </a:extLst>
          </p:cNvPr>
          <p:cNvSpPr/>
          <p:nvPr/>
        </p:nvSpPr>
        <p:spPr>
          <a:xfrm>
            <a:off x="411480" y="4882082"/>
            <a:ext cx="4069080" cy="439726"/>
          </a:xfrm>
          <a:prstGeom prst="rect">
            <a:avLst/>
          </a:prstGeom>
          <a:solidFill>
            <a:srgbClr val="334058"/>
          </a:solidFill>
          <a:ln>
            <a:solidFill>
              <a:srgbClr val="CE232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dirty="0">
                <a:solidFill>
                  <a:schemeClr val="bg1"/>
                </a:solidFill>
              </a:rPr>
              <a:t>Note: </a:t>
            </a:r>
            <a:r>
              <a:rPr lang="en-US" sz="1200" dirty="0"/>
              <a:t>Since the highlighted line is unreachable in the current execution flow, 100% code coverage could not be achieved.</a:t>
            </a:r>
            <a:endParaRPr sz="1200" b="1" dirty="0">
              <a:solidFill>
                <a:schemeClr val="bg1"/>
              </a:solidFill>
            </a:endParaRPr>
          </a:p>
        </p:txBody>
      </p:sp>
      <p:pic>
        <p:nvPicPr>
          <p:cNvPr id="7" name="Resim 6">
            <a:extLst>
              <a:ext uri="{FF2B5EF4-FFF2-40B4-BE49-F238E27FC236}">
                <a16:creationId xmlns:a16="http://schemas.microsoft.com/office/drawing/2014/main" id="{AD1CD1A6-5FF7-9FA9-221F-CE1ED10955C3}"/>
              </a:ext>
            </a:extLst>
          </p:cNvPr>
          <p:cNvPicPr>
            <a:picLocks noChangeAspect="1"/>
          </p:cNvPicPr>
          <p:nvPr/>
        </p:nvPicPr>
        <p:blipFill>
          <a:blip r:embed="rId4"/>
          <a:stretch>
            <a:fillRect/>
          </a:stretch>
        </p:blipFill>
        <p:spPr>
          <a:xfrm>
            <a:off x="4748848" y="3701665"/>
            <a:ext cx="7443152" cy="280055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38816-83FA-8B10-6B52-312FB141774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CFE0D58-1E4A-F665-AAEB-C40DC23C2870}"/>
              </a:ext>
            </a:extLst>
          </p:cNvPr>
          <p:cNvSpPr/>
          <p:nvPr/>
        </p:nvSpPr>
        <p:spPr>
          <a:xfrm>
            <a:off x="502920" y="228600"/>
            <a:ext cx="4572000" cy="201168"/>
          </a:xfrm>
          <a:prstGeom prst="rect">
            <a:avLst/>
          </a:prstGeom>
          <a:noFill/>
          <a:ln/>
        </p:spPr>
        <p:txBody>
          <a:bodyPr wrap="square" lIns="0" tIns="0" rIns="0" bIns="0" rtlCol="0" anchor="ctr"/>
          <a:lstStyle/>
          <a:p>
            <a:pPr marL="0" indent="0">
              <a:buNone/>
            </a:pPr>
            <a:r>
              <a:rPr lang="en-US" sz="850" b="1" dirty="0">
                <a:solidFill>
                  <a:srgbClr val="F97316"/>
                </a:solidFill>
              </a:rPr>
              <a:t>SE 2226 TESTING PROJECT</a:t>
            </a:r>
            <a:endParaRPr lang="en-US" sz="850" dirty="0"/>
          </a:p>
        </p:txBody>
      </p:sp>
      <p:sp>
        <p:nvSpPr>
          <p:cNvPr id="3" name="Text 1">
            <a:extLst>
              <a:ext uri="{FF2B5EF4-FFF2-40B4-BE49-F238E27FC236}">
                <a16:creationId xmlns:a16="http://schemas.microsoft.com/office/drawing/2014/main" id="{F70E15FB-6D0B-6153-31E7-D6BAF697D5D4}"/>
              </a:ext>
            </a:extLst>
          </p:cNvPr>
          <p:cNvSpPr/>
          <p:nvPr/>
        </p:nvSpPr>
        <p:spPr>
          <a:xfrm>
            <a:off x="502920" y="493776"/>
            <a:ext cx="8869680" cy="411480"/>
          </a:xfrm>
          <a:prstGeom prst="rect">
            <a:avLst/>
          </a:prstGeom>
          <a:noFill/>
          <a:ln/>
        </p:spPr>
        <p:txBody>
          <a:bodyPr wrap="square" lIns="0" tIns="0" rIns="0" bIns="0" rtlCol="0" anchor="ctr">
            <a:normAutofit lnSpcReduction="10000"/>
          </a:bodyPr>
          <a:lstStyle/>
          <a:p>
            <a:pPr lvl="0" defTabSz="914400" eaLnBrk="0" fontAlgn="base" hangingPunct="0">
              <a:spcBef>
                <a:spcPct val="0"/>
              </a:spcBef>
              <a:spcAft>
                <a:spcPct val="0"/>
              </a:spcAft>
            </a:pPr>
            <a:r>
              <a:rPr lang="tr-TR" altLang="tr-TR" sz="2800" b="1" dirty="0" err="1">
                <a:latin typeface="Google Sans Text"/>
              </a:rPr>
              <a:t>Structural</a:t>
            </a:r>
            <a:r>
              <a:rPr lang="tr-TR" altLang="tr-TR" sz="2800" b="1" dirty="0">
                <a:latin typeface="Google Sans Text"/>
              </a:rPr>
              <a:t> </a:t>
            </a:r>
            <a:r>
              <a:rPr lang="tr-TR" altLang="tr-TR" sz="2800" b="1" dirty="0" err="1">
                <a:latin typeface="Google Sans Text"/>
              </a:rPr>
              <a:t>Testing</a:t>
            </a:r>
            <a:r>
              <a:rPr lang="tr-TR" altLang="tr-TR" sz="2800" b="1" dirty="0">
                <a:latin typeface="Google Sans Text"/>
              </a:rPr>
              <a:t> &amp; </a:t>
            </a:r>
            <a:r>
              <a:rPr lang="tr-TR" altLang="tr-TR" sz="2800" b="1" dirty="0" err="1">
                <a:latin typeface="Google Sans Text"/>
              </a:rPr>
              <a:t>Mutation</a:t>
            </a:r>
            <a:r>
              <a:rPr lang="tr-TR" altLang="tr-TR" sz="2800" b="1" dirty="0">
                <a:latin typeface="Google Sans Text"/>
              </a:rPr>
              <a:t> Analysis (SUT 2)</a:t>
            </a:r>
            <a:endParaRPr lang="tr-TR" altLang="tr-TR" sz="2800" dirty="0">
              <a:latin typeface="Google Sans Text"/>
            </a:endParaRPr>
          </a:p>
        </p:txBody>
      </p:sp>
      <p:sp>
        <p:nvSpPr>
          <p:cNvPr id="4" name="Text 2">
            <a:extLst>
              <a:ext uri="{FF2B5EF4-FFF2-40B4-BE49-F238E27FC236}">
                <a16:creationId xmlns:a16="http://schemas.microsoft.com/office/drawing/2014/main" id="{4541CD6E-964F-6AEC-7B1C-7BAE88DAC5C8}"/>
              </a:ext>
            </a:extLst>
          </p:cNvPr>
          <p:cNvSpPr/>
          <p:nvPr/>
        </p:nvSpPr>
        <p:spPr>
          <a:xfrm>
            <a:off x="502920" y="6519672"/>
            <a:ext cx="7772400" cy="146304"/>
          </a:xfrm>
          <a:prstGeom prst="rect">
            <a:avLst/>
          </a:prstGeom>
          <a:noFill/>
          <a:ln/>
        </p:spPr>
        <p:txBody>
          <a:bodyPr wrap="square" lIns="0" tIns="0" rIns="0" bIns="0" rtlCol="0" anchor="ctr"/>
          <a:lstStyle/>
          <a:p>
            <a:pPr marL="0" indent="0">
              <a:buNone/>
            </a:pPr>
            <a:r>
              <a:rPr lang="en-US" sz="750">
                <a:solidFill>
                  <a:srgbClr val="667085"/>
                </a:solidFill>
              </a:rPr>
              <a:t>4.Structural Testing &amp; Mutation Analysis (SUT 2)</a:t>
            </a:r>
            <a:endParaRPr lang="en-US" sz="750" dirty="0">
              <a:solidFill>
                <a:srgbClr val="667085"/>
              </a:solidFill>
            </a:endParaRPr>
          </a:p>
        </p:txBody>
      </p:sp>
      <p:sp>
        <p:nvSpPr>
          <p:cNvPr id="7" name="Text 4">
            <a:extLst>
              <a:ext uri="{FF2B5EF4-FFF2-40B4-BE49-F238E27FC236}">
                <a16:creationId xmlns:a16="http://schemas.microsoft.com/office/drawing/2014/main" id="{D10B8F2B-ECB1-7DB6-345D-03EF1F114190}"/>
              </a:ext>
            </a:extLst>
          </p:cNvPr>
          <p:cNvSpPr/>
          <p:nvPr/>
        </p:nvSpPr>
        <p:spPr>
          <a:xfrm>
            <a:off x="480060" y="1654203"/>
            <a:ext cx="2286000" cy="274320"/>
          </a:xfrm>
          <a:prstGeom prst="rect">
            <a:avLst/>
          </a:prstGeom>
          <a:noFill/>
          <a:ln/>
        </p:spPr>
        <p:txBody>
          <a:bodyPr wrap="square" lIns="0" tIns="0" rIns="0" bIns="0" rtlCol="0" anchor="ctr"/>
          <a:lstStyle/>
          <a:p>
            <a:pPr marL="0" indent="0">
              <a:buNone/>
            </a:pPr>
            <a:r>
              <a:rPr lang="en-US" sz="2000" b="1" dirty="0">
                <a:solidFill>
                  <a:srgbClr val="F97316"/>
                </a:solidFill>
              </a:rPr>
              <a:t>Mutation Testing &amp; Suite Robustness</a:t>
            </a:r>
            <a:endParaRPr lang="en-US" sz="2000" dirty="0"/>
          </a:p>
        </p:txBody>
      </p:sp>
      <p:sp>
        <p:nvSpPr>
          <p:cNvPr id="8" name="Text 5">
            <a:extLst>
              <a:ext uri="{FF2B5EF4-FFF2-40B4-BE49-F238E27FC236}">
                <a16:creationId xmlns:a16="http://schemas.microsoft.com/office/drawing/2014/main" id="{20C3830E-F4BA-6DA9-3FB3-A72A44A3B606}"/>
              </a:ext>
            </a:extLst>
          </p:cNvPr>
          <p:cNvSpPr/>
          <p:nvPr/>
        </p:nvSpPr>
        <p:spPr>
          <a:xfrm>
            <a:off x="480060" y="2238206"/>
            <a:ext cx="2632108" cy="3805978"/>
          </a:xfrm>
          <a:prstGeom prst="rect">
            <a:avLst/>
          </a:prstGeom>
          <a:noFill/>
          <a:ln/>
        </p:spPr>
        <p:txBody>
          <a:bodyPr wrap="square" lIns="381" tIns="381" rIns="381" bIns="381" rtlCol="0" anchor="t">
            <a:noAutofit/>
          </a:bodyPr>
          <a:lstStyle/>
          <a:p>
            <a:pPr marL="139700" indent="-139700">
              <a:buSzPct val="100000"/>
              <a:buChar char="•"/>
            </a:pPr>
            <a:r>
              <a:rPr lang="en-US" sz="1600" dirty="0">
                <a:solidFill>
                  <a:srgbClr val="344054"/>
                </a:solidFill>
              </a:rPr>
              <a:t>The Metric: Total Mutation Score of 91.45%.  </a:t>
            </a:r>
            <a:endParaRPr lang="tr-TR" sz="1600" dirty="0">
              <a:solidFill>
                <a:srgbClr val="344054"/>
              </a:solidFill>
            </a:endParaRPr>
          </a:p>
          <a:p>
            <a:pPr marL="139700" indent="-139700">
              <a:buSzPct val="100000"/>
              <a:buChar char="•"/>
            </a:pPr>
            <a:r>
              <a:rPr lang="en-US" sz="1600" dirty="0" err="1">
                <a:solidFill>
                  <a:srgbClr val="344054"/>
                </a:solidFill>
              </a:rPr>
              <a:t>Results:Killed</a:t>
            </a:r>
            <a:r>
              <a:rPr lang="en-US" sz="1600" dirty="0">
                <a:solidFill>
                  <a:srgbClr val="344054"/>
                </a:solidFill>
              </a:rPr>
              <a:t> Mutants: 93 mutants successfully detected and eliminated.  </a:t>
            </a:r>
            <a:endParaRPr lang="tr-TR" sz="1600" dirty="0">
              <a:solidFill>
                <a:srgbClr val="344054"/>
              </a:solidFill>
            </a:endParaRPr>
          </a:p>
          <a:p>
            <a:pPr marL="139700" indent="-139700">
              <a:buSzPct val="100000"/>
              <a:buChar char="•"/>
            </a:pPr>
            <a:r>
              <a:rPr lang="en-US" sz="1600" dirty="0">
                <a:solidFill>
                  <a:srgbClr val="344054"/>
                </a:solidFill>
              </a:rPr>
              <a:t>Detection Rate: 94.69% of covered code successfully defended against intentional regressions.  </a:t>
            </a:r>
            <a:endParaRPr lang="tr-TR" sz="1600" dirty="0">
              <a:solidFill>
                <a:srgbClr val="344054"/>
              </a:solidFill>
            </a:endParaRPr>
          </a:p>
          <a:p>
            <a:pPr marL="139700" indent="-139700">
              <a:buSzPct val="100000"/>
              <a:buChar char="•"/>
            </a:pPr>
            <a:r>
              <a:rPr lang="en-US" sz="1600" dirty="0">
                <a:solidFill>
                  <a:srgbClr val="344054"/>
                </a:solidFill>
              </a:rPr>
              <a:t>Goal: Moving beyond simple coverage to ensure the test suite has a high fault-detection capability.</a:t>
            </a:r>
            <a:endParaRPr lang="en-US" sz="1600" dirty="0"/>
          </a:p>
        </p:txBody>
      </p:sp>
      <p:sp>
        <p:nvSpPr>
          <p:cNvPr id="25" name="Slide Number Placeholder 0">
            <a:extLst>
              <a:ext uri="{FF2B5EF4-FFF2-40B4-BE49-F238E27FC236}">
                <a16:creationId xmlns:a16="http://schemas.microsoft.com/office/drawing/2014/main" id="{6F2D6507-2DCD-BB0D-BFE3-C8F703AE039E}"/>
              </a:ext>
            </a:extLst>
          </p:cNvPr>
          <p:cNvSpPr>
            <a:spLocks noGrp="1"/>
          </p:cNvSpPr>
          <p:nvPr>
            <p:ph type="sldNum" sz="quarter" idx="4294967295"/>
          </p:nvPr>
        </p:nvSpPr>
        <p:spPr>
          <a:xfrm>
            <a:off x="11311128"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67085"/>
                </a:solidFill>
                <a:latin typeface="Aptos"/>
                <a:ea typeface="Aptos"/>
                <a:cs typeface="Aptos"/>
              </a:defRPr>
            </a:lvl1pPr>
          </a:lstStyle>
          <a:p>
            <a:pPr>
              <a:defRPr sz="1100">
                <a:solidFill>
                  <a:srgbClr val="667085"/>
                </a:solidFill>
              </a:defRPr>
            </a:pPr>
            <a:r>
              <a:t>11</a:t>
            </a:r>
          </a:p>
        </p:txBody>
      </p:sp>
      <p:pic>
        <p:nvPicPr>
          <p:cNvPr id="14" name="Resim 13">
            <a:extLst>
              <a:ext uri="{FF2B5EF4-FFF2-40B4-BE49-F238E27FC236}">
                <a16:creationId xmlns:a16="http://schemas.microsoft.com/office/drawing/2014/main" id="{7511EFC1-9693-CDA6-7DF1-D6AB190179FF}"/>
              </a:ext>
            </a:extLst>
          </p:cNvPr>
          <p:cNvPicPr>
            <a:picLocks noChangeAspect="1"/>
          </p:cNvPicPr>
          <p:nvPr/>
        </p:nvPicPr>
        <p:blipFill>
          <a:blip r:embed="rId3"/>
          <a:stretch>
            <a:fillRect/>
          </a:stretch>
        </p:blipFill>
        <p:spPr>
          <a:xfrm>
            <a:off x="3636954" y="1591608"/>
            <a:ext cx="8474174" cy="3566469"/>
          </a:xfrm>
          <a:prstGeom prst="rect">
            <a:avLst/>
          </a:prstGeom>
        </p:spPr>
      </p:pic>
    </p:spTree>
    <p:extLst>
      <p:ext uri="{BB962C8B-B14F-4D97-AF65-F5344CB8AC3E}">
        <p14:creationId xmlns:p14="http://schemas.microsoft.com/office/powerpoint/2010/main" val="40018568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4572000" cy="201168"/>
          </a:xfrm>
          <a:prstGeom prst="rect">
            <a:avLst/>
          </a:prstGeom>
          <a:noFill/>
          <a:ln/>
        </p:spPr>
        <p:txBody>
          <a:bodyPr wrap="square" lIns="0" tIns="0" rIns="0" bIns="0" rtlCol="0" anchor="ctr"/>
          <a:lstStyle/>
          <a:p>
            <a:pPr marL="0" indent="0">
              <a:buNone/>
            </a:pPr>
            <a:r>
              <a:rPr lang="en-US" sz="850" b="1" dirty="0">
                <a:solidFill>
                  <a:srgbClr val="F97316"/>
                </a:solidFill>
              </a:rPr>
              <a:t>SE 2226 TESTING PROJECT</a:t>
            </a:r>
            <a:endParaRPr lang="en-US" sz="850" dirty="0"/>
          </a:p>
        </p:txBody>
      </p:sp>
      <p:sp>
        <p:nvSpPr>
          <p:cNvPr id="3" name="Text 1"/>
          <p:cNvSpPr/>
          <p:nvPr/>
        </p:nvSpPr>
        <p:spPr>
          <a:xfrm>
            <a:off x="502920" y="493776"/>
            <a:ext cx="8869680" cy="411480"/>
          </a:xfrm>
          <a:prstGeom prst="rect">
            <a:avLst/>
          </a:prstGeom>
          <a:noFill/>
          <a:ln/>
        </p:spPr>
        <p:txBody>
          <a:bodyPr wrap="square" lIns="0" tIns="0" rIns="0" bIns="0" rtlCol="0" anchor="ctr">
            <a:normAutofit lnSpcReduction="10000"/>
          </a:bodyPr>
          <a:lstStyle/>
          <a:p>
            <a:pPr lvl="0" defTabSz="914400" eaLnBrk="0" fontAlgn="base" hangingPunct="0">
              <a:spcBef>
                <a:spcPct val="0"/>
              </a:spcBef>
              <a:spcAft>
                <a:spcPct val="0"/>
              </a:spcAft>
            </a:pPr>
            <a:r>
              <a:rPr lang="tr-TR" altLang="tr-TR" sz="2800" b="1" dirty="0" err="1">
                <a:latin typeface="Google Sans Text"/>
              </a:rPr>
              <a:t>Structural</a:t>
            </a:r>
            <a:r>
              <a:rPr lang="tr-TR" altLang="tr-TR" sz="2800" b="1" dirty="0">
                <a:latin typeface="Google Sans Text"/>
              </a:rPr>
              <a:t> </a:t>
            </a:r>
            <a:r>
              <a:rPr lang="tr-TR" altLang="tr-TR" sz="2800" b="1" dirty="0" err="1">
                <a:latin typeface="Google Sans Text"/>
              </a:rPr>
              <a:t>Testing</a:t>
            </a:r>
            <a:r>
              <a:rPr lang="tr-TR" altLang="tr-TR" sz="2800" b="1" dirty="0">
                <a:latin typeface="Google Sans Text"/>
              </a:rPr>
              <a:t> &amp; </a:t>
            </a:r>
            <a:r>
              <a:rPr lang="tr-TR" altLang="tr-TR" sz="2800" b="1" dirty="0" err="1">
                <a:latin typeface="Google Sans Text"/>
              </a:rPr>
              <a:t>Mutation</a:t>
            </a:r>
            <a:r>
              <a:rPr lang="tr-TR" altLang="tr-TR" sz="2800" b="1" dirty="0">
                <a:latin typeface="Google Sans Text"/>
              </a:rPr>
              <a:t> Analysis (SUT 2)</a:t>
            </a:r>
            <a:endParaRPr lang="tr-TR" altLang="tr-TR" sz="2800" dirty="0">
              <a:latin typeface="Google Sans Text"/>
            </a:endParaRPr>
          </a:p>
        </p:txBody>
      </p:sp>
      <p:sp>
        <p:nvSpPr>
          <p:cNvPr id="4" name="Text 2"/>
          <p:cNvSpPr/>
          <p:nvPr/>
        </p:nvSpPr>
        <p:spPr>
          <a:xfrm>
            <a:off x="502920" y="6519672"/>
            <a:ext cx="7772400" cy="146304"/>
          </a:xfrm>
          <a:prstGeom prst="rect">
            <a:avLst/>
          </a:prstGeom>
          <a:noFill/>
          <a:ln/>
        </p:spPr>
        <p:txBody>
          <a:bodyPr wrap="square" lIns="0" tIns="0" rIns="0" bIns="0" rtlCol="0" anchor="ctr"/>
          <a:lstStyle/>
          <a:p>
            <a:pPr marL="0" indent="0">
              <a:buNone/>
            </a:pPr>
            <a:r>
              <a:rPr lang="en-US" sz="750">
                <a:solidFill>
                  <a:srgbClr val="667085"/>
                </a:solidFill>
              </a:rPr>
              <a:t>4.Structural Testing &amp; Mutation Analysis (SUT 2)</a:t>
            </a:r>
            <a:endParaRPr lang="en-US" sz="750" dirty="0">
              <a:solidFill>
                <a:srgbClr val="667085"/>
              </a:solidFill>
            </a:endParaRPr>
          </a:p>
        </p:txBody>
      </p:sp>
      <p:sp>
        <p:nvSpPr>
          <p:cNvPr id="7" name="Text 4"/>
          <p:cNvSpPr/>
          <p:nvPr/>
        </p:nvSpPr>
        <p:spPr>
          <a:xfrm>
            <a:off x="502920" y="1590485"/>
            <a:ext cx="2286000" cy="274320"/>
          </a:xfrm>
          <a:prstGeom prst="rect">
            <a:avLst/>
          </a:prstGeom>
          <a:noFill/>
          <a:ln/>
        </p:spPr>
        <p:txBody>
          <a:bodyPr wrap="square" lIns="0" tIns="0" rIns="0" bIns="0" rtlCol="0" anchor="ctr"/>
          <a:lstStyle/>
          <a:p>
            <a:pPr marL="0" indent="0">
              <a:buNone/>
            </a:pPr>
            <a:r>
              <a:rPr lang="en-US" sz="2000" b="1" dirty="0">
                <a:solidFill>
                  <a:srgbClr val="F97316"/>
                </a:solidFill>
              </a:rPr>
              <a:t>Unit Testing &amp; CRUD Verification</a:t>
            </a:r>
            <a:endParaRPr lang="en-US" sz="2000" dirty="0"/>
          </a:p>
        </p:txBody>
      </p:sp>
      <p:sp>
        <p:nvSpPr>
          <p:cNvPr id="8" name="Text 5"/>
          <p:cNvSpPr/>
          <p:nvPr/>
        </p:nvSpPr>
        <p:spPr>
          <a:xfrm>
            <a:off x="480060" y="2148840"/>
            <a:ext cx="3309620" cy="2560320"/>
          </a:xfrm>
          <a:prstGeom prst="rect">
            <a:avLst/>
          </a:prstGeom>
          <a:noFill/>
          <a:ln/>
        </p:spPr>
        <p:txBody>
          <a:bodyPr wrap="square" lIns="381" tIns="381" rIns="381" bIns="381" rtlCol="0" anchor="t">
            <a:normAutofit/>
          </a:bodyPr>
          <a:lstStyle/>
          <a:p>
            <a:pPr marL="139700" indent="-139700">
              <a:buSzPct val="100000"/>
              <a:buChar char="•"/>
            </a:pPr>
            <a:r>
              <a:rPr lang="en-US" sz="1600" dirty="0">
                <a:solidFill>
                  <a:srgbClr val="344054"/>
                </a:solidFill>
              </a:rPr>
              <a:t>Tools: Jest &amp; </a:t>
            </a:r>
            <a:r>
              <a:rPr lang="en-US" sz="1600" dirty="0" err="1">
                <a:solidFill>
                  <a:srgbClr val="344054"/>
                </a:solidFill>
              </a:rPr>
              <a:t>Supertest</a:t>
            </a:r>
            <a:r>
              <a:rPr lang="en-US" sz="1600" dirty="0">
                <a:solidFill>
                  <a:srgbClr val="344054"/>
                </a:solidFill>
              </a:rPr>
              <a:t> frameworks.  </a:t>
            </a:r>
            <a:endParaRPr lang="tr-TR" sz="1600" dirty="0">
              <a:solidFill>
                <a:srgbClr val="344054"/>
              </a:solidFill>
            </a:endParaRPr>
          </a:p>
          <a:p>
            <a:pPr marL="139700" indent="-139700">
              <a:buSzPct val="100000"/>
              <a:buChar char="•"/>
            </a:pPr>
            <a:r>
              <a:rPr lang="en-US" sz="1600" dirty="0">
                <a:solidFill>
                  <a:srgbClr val="344054"/>
                </a:solidFill>
              </a:rPr>
              <a:t>Focus: Direct verification of backend controllers and API logic.  </a:t>
            </a:r>
            <a:endParaRPr lang="tr-TR" sz="1600" dirty="0">
              <a:solidFill>
                <a:srgbClr val="344054"/>
              </a:solidFill>
            </a:endParaRPr>
          </a:p>
          <a:p>
            <a:pPr marL="139700" indent="-139700">
              <a:buSzPct val="100000"/>
              <a:buChar char="•"/>
            </a:pPr>
            <a:r>
              <a:rPr lang="en-US" sz="1600" dirty="0">
                <a:solidFill>
                  <a:srgbClr val="344054"/>
                </a:solidFill>
              </a:rPr>
              <a:t>Key </a:t>
            </a:r>
            <a:r>
              <a:rPr lang="en-US" sz="1600" dirty="0" err="1">
                <a:solidFill>
                  <a:srgbClr val="344054"/>
                </a:solidFill>
              </a:rPr>
              <a:t>Validations:Verified</a:t>
            </a:r>
            <a:r>
              <a:rPr lang="en-US" sz="1600" dirty="0">
                <a:solidFill>
                  <a:srgbClr val="344054"/>
                </a:solidFill>
              </a:rPr>
              <a:t> Create, Read, Update, and Delete (CRUD) functionality for the book database.  Rigorous testing of search logic and logical operators within the book.js module.</a:t>
            </a:r>
            <a:endParaRPr lang="en-US" sz="1600" dirty="0"/>
          </a:p>
        </p:txBody>
      </p:sp>
      <p:sp>
        <p:nvSpPr>
          <p:cNvPr id="25" name="Slide Number Placeholder 0"/>
          <p:cNvSpPr>
            <a:spLocks noGrp="1"/>
          </p:cNvSpPr>
          <p:nvPr>
            <p:ph type="sldNum" sz="quarter" idx="4294967295"/>
          </p:nvPr>
        </p:nvSpPr>
        <p:spPr>
          <a:xfrm>
            <a:off x="11311128" y="6537960"/>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67085"/>
                </a:solidFill>
                <a:latin typeface="Aptos"/>
                <a:ea typeface="Aptos"/>
                <a:cs typeface="Aptos"/>
              </a:defRPr>
            </a:lvl1pPr>
          </a:lstStyle>
          <a:p>
            <a:pPr algn="ctr">
              <a:defRPr sz="800">
                <a:solidFill>
                  <a:srgbClr val="5F6770"/>
                </a:solidFill>
              </a:defRPr>
            </a:pPr>
            <a:r>
              <a:t>13</a:t>
            </a:r>
          </a:p>
        </p:txBody>
      </p:sp>
      <p:pic>
        <p:nvPicPr>
          <p:cNvPr id="13" name="Resim 12">
            <a:extLst>
              <a:ext uri="{FF2B5EF4-FFF2-40B4-BE49-F238E27FC236}">
                <a16:creationId xmlns:a16="http://schemas.microsoft.com/office/drawing/2014/main" id="{38A6D130-FB81-F11E-FBA5-7E5BEBB026E8}"/>
              </a:ext>
            </a:extLst>
          </p:cNvPr>
          <p:cNvPicPr>
            <a:picLocks noChangeAspect="1"/>
          </p:cNvPicPr>
          <p:nvPr/>
        </p:nvPicPr>
        <p:blipFill>
          <a:blip r:embed="rId3"/>
          <a:stretch>
            <a:fillRect/>
          </a:stretch>
        </p:blipFill>
        <p:spPr>
          <a:xfrm>
            <a:off x="4534418" y="1214628"/>
            <a:ext cx="7281662" cy="511064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E5A93-1ED3-3211-DC2F-FCAB883F5EA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6BDE331-AC6A-3497-B0EF-D395642CBBC6}"/>
              </a:ext>
            </a:extLst>
          </p:cNvPr>
          <p:cNvSpPr/>
          <p:nvPr/>
        </p:nvSpPr>
        <p:spPr>
          <a:xfrm>
            <a:off x="502920" y="228600"/>
            <a:ext cx="4572000" cy="201168"/>
          </a:xfrm>
          <a:prstGeom prst="rect">
            <a:avLst/>
          </a:prstGeom>
          <a:noFill/>
          <a:ln/>
        </p:spPr>
        <p:txBody>
          <a:bodyPr wrap="square" lIns="0" tIns="0" rIns="0" bIns="0" rtlCol="0" anchor="ctr"/>
          <a:lstStyle/>
          <a:p>
            <a:pPr marL="0" indent="0">
              <a:buNone/>
            </a:pPr>
            <a:r>
              <a:rPr lang="en-US" sz="850" b="1" dirty="0">
                <a:solidFill>
                  <a:srgbClr val="F97316"/>
                </a:solidFill>
              </a:rPr>
              <a:t>SE 2226 TESTING PROJECT</a:t>
            </a:r>
            <a:endParaRPr lang="en-US" sz="850" dirty="0"/>
          </a:p>
        </p:txBody>
      </p:sp>
      <p:sp>
        <p:nvSpPr>
          <p:cNvPr id="3" name="Text 1">
            <a:extLst>
              <a:ext uri="{FF2B5EF4-FFF2-40B4-BE49-F238E27FC236}">
                <a16:creationId xmlns:a16="http://schemas.microsoft.com/office/drawing/2014/main" id="{BE31E726-279E-161D-A7B0-C9825A1D66E2}"/>
              </a:ext>
            </a:extLst>
          </p:cNvPr>
          <p:cNvSpPr/>
          <p:nvPr/>
        </p:nvSpPr>
        <p:spPr>
          <a:xfrm>
            <a:off x="502920" y="493776"/>
            <a:ext cx="8869680" cy="411480"/>
          </a:xfrm>
          <a:prstGeom prst="rect">
            <a:avLst/>
          </a:prstGeom>
          <a:noFill/>
          <a:ln/>
        </p:spPr>
        <p:txBody>
          <a:bodyPr wrap="square" lIns="0" tIns="0" rIns="0" bIns="0" rtlCol="0" anchor="ctr">
            <a:normAutofit lnSpcReduction="10000"/>
          </a:bodyPr>
          <a:lstStyle/>
          <a:p>
            <a:pPr lvl="0" defTabSz="914400" eaLnBrk="0" fontAlgn="base" hangingPunct="0">
              <a:spcBef>
                <a:spcPct val="0"/>
              </a:spcBef>
              <a:spcAft>
                <a:spcPct val="0"/>
              </a:spcAft>
            </a:pPr>
            <a:r>
              <a:rPr lang="tr-TR" altLang="tr-TR" sz="2800" b="1" dirty="0" err="1">
                <a:latin typeface="Google Sans Text"/>
              </a:rPr>
              <a:t>Structural</a:t>
            </a:r>
            <a:r>
              <a:rPr lang="tr-TR" altLang="tr-TR" sz="2800" b="1" dirty="0">
                <a:latin typeface="Google Sans Text"/>
              </a:rPr>
              <a:t> </a:t>
            </a:r>
            <a:r>
              <a:rPr lang="tr-TR" altLang="tr-TR" sz="2800" b="1" dirty="0" err="1">
                <a:latin typeface="Google Sans Text"/>
              </a:rPr>
              <a:t>Testing</a:t>
            </a:r>
            <a:r>
              <a:rPr lang="tr-TR" altLang="tr-TR" sz="2800" b="1" dirty="0">
                <a:latin typeface="Google Sans Text"/>
              </a:rPr>
              <a:t> &amp; </a:t>
            </a:r>
            <a:r>
              <a:rPr lang="tr-TR" altLang="tr-TR" sz="2800" b="1" dirty="0" err="1">
                <a:latin typeface="Google Sans Text"/>
              </a:rPr>
              <a:t>Mutation</a:t>
            </a:r>
            <a:r>
              <a:rPr lang="tr-TR" altLang="tr-TR" sz="2800" b="1" dirty="0">
                <a:latin typeface="Google Sans Text"/>
              </a:rPr>
              <a:t> Analysis (SUT 2)</a:t>
            </a:r>
            <a:endParaRPr lang="tr-TR" altLang="tr-TR" sz="2800" dirty="0">
              <a:latin typeface="Google Sans Text"/>
            </a:endParaRPr>
          </a:p>
        </p:txBody>
      </p:sp>
      <p:sp>
        <p:nvSpPr>
          <p:cNvPr id="4" name="Text 2">
            <a:extLst>
              <a:ext uri="{FF2B5EF4-FFF2-40B4-BE49-F238E27FC236}">
                <a16:creationId xmlns:a16="http://schemas.microsoft.com/office/drawing/2014/main" id="{85780A7D-D396-FAFF-B52B-79A3B1233E72}"/>
              </a:ext>
            </a:extLst>
          </p:cNvPr>
          <p:cNvSpPr/>
          <p:nvPr/>
        </p:nvSpPr>
        <p:spPr>
          <a:xfrm>
            <a:off x="502920" y="6519672"/>
            <a:ext cx="7772400" cy="146304"/>
          </a:xfrm>
          <a:prstGeom prst="rect">
            <a:avLst/>
          </a:prstGeom>
          <a:noFill/>
          <a:ln/>
        </p:spPr>
        <p:txBody>
          <a:bodyPr wrap="square" lIns="0" tIns="0" rIns="0" bIns="0" rtlCol="0" anchor="ctr"/>
          <a:lstStyle/>
          <a:p>
            <a:pPr marL="0" indent="0">
              <a:buNone/>
            </a:pPr>
            <a:r>
              <a:rPr lang="en-US" sz="750">
                <a:solidFill>
                  <a:srgbClr val="667085"/>
                </a:solidFill>
              </a:rPr>
              <a:t>4.Structural Testing &amp; Mutation Analysis (SUT 2)</a:t>
            </a:r>
            <a:endParaRPr lang="en-US" sz="750" dirty="0">
              <a:solidFill>
                <a:srgbClr val="667085"/>
              </a:solidFill>
            </a:endParaRPr>
          </a:p>
        </p:txBody>
      </p:sp>
      <p:sp>
        <p:nvSpPr>
          <p:cNvPr id="7" name="Text 4">
            <a:extLst>
              <a:ext uri="{FF2B5EF4-FFF2-40B4-BE49-F238E27FC236}">
                <a16:creationId xmlns:a16="http://schemas.microsoft.com/office/drawing/2014/main" id="{7102B2E7-0F89-D018-14D4-BE105FACE679}"/>
              </a:ext>
            </a:extLst>
          </p:cNvPr>
          <p:cNvSpPr/>
          <p:nvPr/>
        </p:nvSpPr>
        <p:spPr>
          <a:xfrm>
            <a:off x="502920" y="1819656"/>
            <a:ext cx="2286000" cy="274320"/>
          </a:xfrm>
          <a:prstGeom prst="rect">
            <a:avLst/>
          </a:prstGeom>
          <a:noFill/>
          <a:ln/>
        </p:spPr>
        <p:txBody>
          <a:bodyPr wrap="square" lIns="0" tIns="0" rIns="0" bIns="0" rtlCol="0" anchor="ctr"/>
          <a:lstStyle/>
          <a:p>
            <a:pPr marL="0" indent="0">
              <a:buNone/>
            </a:pPr>
            <a:r>
              <a:rPr lang="en-US" sz="2000" b="1" dirty="0">
                <a:solidFill>
                  <a:srgbClr val="F97316"/>
                </a:solidFill>
              </a:rPr>
              <a:t>Resilience &amp; Security Verification</a:t>
            </a:r>
            <a:endParaRPr lang="en-US" sz="2000" dirty="0"/>
          </a:p>
        </p:txBody>
      </p:sp>
      <p:sp>
        <p:nvSpPr>
          <p:cNvPr id="8" name="Text 5">
            <a:extLst>
              <a:ext uri="{FF2B5EF4-FFF2-40B4-BE49-F238E27FC236}">
                <a16:creationId xmlns:a16="http://schemas.microsoft.com/office/drawing/2014/main" id="{13BE8C82-C253-0C37-51DF-65635D98DF81}"/>
              </a:ext>
            </a:extLst>
          </p:cNvPr>
          <p:cNvSpPr/>
          <p:nvPr/>
        </p:nvSpPr>
        <p:spPr>
          <a:xfrm>
            <a:off x="502920" y="2432304"/>
            <a:ext cx="5138420" cy="2560320"/>
          </a:xfrm>
          <a:prstGeom prst="rect">
            <a:avLst/>
          </a:prstGeom>
          <a:noFill/>
          <a:ln/>
        </p:spPr>
        <p:txBody>
          <a:bodyPr wrap="square" lIns="381" tIns="381" rIns="381" bIns="381" rtlCol="0" anchor="t">
            <a:normAutofit/>
          </a:bodyPr>
          <a:lstStyle/>
          <a:p>
            <a:pPr marL="139700" indent="-139700">
              <a:buSzPct val="100000"/>
              <a:buChar char="•"/>
            </a:pPr>
            <a:r>
              <a:rPr lang="en-US" sz="1600" dirty="0">
                <a:solidFill>
                  <a:srgbClr val="344054"/>
                </a:solidFill>
              </a:rPr>
              <a:t>Technical Focus: Global Error Handlers and Information Disclosure prevention.  </a:t>
            </a:r>
            <a:endParaRPr lang="tr-TR" sz="1600" dirty="0">
              <a:solidFill>
                <a:srgbClr val="344054"/>
              </a:solidFill>
            </a:endParaRPr>
          </a:p>
          <a:p>
            <a:pPr marL="139700" indent="-139700">
              <a:buSzPct val="100000"/>
              <a:buChar char="•"/>
            </a:pPr>
            <a:r>
              <a:rPr lang="en-US" sz="1600" dirty="0">
                <a:solidFill>
                  <a:srgbClr val="344054"/>
                </a:solidFill>
              </a:rPr>
              <a:t>Testing Principle: Testing global error handlers ensures the system operates with the "Graceful Error Handling" principle, preventing sensitive information leakage even during system failures.  </a:t>
            </a:r>
            <a:endParaRPr lang="tr-TR" sz="1600" dirty="0">
              <a:solidFill>
                <a:srgbClr val="344054"/>
              </a:solidFill>
            </a:endParaRPr>
          </a:p>
          <a:p>
            <a:pPr marL="139700" indent="-139700">
              <a:buSzPct val="100000"/>
              <a:buChar char="•"/>
            </a:pPr>
            <a:r>
              <a:rPr lang="en-US" sz="1600" dirty="0">
                <a:solidFill>
                  <a:srgbClr val="344054"/>
                </a:solidFill>
              </a:rPr>
              <a:t>Validation: Verified that 404 and 500 error scenarios do not expose stack traces or server internals to the end-user..</a:t>
            </a:r>
            <a:endParaRPr lang="en-US" sz="1600" dirty="0"/>
          </a:p>
        </p:txBody>
      </p:sp>
      <p:sp>
        <p:nvSpPr>
          <p:cNvPr id="25" name="Slide Number Placeholder 0">
            <a:extLst>
              <a:ext uri="{FF2B5EF4-FFF2-40B4-BE49-F238E27FC236}">
                <a16:creationId xmlns:a16="http://schemas.microsoft.com/office/drawing/2014/main" id="{B6DF0B0C-17B3-47F8-404E-87A711D1979C}"/>
              </a:ext>
            </a:extLst>
          </p:cNvPr>
          <p:cNvSpPr>
            <a:spLocks noGrp="1"/>
          </p:cNvSpPr>
          <p:nvPr>
            <p:ph type="sldNum" sz="quarter" idx="4294967295"/>
          </p:nvPr>
        </p:nvSpPr>
        <p:spPr>
          <a:xfrm>
            <a:off x="11311128" y="6537960"/>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67085"/>
                </a:solidFill>
                <a:latin typeface="Aptos"/>
                <a:ea typeface="Aptos"/>
                <a:cs typeface="Aptos"/>
              </a:defRPr>
            </a:lvl1pPr>
          </a:lstStyle>
          <a:p>
            <a:pPr>
              <a:defRPr sz="1100">
                <a:solidFill>
                  <a:srgbClr val="667085"/>
                </a:solidFill>
              </a:defRPr>
            </a:pPr>
            <a:r>
              <a:t>12</a:t>
            </a:r>
          </a:p>
        </p:txBody>
      </p:sp>
      <p:pic>
        <p:nvPicPr>
          <p:cNvPr id="16" name="Resim 15">
            <a:extLst>
              <a:ext uri="{FF2B5EF4-FFF2-40B4-BE49-F238E27FC236}">
                <a16:creationId xmlns:a16="http://schemas.microsoft.com/office/drawing/2014/main" id="{1851ED1C-B09C-B677-235D-F3EB039D2D25}"/>
              </a:ext>
            </a:extLst>
          </p:cNvPr>
          <p:cNvPicPr>
            <a:picLocks noChangeAspect="1"/>
          </p:cNvPicPr>
          <p:nvPr/>
        </p:nvPicPr>
        <p:blipFill>
          <a:blip r:embed="rId3"/>
          <a:stretch>
            <a:fillRect/>
          </a:stretch>
        </p:blipFill>
        <p:spPr>
          <a:xfrm>
            <a:off x="5824728" y="1110614"/>
            <a:ext cx="6152764" cy="5459413"/>
          </a:xfrm>
          <a:prstGeom prst="rect">
            <a:avLst/>
          </a:prstGeom>
        </p:spPr>
      </p:pic>
    </p:spTree>
    <p:extLst>
      <p:ext uri="{BB962C8B-B14F-4D97-AF65-F5344CB8AC3E}">
        <p14:creationId xmlns:p14="http://schemas.microsoft.com/office/powerpoint/2010/main" val="14010049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28600"/>
            <a:ext cx="4572000" cy="201168"/>
          </a:xfrm>
          <a:prstGeom prst="rect">
            <a:avLst/>
          </a:prstGeom>
          <a:noFill/>
          <a:ln/>
        </p:spPr>
        <p:txBody>
          <a:bodyPr wrap="square" lIns="0" tIns="0" rIns="0" bIns="0" rtlCol="0" anchor="ctr"/>
          <a:lstStyle/>
          <a:p>
            <a:pPr marL="0" indent="0">
              <a:buNone/>
            </a:pPr>
            <a:r>
              <a:rPr lang="en-US" sz="850" b="1" dirty="0">
                <a:solidFill>
                  <a:srgbClr val="F97316"/>
                </a:solidFill>
              </a:rPr>
              <a:t>SE 2226 TESTING PROJECT</a:t>
            </a:r>
            <a:endParaRPr lang="en-US" sz="850" dirty="0"/>
          </a:p>
        </p:txBody>
      </p:sp>
      <p:sp>
        <p:nvSpPr>
          <p:cNvPr id="3" name="Text 1"/>
          <p:cNvSpPr/>
          <p:nvPr/>
        </p:nvSpPr>
        <p:spPr>
          <a:xfrm>
            <a:off x="634465" y="493776"/>
            <a:ext cx="8869680" cy="411480"/>
          </a:xfrm>
          <a:prstGeom prst="rect">
            <a:avLst/>
          </a:prstGeom>
          <a:noFill/>
          <a:ln/>
        </p:spPr>
        <p:txBody>
          <a:bodyPr wrap="square" lIns="0" tIns="0" rIns="0" bIns="0" rtlCol="0" anchor="ctr">
            <a:noAutofit/>
          </a:bodyPr>
          <a:lstStyle/>
          <a:p>
            <a:pPr>
              <a:defRPr>
                <a:solidFill>
                  <a:srgbClr val="1F2D42"/>
                </a:solidFill>
              </a:defRPr>
            </a:pPr>
            <a:r>
              <a:rPr lang="tr-TR" sz="2800" b="1" dirty="0"/>
              <a:t>3</a:t>
            </a:r>
            <a:r>
              <a:rPr sz="2800" b="1" dirty="0"/>
              <a:t>.Performance, Load &amp; Stress Testing</a:t>
            </a:r>
          </a:p>
        </p:txBody>
      </p:sp>
      <p:sp>
        <p:nvSpPr>
          <p:cNvPr id="4" name="Text 2"/>
          <p:cNvSpPr/>
          <p:nvPr/>
        </p:nvSpPr>
        <p:spPr>
          <a:xfrm>
            <a:off x="502920" y="6519672"/>
            <a:ext cx="7772400" cy="146304"/>
          </a:xfrm>
          <a:prstGeom prst="rect">
            <a:avLst/>
          </a:prstGeom>
          <a:noFill/>
          <a:ln/>
        </p:spPr>
        <p:txBody>
          <a:bodyPr wrap="square" lIns="0" tIns="0" rIns="0" bIns="0" rtlCol="0" anchor="ctr"/>
          <a:lstStyle/>
          <a:p>
            <a:pPr marL="0" indent="0">
              <a:buNone/>
            </a:pPr>
            <a:r>
              <a:rPr lang="en-US" sz="750">
                <a:solidFill>
                  <a:srgbClr val="667085"/>
                </a:solidFill>
              </a:rPr>
              <a:t>5.Performance, Load, and Stress Testing</a:t>
            </a:r>
            <a:endParaRPr lang="en-US" sz="750" dirty="0">
              <a:solidFill>
                <a:srgbClr val="667085"/>
              </a:solidFill>
            </a:endParaRPr>
          </a:p>
        </p:txBody>
      </p:sp>
      <p:sp>
        <p:nvSpPr>
          <p:cNvPr id="5" name="Text 3"/>
          <p:cNvSpPr/>
          <p:nvPr/>
        </p:nvSpPr>
        <p:spPr>
          <a:xfrm>
            <a:off x="634465" y="1292034"/>
            <a:ext cx="3657600" cy="256032"/>
          </a:xfrm>
          <a:prstGeom prst="rect">
            <a:avLst/>
          </a:prstGeom>
          <a:noFill/>
          <a:ln/>
        </p:spPr>
        <p:txBody>
          <a:bodyPr wrap="square" lIns="0" tIns="0" rIns="0" bIns="0" rtlCol="0" anchor="ctr"/>
          <a:lstStyle/>
          <a:p>
            <a:pPr>
              <a:defRPr>
                <a:solidFill>
                  <a:srgbClr val="1F2D42"/>
                </a:solidFill>
              </a:defRPr>
            </a:pPr>
            <a:r>
              <a:rPr sz="1500" b="1">
                <a:solidFill>
                  <a:srgbClr val="1F2D42"/>
                </a:solidFill>
              </a:rPr>
              <a:t>Performance, Load &amp; Stress — One-Page Summary</a:t>
            </a:r>
          </a:p>
        </p:txBody>
      </p:sp>
      <p:sp>
        <p:nvSpPr>
          <p:cNvPr id="6" name="Text 4"/>
          <p:cNvSpPr/>
          <p:nvPr/>
        </p:nvSpPr>
        <p:spPr>
          <a:xfrm>
            <a:off x="548640" y="2110422"/>
            <a:ext cx="868680" cy="265174"/>
          </a:xfrm>
          <a:prstGeom prst="rect">
            <a:avLst/>
          </a:prstGeom>
          <a:noFill/>
          <a:ln/>
        </p:spPr>
        <p:txBody>
          <a:bodyPr wrap="square" lIns="0" tIns="0" rIns="0" bIns="0" rtlCol="0" anchor="ctr"/>
          <a:lstStyle/>
          <a:p>
            <a:pPr marL="0" indent="0">
              <a:buNone/>
            </a:pPr>
            <a:r>
              <a:rPr lang="en-US" sz="950" dirty="0">
                <a:solidFill>
                  <a:srgbClr val="344054"/>
                </a:solidFill>
              </a:rPr>
              <a:t>10 users</a:t>
            </a:r>
            <a:endParaRPr lang="en-US" sz="950" dirty="0"/>
          </a:p>
        </p:txBody>
      </p:sp>
      <p:sp>
        <p:nvSpPr>
          <p:cNvPr id="7" name="Shape 5"/>
          <p:cNvSpPr/>
          <p:nvPr/>
        </p:nvSpPr>
        <p:spPr>
          <a:xfrm>
            <a:off x="1600200" y="2082989"/>
            <a:ext cx="3931920" cy="291691"/>
          </a:xfrm>
          <a:prstGeom prst="rect">
            <a:avLst/>
          </a:prstGeom>
          <a:solidFill>
            <a:srgbClr val="E5E7EB"/>
          </a:solidFill>
          <a:ln w="12700">
            <a:solidFill>
              <a:srgbClr val="E5E7EB"/>
            </a:solidFill>
            <a:prstDash val="solid"/>
          </a:ln>
        </p:spPr>
        <p:txBody>
          <a:bodyPr/>
          <a:lstStyle/>
          <a:p>
            <a:endParaRPr lang="tr-TR"/>
          </a:p>
        </p:txBody>
      </p:sp>
      <p:sp>
        <p:nvSpPr>
          <p:cNvPr id="8" name="Shape 6"/>
          <p:cNvSpPr/>
          <p:nvPr/>
        </p:nvSpPr>
        <p:spPr>
          <a:xfrm>
            <a:off x="1600200" y="2082989"/>
            <a:ext cx="122311" cy="291691"/>
          </a:xfrm>
          <a:prstGeom prst="rect">
            <a:avLst/>
          </a:prstGeom>
          <a:solidFill>
            <a:srgbClr val="16A34A"/>
          </a:solidFill>
          <a:ln w="12700">
            <a:solidFill>
              <a:srgbClr val="16A34A"/>
            </a:solidFill>
            <a:prstDash val="solid"/>
          </a:ln>
        </p:spPr>
        <p:txBody>
          <a:bodyPr/>
          <a:lstStyle/>
          <a:p>
            <a:endParaRPr lang="tr-TR"/>
          </a:p>
        </p:txBody>
      </p:sp>
      <p:sp>
        <p:nvSpPr>
          <p:cNvPr id="9" name="Text 7"/>
          <p:cNvSpPr/>
          <p:nvPr/>
        </p:nvSpPr>
        <p:spPr>
          <a:xfrm>
            <a:off x="5715000" y="2117961"/>
            <a:ext cx="914400" cy="265174"/>
          </a:xfrm>
          <a:prstGeom prst="rect">
            <a:avLst/>
          </a:prstGeom>
          <a:noFill/>
          <a:ln/>
        </p:spPr>
        <p:txBody>
          <a:bodyPr wrap="square" lIns="0" tIns="0" rIns="0" bIns="0" rtlCol="0" anchor="ctr"/>
          <a:lstStyle/>
          <a:p>
            <a:pPr marL="0" indent="0">
              <a:buNone/>
            </a:pPr>
            <a:r>
              <a:rPr lang="en-US" sz="900" dirty="0">
                <a:solidFill>
                  <a:srgbClr val="344054"/>
                </a:solidFill>
              </a:rPr>
              <a:t>871 ms</a:t>
            </a:r>
            <a:endParaRPr lang="en-US" sz="900" dirty="0"/>
          </a:p>
        </p:txBody>
      </p:sp>
      <p:sp>
        <p:nvSpPr>
          <p:cNvPr id="10" name="Text 8"/>
          <p:cNvSpPr/>
          <p:nvPr/>
        </p:nvSpPr>
        <p:spPr>
          <a:xfrm>
            <a:off x="548640" y="2640774"/>
            <a:ext cx="868680" cy="265174"/>
          </a:xfrm>
          <a:prstGeom prst="rect">
            <a:avLst/>
          </a:prstGeom>
          <a:noFill/>
          <a:ln/>
        </p:spPr>
        <p:txBody>
          <a:bodyPr wrap="square" lIns="0" tIns="0" rIns="0" bIns="0" rtlCol="0" anchor="ctr"/>
          <a:lstStyle/>
          <a:p>
            <a:pPr marL="0" indent="0">
              <a:buNone/>
            </a:pPr>
            <a:r>
              <a:rPr lang="en-US" sz="950" dirty="0">
                <a:solidFill>
                  <a:srgbClr val="344054"/>
                </a:solidFill>
              </a:rPr>
              <a:t>20 users</a:t>
            </a:r>
            <a:endParaRPr lang="en-US" sz="950" dirty="0"/>
          </a:p>
        </p:txBody>
      </p:sp>
      <p:sp>
        <p:nvSpPr>
          <p:cNvPr id="11" name="Shape 9"/>
          <p:cNvSpPr/>
          <p:nvPr/>
        </p:nvSpPr>
        <p:spPr>
          <a:xfrm>
            <a:off x="1600200" y="2613341"/>
            <a:ext cx="3931920" cy="291691"/>
          </a:xfrm>
          <a:prstGeom prst="rect">
            <a:avLst/>
          </a:prstGeom>
          <a:solidFill>
            <a:srgbClr val="E5E7EB"/>
          </a:solidFill>
          <a:ln w="12700">
            <a:solidFill>
              <a:srgbClr val="E5E7EB"/>
            </a:solidFill>
            <a:prstDash val="solid"/>
          </a:ln>
        </p:spPr>
        <p:txBody>
          <a:bodyPr/>
          <a:lstStyle/>
          <a:p>
            <a:endParaRPr lang="tr-TR"/>
          </a:p>
        </p:txBody>
      </p:sp>
      <p:sp>
        <p:nvSpPr>
          <p:cNvPr id="12" name="Shape 10"/>
          <p:cNvSpPr/>
          <p:nvPr/>
        </p:nvSpPr>
        <p:spPr>
          <a:xfrm>
            <a:off x="1600200" y="2613341"/>
            <a:ext cx="139724" cy="291691"/>
          </a:xfrm>
          <a:prstGeom prst="rect">
            <a:avLst/>
          </a:prstGeom>
          <a:solidFill>
            <a:srgbClr val="16A34A"/>
          </a:solidFill>
          <a:ln w="12700">
            <a:solidFill>
              <a:srgbClr val="16A34A"/>
            </a:solidFill>
            <a:prstDash val="solid"/>
          </a:ln>
        </p:spPr>
        <p:txBody>
          <a:bodyPr/>
          <a:lstStyle/>
          <a:p>
            <a:endParaRPr lang="tr-TR"/>
          </a:p>
        </p:txBody>
      </p:sp>
      <p:sp>
        <p:nvSpPr>
          <p:cNvPr id="13" name="Text 11"/>
          <p:cNvSpPr/>
          <p:nvPr/>
        </p:nvSpPr>
        <p:spPr>
          <a:xfrm>
            <a:off x="5715000" y="2583181"/>
            <a:ext cx="914400" cy="265174"/>
          </a:xfrm>
          <a:prstGeom prst="rect">
            <a:avLst/>
          </a:prstGeom>
          <a:noFill/>
          <a:ln/>
        </p:spPr>
        <p:txBody>
          <a:bodyPr wrap="square" lIns="0" tIns="0" rIns="0" bIns="0" rtlCol="0" anchor="ctr"/>
          <a:lstStyle/>
          <a:p>
            <a:pPr marL="0" indent="0">
              <a:buNone/>
            </a:pPr>
            <a:r>
              <a:rPr lang="en-US" sz="900" dirty="0">
                <a:solidFill>
                  <a:srgbClr val="344054"/>
                </a:solidFill>
              </a:rPr>
              <a:t>995 ms</a:t>
            </a:r>
            <a:endParaRPr lang="en-US" sz="900" dirty="0"/>
          </a:p>
        </p:txBody>
      </p:sp>
      <p:sp>
        <p:nvSpPr>
          <p:cNvPr id="14" name="Text 12"/>
          <p:cNvSpPr/>
          <p:nvPr/>
        </p:nvSpPr>
        <p:spPr>
          <a:xfrm>
            <a:off x="548640" y="3171126"/>
            <a:ext cx="868680" cy="265174"/>
          </a:xfrm>
          <a:prstGeom prst="rect">
            <a:avLst/>
          </a:prstGeom>
          <a:noFill/>
          <a:ln/>
        </p:spPr>
        <p:txBody>
          <a:bodyPr wrap="square" lIns="0" tIns="0" rIns="0" bIns="0" rtlCol="0" anchor="ctr"/>
          <a:lstStyle/>
          <a:p>
            <a:pPr marL="0" indent="0">
              <a:buNone/>
            </a:pPr>
            <a:r>
              <a:rPr lang="en-US" sz="950" dirty="0">
                <a:solidFill>
                  <a:srgbClr val="344054"/>
                </a:solidFill>
              </a:rPr>
              <a:t>50 users</a:t>
            </a:r>
            <a:endParaRPr lang="en-US" sz="950" dirty="0"/>
          </a:p>
        </p:txBody>
      </p:sp>
      <p:sp>
        <p:nvSpPr>
          <p:cNvPr id="15" name="Shape 13"/>
          <p:cNvSpPr/>
          <p:nvPr/>
        </p:nvSpPr>
        <p:spPr>
          <a:xfrm>
            <a:off x="1600200" y="3143693"/>
            <a:ext cx="3931920" cy="291691"/>
          </a:xfrm>
          <a:prstGeom prst="rect">
            <a:avLst/>
          </a:prstGeom>
          <a:solidFill>
            <a:srgbClr val="E5E7EB"/>
          </a:solidFill>
          <a:ln w="12700">
            <a:solidFill>
              <a:srgbClr val="E5E7EB"/>
            </a:solidFill>
            <a:prstDash val="solid"/>
          </a:ln>
        </p:spPr>
        <p:txBody>
          <a:bodyPr/>
          <a:lstStyle/>
          <a:p>
            <a:endParaRPr lang="tr-TR"/>
          </a:p>
        </p:txBody>
      </p:sp>
      <p:sp>
        <p:nvSpPr>
          <p:cNvPr id="16" name="Shape 14"/>
          <p:cNvSpPr/>
          <p:nvPr/>
        </p:nvSpPr>
        <p:spPr>
          <a:xfrm>
            <a:off x="1600200" y="3143693"/>
            <a:ext cx="226085" cy="291691"/>
          </a:xfrm>
          <a:prstGeom prst="rect">
            <a:avLst/>
          </a:prstGeom>
          <a:solidFill>
            <a:srgbClr val="16A34A"/>
          </a:solidFill>
          <a:ln w="12700">
            <a:solidFill>
              <a:srgbClr val="16A34A"/>
            </a:solidFill>
            <a:prstDash val="solid"/>
          </a:ln>
        </p:spPr>
        <p:txBody>
          <a:bodyPr/>
          <a:lstStyle/>
          <a:p>
            <a:endParaRPr lang="tr-TR"/>
          </a:p>
        </p:txBody>
      </p:sp>
      <p:sp>
        <p:nvSpPr>
          <p:cNvPr id="17" name="Text 15"/>
          <p:cNvSpPr/>
          <p:nvPr/>
        </p:nvSpPr>
        <p:spPr>
          <a:xfrm>
            <a:off x="5715000" y="3113533"/>
            <a:ext cx="914400" cy="265174"/>
          </a:xfrm>
          <a:prstGeom prst="rect">
            <a:avLst/>
          </a:prstGeom>
          <a:noFill/>
          <a:ln/>
        </p:spPr>
        <p:txBody>
          <a:bodyPr wrap="square" lIns="0" tIns="0" rIns="0" bIns="0" rtlCol="0" anchor="ctr"/>
          <a:lstStyle/>
          <a:p>
            <a:pPr marL="0" indent="0">
              <a:buNone/>
            </a:pPr>
            <a:r>
              <a:rPr lang="en-US" sz="900" dirty="0">
                <a:solidFill>
                  <a:srgbClr val="344054"/>
                </a:solidFill>
              </a:rPr>
              <a:t>1610 ms</a:t>
            </a:r>
            <a:endParaRPr lang="en-US" sz="900" dirty="0"/>
          </a:p>
        </p:txBody>
      </p:sp>
      <p:sp>
        <p:nvSpPr>
          <p:cNvPr id="18" name="Text 16"/>
          <p:cNvSpPr/>
          <p:nvPr/>
        </p:nvSpPr>
        <p:spPr>
          <a:xfrm>
            <a:off x="548640" y="3701478"/>
            <a:ext cx="868680" cy="265174"/>
          </a:xfrm>
          <a:prstGeom prst="rect">
            <a:avLst/>
          </a:prstGeom>
          <a:noFill/>
          <a:ln/>
        </p:spPr>
        <p:txBody>
          <a:bodyPr wrap="square" lIns="0" tIns="0" rIns="0" bIns="0" rtlCol="0" anchor="ctr"/>
          <a:lstStyle/>
          <a:p>
            <a:pPr marL="0" indent="0">
              <a:buNone/>
            </a:pPr>
            <a:r>
              <a:rPr lang="en-US" sz="950" dirty="0">
                <a:solidFill>
                  <a:srgbClr val="344054"/>
                </a:solidFill>
              </a:rPr>
              <a:t>100 users</a:t>
            </a:r>
            <a:endParaRPr lang="en-US" sz="950" dirty="0"/>
          </a:p>
        </p:txBody>
      </p:sp>
      <p:sp>
        <p:nvSpPr>
          <p:cNvPr id="19" name="Shape 17"/>
          <p:cNvSpPr/>
          <p:nvPr/>
        </p:nvSpPr>
        <p:spPr>
          <a:xfrm>
            <a:off x="1600200" y="3674045"/>
            <a:ext cx="3931920" cy="291691"/>
          </a:xfrm>
          <a:prstGeom prst="rect">
            <a:avLst/>
          </a:prstGeom>
          <a:solidFill>
            <a:srgbClr val="E5E7EB"/>
          </a:solidFill>
          <a:ln w="12700">
            <a:solidFill>
              <a:srgbClr val="E5E7EB"/>
            </a:solidFill>
            <a:prstDash val="solid"/>
          </a:ln>
        </p:spPr>
        <p:txBody>
          <a:bodyPr/>
          <a:lstStyle/>
          <a:p>
            <a:endParaRPr lang="tr-TR"/>
          </a:p>
        </p:txBody>
      </p:sp>
      <p:sp>
        <p:nvSpPr>
          <p:cNvPr id="20" name="Shape 18"/>
          <p:cNvSpPr/>
          <p:nvPr/>
        </p:nvSpPr>
        <p:spPr>
          <a:xfrm>
            <a:off x="1600200" y="3674045"/>
            <a:ext cx="711537" cy="291691"/>
          </a:xfrm>
          <a:prstGeom prst="rect">
            <a:avLst/>
          </a:prstGeom>
          <a:solidFill>
            <a:srgbClr val="F59E0B"/>
          </a:solidFill>
          <a:ln w="12700">
            <a:solidFill>
              <a:srgbClr val="F59E0B"/>
            </a:solidFill>
            <a:prstDash val="solid"/>
          </a:ln>
        </p:spPr>
        <p:txBody>
          <a:bodyPr/>
          <a:lstStyle/>
          <a:p>
            <a:endParaRPr lang="tr-TR"/>
          </a:p>
        </p:txBody>
      </p:sp>
      <p:sp>
        <p:nvSpPr>
          <p:cNvPr id="21" name="Text 19"/>
          <p:cNvSpPr/>
          <p:nvPr/>
        </p:nvSpPr>
        <p:spPr>
          <a:xfrm>
            <a:off x="5715000" y="3643885"/>
            <a:ext cx="914400" cy="265174"/>
          </a:xfrm>
          <a:prstGeom prst="rect">
            <a:avLst/>
          </a:prstGeom>
          <a:noFill/>
          <a:ln/>
        </p:spPr>
        <p:txBody>
          <a:bodyPr wrap="square" lIns="0" tIns="0" rIns="0" bIns="0" rtlCol="0" anchor="ctr"/>
          <a:lstStyle/>
          <a:p>
            <a:pPr marL="0" indent="0">
              <a:buNone/>
            </a:pPr>
            <a:r>
              <a:rPr lang="en-US" sz="900" dirty="0">
                <a:solidFill>
                  <a:srgbClr val="344054"/>
                </a:solidFill>
              </a:rPr>
              <a:t>5067 ms</a:t>
            </a:r>
            <a:endParaRPr lang="en-US" sz="900" dirty="0"/>
          </a:p>
        </p:txBody>
      </p:sp>
      <p:sp>
        <p:nvSpPr>
          <p:cNvPr id="22" name="Text 20"/>
          <p:cNvSpPr/>
          <p:nvPr/>
        </p:nvSpPr>
        <p:spPr>
          <a:xfrm>
            <a:off x="548640" y="4231830"/>
            <a:ext cx="868680" cy="265174"/>
          </a:xfrm>
          <a:prstGeom prst="rect">
            <a:avLst/>
          </a:prstGeom>
          <a:noFill/>
          <a:ln/>
        </p:spPr>
        <p:txBody>
          <a:bodyPr wrap="square" lIns="0" tIns="0" rIns="0" bIns="0" rtlCol="0" anchor="ctr"/>
          <a:lstStyle/>
          <a:p>
            <a:pPr marL="0" indent="0">
              <a:buNone/>
            </a:pPr>
            <a:r>
              <a:rPr lang="en-US" sz="950" dirty="0">
                <a:solidFill>
                  <a:srgbClr val="344054"/>
                </a:solidFill>
              </a:rPr>
              <a:t>300 users</a:t>
            </a:r>
            <a:endParaRPr lang="en-US" sz="950" dirty="0"/>
          </a:p>
        </p:txBody>
      </p:sp>
      <p:sp>
        <p:nvSpPr>
          <p:cNvPr id="23" name="Shape 21"/>
          <p:cNvSpPr/>
          <p:nvPr/>
        </p:nvSpPr>
        <p:spPr>
          <a:xfrm>
            <a:off x="1600200" y="4204397"/>
            <a:ext cx="3931920" cy="291691"/>
          </a:xfrm>
          <a:prstGeom prst="rect">
            <a:avLst/>
          </a:prstGeom>
          <a:solidFill>
            <a:srgbClr val="E5E7EB"/>
          </a:solidFill>
          <a:ln w="12700">
            <a:solidFill>
              <a:srgbClr val="E5E7EB"/>
            </a:solidFill>
            <a:prstDash val="solid"/>
          </a:ln>
        </p:spPr>
        <p:txBody>
          <a:bodyPr/>
          <a:lstStyle/>
          <a:p>
            <a:endParaRPr lang="tr-TR"/>
          </a:p>
        </p:txBody>
      </p:sp>
      <p:sp>
        <p:nvSpPr>
          <p:cNvPr id="24" name="Shape 22"/>
          <p:cNvSpPr/>
          <p:nvPr/>
        </p:nvSpPr>
        <p:spPr>
          <a:xfrm>
            <a:off x="1600200" y="4204397"/>
            <a:ext cx="3841767" cy="291691"/>
          </a:xfrm>
          <a:prstGeom prst="rect">
            <a:avLst/>
          </a:prstGeom>
          <a:solidFill>
            <a:srgbClr val="DC2626"/>
          </a:solidFill>
          <a:ln w="12700">
            <a:solidFill>
              <a:srgbClr val="DC2626"/>
            </a:solidFill>
            <a:prstDash val="solid"/>
          </a:ln>
        </p:spPr>
        <p:txBody>
          <a:bodyPr/>
          <a:lstStyle/>
          <a:p>
            <a:endParaRPr lang="tr-TR"/>
          </a:p>
        </p:txBody>
      </p:sp>
      <p:sp>
        <p:nvSpPr>
          <p:cNvPr id="25" name="Text 23"/>
          <p:cNvSpPr/>
          <p:nvPr/>
        </p:nvSpPr>
        <p:spPr>
          <a:xfrm>
            <a:off x="5715000" y="4174237"/>
            <a:ext cx="914400" cy="265174"/>
          </a:xfrm>
          <a:prstGeom prst="rect">
            <a:avLst/>
          </a:prstGeom>
          <a:noFill/>
          <a:ln/>
        </p:spPr>
        <p:txBody>
          <a:bodyPr wrap="square" lIns="0" tIns="0" rIns="0" bIns="0" rtlCol="0" anchor="ctr"/>
          <a:lstStyle/>
          <a:p>
            <a:pPr marL="0" indent="0">
              <a:buNone/>
            </a:pPr>
            <a:r>
              <a:rPr lang="en-US" sz="900" dirty="0">
                <a:solidFill>
                  <a:srgbClr val="344054"/>
                </a:solidFill>
              </a:rPr>
              <a:t>27358 ms</a:t>
            </a:r>
            <a:endParaRPr lang="en-US" sz="900" dirty="0"/>
          </a:p>
        </p:txBody>
      </p:sp>
      <p:sp>
        <p:nvSpPr>
          <p:cNvPr id="26" name="Text 24"/>
          <p:cNvSpPr/>
          <p:nvPr/>
        </p:nvSpPr>
        <p:spPr>
          <a:xfrm>
            <a:off x="548640" y="4762182"/>
            <a:ext cx="868680" cy="265174"/>
          </a:xfrm>
          <a:prstGeom prst="rect">
            <a:avLst/>
          </a:prstGeom>
          <a:noFill/>
          <a:ln/>
        </p:spPr>
        <p:txBody>
          <a:bodyPr wrap="square" lIns="0" tIns="0" rIns="0" bIns="0" rtlCol="0" anchor="ctr"/>
          <a:lstStyle/>
          <a:p>
            <a:pPr marL="0" indent="0">
              <a:buNone/>
            </a:pPr>
            <a:r>
              <a:rPr lang="en-US" sz="950" dirty="0">
                <a:solidFill>
                  <a:srgbClr val="344054"/>
                </a:solidFill>
              </a:rPr>
              <a:t>400 users</a:t>
            </a:r>
            <a:endParaRPr lang="en-US" sz="950" dirty="0"/>
          </a:p>
        </p:txBody>
      </p:sp>
      <p:sp>
        <p:nvSpPr>
          <p:cNvPr id="27" name="Shape 25"/>
          <p:cNvSpPr/>
          <p:nvPr/>
        </p:nvSpPr>
        <p:spPr>
          <a:xfrm>
            <a:off x="1600200" y="4734749"/>
            <a:ext cx="3931920" cy="291691"/>
          </a:xfrm>
          <a:prstGeom prst="rect">
            <a:avLst/>
          </a:prstGeom>
          <a:solidFill>
            <a:srgbClr val="E5E7EB"/>
          </a:solidFill>
          <a:ln w="12700">
            <a:solidFill>
              <a:srgbClr val="E5E7EB"/>
            </a:solidFill>
            <a:prstDash val="solid"/>
          </a:ln>
        </p:spPr>
        <p:txBody>
          <a:bodyPr/>
          <a:lstStyle/>
          <a:p>
            <a:endParaRPr lang="tr-TR"/>
          </a:p>
        </p:txBody>
      </p:sp>
      <p:sp>
        <p:nvSpPr>
          <p:cNvPr id="28" name="Shape 26"/>
          <p:cNvSpPr/>
          <p:nvPr/>
        </p:nvSpPr>
        <p:spPr>
          <a:xfrm>
            <a:off x="1600200" y="4734749"/>
            <a:ext cx="3787282" cy="291691"/>
          </a:xfrm>
          <a:prstGeom prst="rect">
            <a:avLst/>
          </a:prstGeom>
          <a:solidFill>
            <a:srgbClr val="DC2626"/>
          </a:solidFill>
          <a:ln w="12700">
            <a:solidFill>
              <a:srgbClr val="DC2626"/>
            </a:solidFill>
            <a:prstDash val="solid"/>
          </a:ln>
        </p:spPr>
        <p:txBody>
          <a:bodyPr/>
          <a:lstStyle/>
          <a:p>
            <a:endParaRPr lang="tr-TR"/>
          </a:p>
        </p:txBody>
      </p:sp>
      <p:sp>
        <p:nvSpPr>
          <p:cNvPr id="29" name="Text 27"/>
          <p:cNvSpPr/>
          <p:nvPr/>
        </p:nvSpPr>
        <p:spPr>
          <a:xfrm>
            <a:off x="5715000" y="4704589"/>
            <a:ext cx="914400" cy="265174"/>
          </a:xfrm>
          <a:prstGeom prst="rect">
            <a:avLst/>
          </a:prstGeom>
          <a:noFill/>
          <a:ln/>
        </p:spPr>
        <p:txBody>
          <a:bodyPr wrap="square" lIns="0" tIns="0" rIns="0" bIns="0" rtlCol="0" anchor="ctr"/>
          <a:lstStyle/>
          <a:p>
            <a:pPr marL="0" indent="0">
              <a:buNone/>
            </a:pPr>
            <a:r>
              <a:rPr lang="en-US" sz="900" dirty="0">
                <a:solidFill>
                  <a:srgbClr val="344054"/>
                </a:solidFill>
              </a:rPr>
              <a:t>26970 ms</a:t>
            </a:r>
            <a:endParaRPr lang="en-US" sz="900" dirty="0"/>
          </a:p>
        </p:txBody>
      </p:sp>
      <p:sp>
        <p:nvSpPr>
          <p:cNvPr id="31" name="Text 29"/>
          <p:cNvSpPr/>
          <p:nvPr/>
        </p:nvSpPr>
        <p:spPr>
          <a:xfrm>
            <a:off x="6858000" y="2201862"/>
            <a:ext cx="4480560" cy="2560320"/>
          </a:xfrm>
          <a:prstGeom prst="rect">
            <a:avLst/>
          </a:prstGeom>
          <a:noFill/>
          <a:ln/>
        </p:spPr>
        <p:txBody>
          <a:bodyPr wrap="square" lIns="381" tIns="381" rIns="381" bIns="381" rtlCol="0" anchor="t">
            <a:noAutofit/>
          </a:bodyPr>
          <a:lstStyle/>
          <a:p>
            <a:pPr marL="285750" indent="-285750">
              <a:spcAft>
                <a:spcPts val="800"/>
              </a:spcAft>
              <a:buFont typeface="Arial" panose="020B0604020202020204" pitchFamily="34" charset="0"/>
              <a:buChar char="•"/>
              <a:defRPr sz="1350">
                <a:solidFill>
                  <a:srgbClr val="1F2D42"/>
                </a:solidFill>
              </a:defRPr>
            </a:pPr>
            <a:r>
              <a:rPr sz="1600" b="1" dirty="0"/>
              <a:t>Performance (10–50 users): </a:t>
            </a:r>
            <a:r>
              <a:rPr sz="1600" dirty="0"/>
              <a:t>acceptable response times below 2 seconds.</a:t>
            </a:r>
          </a:p>
          <a:p>
            <a:pPr marL="285750" indent="-285750">
              <a:spcAft>
                <a:spcPts val="800"/>
              </a:spcAft>
              <a:buFont typeface="Arial" panose="020B0604020202020204" pitchFamily="34" charset="0"/>
              <a:buChar char="•"/>
              <a:defRPr sz="1350">
                <a:solidFill>
                  <a:srgbClr val="1F2D42"/>
                </a:solidFill>
              </a:defRPr>
            </a:pPr>
            <a:r>
              <a:rPr sz="1600" b="1" dirty="0"/>
              <a:t>Load (100 users): </a:t>
            </a:r>
            <a:r>
              <a:rPr sz="1600" dirty="0"/>
              <a:t>average response time reached 5.067 seconds; UX degradation begins.</a:t>
            </a:r>
          </a:p>
          <a:p>
            <a:pPr marL="285750" indent="-285750">
              <a:spcAft>
                <a:spcPts val="800"/>
              </a:spcAft>
              <a:buFont typeface="Arial" panose="020B0604020202020204" pitchFamily="34" charset="0"/>
              <a:buChar char="•"/>
              <a:defRPr sz="1350">
                <a:solidFill>
                  <a:srgbClr val="1F2D42"/>
                </a:solidFill>
              </a:defRPr>
            </a:pPr>
            <a:r>
              <a:rPr sz="1600" b="1" dirty="0"/>
              <a:t>Breaking point (300 users): </a:t>
            </a:r>
            <a:r>
              <a:rPr sz="1600" dirty="0"/>
              <a:t>~27 seconds average response time and errors appear.</a:t>
            </a:r>
          </a:p>
          <a:p>
            <a:pPr marL="285750" indent="-285750">
              <a:spcAft>
                <a:spcPts val="800"/>
              </a:spcAft>
              <a:buFont typeface="Arial" panose="020B0604020202020204" pitchFamily="34" charset="0"/>
              <a:buChar char="•"/>
              <a:defRPr sz="1350">
                <a:solidFill>
                  <a:srgbClr val="1F2D42"/>
                </a:solidFill>
              </a:defRPr>
            </a:pPr>
            <a:r>
              <a:rPr sz="1600" b="1" dirty="0"/>
              <a:t>Stress (600 users): </a:t>
            </a:r>
            <a:r>
              <a:rPr sz="1600" dirty="0"/>
              <a:t>28.01% error rate, exceeding the 10% failure threshold.</a:t>
            </a:r>
          </a:p>
          <a:p>
            <a:pPr marL="285750" indent="-285750">
              <a:spcAft>
                <a:spcPts val="800"/>
              </a:spcAft>
              <a:buFont typeface="Arial" panose="020B0604020202020204" pitchFamily="34" charset="0"/>
              <a:buChar char="•"/>
              <a:defRPr sz="1350">
                <a:solidFill>
                  <a:srgbClr val="1F2D42"/>
                </a:solidFill>
              </a:defRPr>
            </a:pPr>
            <a:r>
              <a:rPr sz="1600" b="1" dirty="0"/>
              <a:t>Verdict: </a:t>
            </a:r>
            <a:r>
              <a:rPr sz="1600" dirty="0"/>
              <a:t>safe for low load; risky after 100 users.</a:t>
            </a:r>
          </a:p>
        </p:txBody>
      </p:sp>
      <p:sp>
        <p:nvSpPr>
          <p:cNvPr id="34" name="Slide Number Placeholder 0"/>
          <p:cNvSpPr>
            <a:spLocks noGrp="1"/>
          </p:cNvSpPr>
          <p:nvPr>
            <p:ph type="sldNum" sz="quarter" idx="4294967295"/>
          </p:nvPr>
        </p:nvSpPr>
        <p:spPr>
          <a:xfrm>
            <a:off x="11311128"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67085"/>
                </a:solidFill>
                <a:latin typeface="Aptos"/>
                <a:ea typeface="Aptos"/>
                <a:cs typeface="Aptos"/>
              </a:defRPr>
            </a:lvl1pPr>
          </a:lstStyle>
          <a:p>
            <a:r>
              <a:rPr sz="800" b="0">
                <a:solidFill>
                  <a:srgbClr val="FFFFFF"/>
                </a:solidFill>
              </a:rPr>
              <a:t>15</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28600"/>
            <a:ext cx="4572000" cy="201168"/>
          </a:xfrm>
          <a:prstGeom prst="rect">
            <a:avLst/>
          </a:prstGeom>
          <a:noFill/>
          <a:ln/>
        </p:spPr>
        <p:txBody>
          <a:bodyPr wrap="square" lIns="0" tIns="0" rIns="0" bIns="0" rtlCol="0" anchor="ctr"/>
          <a:lstStyle/>
          <a:p>
            <a:pPr marL="0" indent="0">
              <a:buNone/>
            </a:pPr>
            <a:r>
              <a:rPr lang="en-US" sz="850" b="1" dirty="0">
                <a:solidFill>
                  <a:srgbClr val="F97316"/>
                </a:solidFill>
              </a:rPr>
              <a:t>SE 2226 TESTING PROJECT</a:t>
            </a:r>
            <a:endParaRPr lang="en-US" sz="850" dirty="0"/>
          </a:p>
        </p:txBody>
      </p:sp>
      <p:sp>
        <p:nvSpPr>
          <p:cNvPr id="3" name="Text 1"/>
          <p:cNvSpPr/>
          <p:nvPr/>
        </p:nvSpPr>
        <p:spPr>
          <a:xfrm>
            <a:off x="502920" y="727822"/>
            <a:ext cx="8869680" cy="411480"/>
          </a:xfrm>
          <a:prstGeom prst="rect">
            <a:avLst/>
          </a:prstGeom>
          <a:noFill/>
          <a:ln/>
        </p:spPr>
        <p:txBody>
          <a:bodyPr wrap="square" lIns="0" tIns="0" rIns="0" bIns="0" rtlCol="0" anchor="ctr">
            <a:normAutofit/>
          </a:bodyPr>
          <a:lstStyle/>
          <a:p>
            <a:pPr marL="0" indent="0">
              <a:buNone/>
            </a:pPr>
            <a:r>
              <a:rPr lang="en-US" sz="2500" b="1" dirty="0">
                <a:solidFill>
                  <a:srgbClr val="101828"/>
                </a:solidFill>
              </a:rPr>
              <a:t>Usability Evaluation — Nielsen Heuristics</a:t>
            </a:r>
            <a:endParaRPr lang="en-US" sz="2500" dirty="0"/>
          </a:p>
        </p:txBody>
      </p:sp>
      <p:sp>
        <p:nvSpPr>
          <p:cNvPr id="4" name="Text 2"/>
          <p:cNvSpPr/>
          <p:nvPr/>
        </p:nvSpPr>
        <p:spPr>
          <a:xfrm>
            <a:off x="502920" y="6519672"/>
            <a:ext cx="7772400" cy="146304"/>
          </a:xfrm>
          <a:prstGeom prst="rect">
            <a:avLst/>
          </a:prstGeom>
          <a:noFill/>
          <a:ln/>
        </p:spPr>
        <p:txBody>
          <a:bodyPr wrap="square" lIns="0" tIns="0" rIns="0" bIns="0" rtlCol="0" anchor="ctr"/>
          <a:lstStyle/>
          <a:p>
            <a:pPr marL="0" indent="0">
              <a:buNone/>
            </a:pPr>
            <a:r>
              <a:rPr lang="en-US" sz="750">
                <a:solidFill>
                  <a:srgbClr val="667085"/>
                </a:solidFill>
              </a:rPr>
              <a:t>5.Usability &amp; Cross-Browser Compatibility</a:t>
            </a:r>
            <a:endParaRPr lang="en-US" sz="750" dirty="0">
              <a:solidFill>
                <a:srgbClr val="667085"/>
              </a:solidFill>
            </a:endParaRPr>
          </a:p>
        </p:txBody>
      </p:sp>
      <p:sp>
        <p:nvSpPr>
          <p:cNvPr id="9" name="Text 5"/>
          <p:cNvSpPr/>
          <p:nvPr/>
        </p:nvSpPr>
        <p:spPr>
          <a:xfrm>
            <a:off x="502918" y="1195793"/>
            <a:ext cx="2047775" cy="633480"/>
          </a:xfrm>
          <a:prstGeom prst="rect">
            <a:avLst/>
          </a:prstGeom>
          <a:noFill/>
          <a:ln/>
        </p:spPr>
        <p:txBody>
          <a:bodyPr wrap="square" lIns="0" tIns="0" rIns="0" bIns="0" rtlCol="0" anchor="ctr"/>
          <a:lstStyle/>
          <a:p>
            <a:pPr marL="0" indent="0">
              <a:buNone/>
            </a:pPr>
            <a:r>
              <a:rPr lang="en-US" sz="2000" b="1" dirty="0">
                <a:solidFill>
                  <a:srgbClr val="F97316"/>
                </a:solidFill>
              </a:rPr>
              <a:t>Usability Evaluation </a:t>
            </a:r>
            <a:endParaRPr lang="en-US" sz="2000" dirty="0"/>
          </a:p>
        </p:txBody>
      </p:sp>
      <p:sp>
        <p:nvSpPr>
          <p:cNvPr id="10" name="Text 6"/>
          <p:cNvSpPr/>
          <p:nvPr/>
        </p:nvSpPr>
        <p:spPr>
          <a:xfrm>
            <a:off x="1954207" y="1195793"/>
            <a:ext cx="11190171" cy="4211030"/>
          </a:xfrm>
          <a:prstGeom prst="rect">
            <a:avLst/>
          </a:prstGeom>
          <a:noFill/>
          <a:ln/>
        </p:spPr>
        <p:txBody>
          <a:bodyPr wrap="square" lIns="381" tIns="381" rIns="381" bIns="381" rtlCol="0" anchor="t">
            <a:normAutofit/>
          </a:bodyPr>
          <a:lstStyle/>
          <a:p>
            <a:pPr marL="139700" indent="-139700">
              <a:buSzPct val="100000"/>
              <a:buChar char="•"/>
            </a:pPr>
            <a:r>
              <a:rPr lang="en-US" sz="1600" dirty="0">
                <a:solidFill>
                  <a:srgbClr val="344054"/>
                </a:solidFill>
              </a:rPr>
              <a:t>Overall Rating: 85% (Good usability with minor issues)  </a:t>
            </a:r>
            <a:endParaRPr lang="tr-TR" sz="1600" dirty="0">
              <a:solidFill>
                <a:srgbClr val="344054"/>
              </a:solidFill>
            </a:endParaRPr>
          </a:p>
          <a:p>
            <a:pPr marL="139700" indent="-139700">
              <a:buSzPct val="100000"/>
              <a:buChar char="•"/>
            </a:pPr>
            <a:r>
              <a:rPr lang="en-US" sz="1600" dirty="0">
                <a:solidFill>
                  <a:srgbClr val="344054"/>
                </a:solidFill>
              </a:rPr>
              <a:t>Heuristic Strengths:  </a:t>
            </a:r>
            <a:endParaRPr lang="tr-TR" sz="1600" dirty="0">
              <a:solidFill>
                <a:srgbClr val="344054"/>
              </a:solidFill>
            </a:endParaRPr>
          </a:p>
          <a:p>
            <a:pPr marL="628650" lvl="1" indent="-171450">
              <a:buSzPct val="100000"/>
              <a:buFont typeface="Courier New" panose="02070309020205020404" pitchFamily="49" charset="0"/>
              <a:buChar char="o"/>
            </a:pPr>
            <a:r>
              <a:rPr lang="en-US" sz="1600" dirty="0">
                <a:solidFill>
                  <a:srgbClr val="344054"/>
                </a:solidFill>
              </a:rPr>
              <a:t>Visibility of System Status: Clear feedback during record searches (e.g., "1 Record Found").  </a:t>
            </a:r>
            <a:endParaRPr lang="tr-TR" sz="1600" dirty="0">
              <a:solidFill>
                <a:srgbClr val="344054"/>
              </a:solidFill>
            </a:endParaRPr>
          </a:p>
          <a:p>
            <a:pPr marL="628650" lvl="1" indent="-171450">
              <a:buSzPct val="100000"/>
              <a:buFont typeface="Courier New" panose="02070309020205020404" pitchFamily="49" charset="0"/>
              <a:buChar char="o"/>
            </a:pPr>
            <a:r>
              <a:rPr lang="en-US" sz="1600" dirty="0">
                <a:solidFill>
                  <a:srgbClr val="344054"/>
                </a:solidFill>
              </a:rPr>
              <a:t>Match Between System &amp; Real World: Utilizes industry-standard terminology in Recruitment and Leave modules.  </a:t>
            </a:r>
            <a:endParaRPr lang="tr-TR" sz="1600" dirty="0">
              <a:solidFill>
                <a:srgbClr val="344054"/>
              </a:solidFill>
            </a:endParaRPr>
          </a:p>
          <a:p>
            <a:pPr marL="628650" lvl="1" indent="-171450">
              <a:buSzPct val="100000"/>
              <a:buFont typeface="Courier New" panose="02070309020205020404" pitchFamily="49" charset="0"/>
              <a:buChar char="o"/>
            </a:pPr>
            <a:r>
              <a:rPr lang="en-US" sz="1600" dirty="0">
                <a:solidFill>
                  <a:srgbClr val="344054"/>
                </a:solidFill>
              </a:rPr>
              <a:t>User Control &amp; Freedom: Provides confirmation dialogs and "Cancel" options for critical actions.  </a:t>
            </a:r>
            <a:endParaRPr lang="tr-TR" sz="1600" dirty="0">
              <a:solidFill>
                <a:srgbClr val="344054"/>
              </a:solidFill>
            </a:endParaRPr>
          </a:p>
          <a:p>
            <a:pPr marL="139700" indent="-139700">
              <a:buSzPct val="100000"/>
              <a:buChar char="•"/>
            </a:pPr>
            <a:r>
              <a:rPr lang="en-US" sz="1600" dirty="0">
                <a:solidFill>
                  <a:srgbClr val="344054"/>
                </a:solidFill>
              </a:rPr>
              <a:t>Identified Issues:  </a:t>
            </a:r>
            <a:endParaRPr lang="tr-TR" sz="1600" dirty="0">
              <a:solidFill>
                <a:srgbClr val="344054"/>
              </a:solidFill>
            </a:endParaRPr>
          </a:p>
          <a:p>
            <a:pPr marL="628650" lvl="1" indent="-171450">
              <a:buSzPct val="100000"/>
              <a:buFont typeface="Courier New" panose="02070309020205020404" pitchFamily="49" charset="0"/>
              <a:buChar char="o"/>
            </a:pPr>
            <a:r>
              <a:rPr lang="en-US" sz="1600" dirty="0">
                <a:solidFill>
                  <a:srgbClr val="344054"/>
                </a:solidFill>
              </a:rPr>
              <a:t>Aesthetic &amp; Minimalist Design: Some pages contain too many input fields, creating a "crowded" interface.  </a:t>
            </a:r>
            <a:endParaRPr lang="tr-TR" sz="1600" dirty="0">
              <a:solidFill>
                <a:srgbClr val="344054"/>
              </a:solidFill>
            </a:endParaRPr>
          </a:p>
          <a:p>
            <a:pPr marL="628650" lvl="1" indent="-171450">
              <a:buSzPct val="100000"/>
              <a:buFont typeface="Courier New" panose="02070309020205020404" pitchFamily="49" charset="0"/>
              <a:buChar char="o"/>
            </a:pPr>
            <a:r>
              <a:rPr lang="en-US" sz="1600" dirty="0">
                <a:solidFill>
                  <a:srgbClr val="344054"/>
                </a:solidFill>
              </a:rPr>
              <a:t>Consistency: Occasional unexpected language shifts (from English to Spanish).</a:t>
            </a:r>
            <a:endParaRPr lang="en-US" sz="1600" dirty="0"/>
          </a:p>
        </p:txBody>
      </p:sp>
      <p:sp>
        <p:nvSpPr>
          <p:cNvPr id="25" name="Slide Number Placeholder 0"/>
          <p:cNvSpPr>
            <a:spLocks noGrp="1"/>
          </p:cNvSpPr>
          <p:nvPr>
            <p:ph type="sldNum" sz="quarter" idx="4294967295"/>
          </p:nvPr>
        </p:nvSpPr>
        <p:spPr>
          <a:xfrm>
            <a:off x="11311128"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67085"/>
                </a:solidFill>
                <a:latin typeface="Aptos"/>
                <a:ea typeface="Aptos"/>
                <a:cs typeface="Aptos"/>
              </a:defRPr>
            </a:lvl1pPr>
          </a:lstStyle>
          <a:p>
            <a:r>
              <a:rPr sz="800" b="0">
                <a:solidFill>
                  <a:srgbClr val="FFFFFF"/>
                </a:solidFill>
              </a:rPr>
              <a:t>16</a:t>
            </a:r>
          </a:p>
        </p:txBody>
      </p:sp>
      <p:pic>
        <p:nvPicPr>
          <p:cNvPr id="14" name="Resim 13">
            <a:extLst>
              <a:ext uri="{FF2B5EF4-FFF2-40B4-BE49-F238E27FC236}">
                <a16:creationId xmlns:a16="http://schemas.microsoft.com/office/drawing/2014/main" id="{8B2BD336-87D9-17F1-B20E-8F222FB92D00}"/>
              </a:ext>
            </a:extLst>
          </p:cNvPr>
          <p:cNvPicPr>
            <a:picLocks noChangeAspect="1"/>
          </p:cNvPicPr>
          <p:nvPr/>
        </p:nvPicPr>
        <p:blipFill>
          <a:blip r:embed="rId3"/>
          <a:stretch>
            <a:fillRect/>
          </a:stretch>
        </p:blipFill>
        <p:spPr>
          <a:xfrm>
            <a:off x="1526806" y="3275499"/>
            <a:ext cx="9050813" cy="3200751"/>
          </a:xfrm>
          <a:prstGeom prst="rect">
            <a:avLst/>
          </a:prstGeom>
        </p:spPr>
      </p:pic>
      <p:sp>
        <p:nvSpPr>
          <p:cNvPr id="15" name="Text 1">
            <a:extLst>
              <a:ext uri="{FF2B5EF4-FFF2-40B4-BE49-F238E27FC236}">
                <a16:creationId xmlns:a16="http://schemas.microsoft.com/office/drawing/2014/main" id="{C573A5BE-3044-5184-FDC9-650384E24A53}"/>
              </a:ext>
            </a:extLst>
          </p:cNvPr>
          <p:cNvSpPr/>
          <p:nvPr/>
        </p:nvSpPr>
        <p:spPr>
          <a:xfrm>
            <a:off x="502920" y="381750"/>
            <a:ext cx="8869680" cy="411480"/>
          </a:xfrm>
          <a:prstGeom prst="rect">
            <a:avLst/>
          </a:prstGeom>
          <a:noFill/>
          <a:ln/>
        </p:spPr>
        <p:txBody>
          <a:bodyPr wrap="square" lIns="0" tIns="0" rIns="0" bIns="0" rtlCol="0" anchor="ctr">
            <a:normAutofit/>
          </a:bodyPr>
          <a:lstStyle/>
          <a:p>
            <a:pPr marL="0" indent="0">
              <a:buNone/>
            </a:pPr>
            <a:r>
              <a:rPr lang="tr-TR" sz="2500" b="1" dirty="0">
                <a:solidFill>
                  <a:srgbClr val="101828"/>
                </a:solidFill>
              </a:rPr>
              <a:t>4.Usability &amp; Cross-Browser Compatibility</a:t>
            </a:r>
            <a:endParaRPr lang="en-US" sz="2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47E0D-D853-A15D-5419-CE5BE355AFF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7003301-324F-DDF2-2E08-A4DC64ECC6C3}"/>
              </a:ext>
            </a:extLst>
          </p:cNvPr>
          <p:cNvSpPr/>
          <p:nvPr/>
        </p:nvSpPr>
        <p:spPr>
          <a:xfrm>
            <a:off x="502920" y="228600"/>
            <a:ext cx="4572000" cy="201168"/>
          </a:xfrm>
          <a:prstGeom prst="rect">
            <a:avLst/>
          </a:prstGeom>
          <a:noFill/>
          <a:ln/>
        </p:spPr>
        <p:txBody>
          <a:bodyPr wrap="square" lIns="0" tIns="0" rIns="0" bIns="0" rtlCol="0" anchor="ctr"/>
          <a:lstStyle/>
          <a:p>
            <a:pPr marL="0" indent="0">
              <a:buNone/>
            </a:pPr>
            <a:r>
              <a:rPr lang="en-US" sz="850" b="1" dirty="0">
                <a:solidFill>
                  <a:srgbClr val="F97316"/>
                </a:solidFill>
              </a:rPr>
              <a:t>SE 2226 TESTING PROJECT</a:t>
            </a:r>
            <a:endParaRPr lang="en-US" sz="850" dirty="0"/>
          </a:p>
        </p:txBody>
      </p:sp>
      <p:sp>
        <p:nvSpPr>
          <p:cNvPr id="3" name="Text 1">
            <a:extLst>
              <a:ext uri="{FF2B5EF4-FFF2-40B4-BE49-F238E27FC236}">
                <a16:creationId xmlns:a16="http://schemas.microsoft.com/office/drawing/2014/main" id="{035DBB4E-F364-4903-B943-2A35F7305A59}"/>
              </a:ext>
            </a:extLst>
          </p:cNvPr>
          <p:cNvSpPr/>
          <p:nvPr/>
        </p:nvSpPr>
        <p:spPr>
          <a:xfrm>
            <a:off x="502920" y="493776"/>
            <a:ext cx="8869680" cy="411480"/>
          </a:xfrm>
          <a:prstGeom prst="rect">
            <a:avLst/>
          </a:prstGeom>
          <a:noFill/>
          <a:ln/>
        </p:spPr>
        <p:txBody>
          <a:bodyPr wrap="square" lIns="0" tIns="0" rIns="0" bIns="0" rtlCol="0" anchor="ctr">
            <a:normAutofit/>
          </a:bodyPr>
          <a:lstStyle/>
          <a:p>
            <a:pPr marL="0" indent="0">
              <a:buNone/>
            </a:pPr>
            <a:r>
              <a:rPr lang="en-US" sz="2500" b="1" dirty="0">
                <a:solidFill>
                  <a:srgbClr val="101828"/>
                </a:solidFill>
              </a:rPr>
              <a:t>Cross-Browser Compatibility Analysis</a:t>
            </a:r>
            <a:endParaRPr lang="en-US" sz="2500" dirty="0"/>
          </a:p>
        </p:txBody>
      </p:sp>
      <p:sp>
        <p:nvSpPr>
          <p:cNvPr id="4" name="Text 2">
            <a:extLst>
              <a:ext uri="{FF2B5EF4-FFF2-40B4-BE49-F238E27FC236}">
                <a16:creationId xmlns:a16="http://schemas.microsoft.com/office/drawing/2014/main" id="{2B23C0D5-7B25-47AD-1084-33E17697ED20}"/>
              </a:ext>
            </a:extLst>
          </p:cNvPr>
          <p:cNvSpPr/>
          <p:nvPr/>
        </p:nvSpPr>
        <p:spPr>
          <a:xfrm>
            <a:off x="502920" y="6519672"/>
            <a:ext cx="7772400" cy="146304"/>
          </a:xfrm>
          <a:prstGeom prst="rect">
            <a:avLst/>
          </a:prstGeom>
          <a:noFill/>
          <a:ln/>
        </p:spPr>
        <p:txBody>
          <a:bodyPr wrap="square" lIns="0" tIns="0" rIns="0" bIns="0" rtlCol="0" anchor="ctr"/>
          <a:lstStyle/>
          <a:p>
            <a:pPr marL="0" indent="0">
              <a:buNone/>
            </a:pPr>
            <a:r>
              <a:rPr lang="en-US" sz="750">
                <a:solidFill>
                  <a:srgbClr val="667085"/>
                </a:solidFill>
              </a:rPr>
              <a:t>5.Usability &amp; Cross-Browser Compatibility</a:t>
            </a:r>
            <a:endParaRPr lang="en-US" sz="750" dirty="0">
              <a:solidFill>
                <a:srgbClr val="667085"/>
              </a:solidFill>
            </a:endParaRPr>
          </a:p>
        </p:txBody>
      </p:sp>
      <p:sp>
        <p:nvSpPr>
          <p:cNvPr id="9" name="Text 5">
            <a:extLst>
              <a:ext uri="{FF2B5EF4-FFF2-40B4-BE49-F238E27FC236}">
                <a16:creationId xmlns:a16="http://schemas.microsoft.com/office/drawing/2014/main" id="{B9538BAC-CA17-047F-2D5E-2FC5EC8E800F}"/>
              </a:ext>
            </a:extLst>
          </p:cNvPr>
          <p:cNvSpPr/>
          <p:nvPr/>
        </p:nvSpPr>
        <p:spPr>
          <a:xfrm>
            <a:off x="334969" y="988755"/>
            <a:ext cx="2138680" cy="493776"/>
          </a:xfrm>
          <a:prstGeom prst="rect">
            <a:avLst/>
          </a:prstGeom>
          <a:noFill/>
          <a:ln/>
        </p:spPr>
        <p:txBody>
          <a:bodyPr wrap="square" lIns="0" tIns="0" rIns="0" bIns="0" rtlCol="0" anchor="ctr"/>
          <a:lstStyle/>
          <a:p>
            <a:pPr marL="0" indent="0">
              <a:buNone/>
            </a:pPr>
            <a:r>
              <a:rPr lang="en-US" sz="1500" b="1" dirty="0">
                <a:solidFill>
                  <a:srgbClr val="F97316"/>
                </a:solidFill>
              </a:rPr>
              <a:t>Cross-Browser Compatibility Analysis</a:t>
            </a:r>
            <a:endParaRPr lang="en-US" sz="1500" dirty="0"/>
          </a:p>
        </p:txBody>
      </p:sp>
      <p:sp>
        <p:nvSpPr>
          <p:cNvPr id="10" name="Text 6">
            <a:extLst>
              <a:ext uri="{FF2B5EF4-FFF2-40B4-BE49-F238E27FC236}">
                <a16:creationId xmlns:a16="http://schemas.microsoft.com/office/drawing/2014/main" id="{AD1C6A20-0D1E-CB58-2544-ACF0C0F85421}"/>
              </a:ext>
            </a:extLst>
          </p:cNvPr>
          <p:cNvSpPr/>
          <p:nvPr/>
        </p:nvSpPr>
        <p:spPr>
          <a:xfrm>
            <a:off x="228114" y="1726079"/>
            <a:ext cx="7294222" cy="1762328"/>
          </a:xfrm>
          <a:prstGeom prst="rect">
            <a:avLst/>
          </a:prstGeom>
          <a:noFill/>
          <a:ln/>
        </p:spPr>
        <p:txBody>
          <a:bodyPr wrap="square" lIns="381" tIns="381" rIns="381" bIns="381" rtlCol="0" anchor="t">
            <a:normAutofit/>
          </a:bodyPr>
          <a:lstStyle/>
          <a:p>
            <a:pPr marL="139700" indent="-139700">
              <a:buSzPct val="100000"/>
              <a:buChar char="•"/>
            </a:pPr>
            <a:r>
              <a:rPr lang="en-US" sz="1400" dirty="0">
                <a:solidFill>
                  <a:srgbClr val="344054"/>
                </a:solidFill>
              </a:rPr>
              <a:t>Testing Scope: Evaluated </a:t>
            </a:r>
            <a:r>
              <a:rPr lang="en-US" sz="1400" dirty="0" err="1">
                <a:solidFill>
                  <a:srgbClr val="344054"/>
                </a:solidFill>
              </a:rPr>
              <a:t>OrangeHRM</a:t>
            </a:r>
            <a:r>
              <a:rPr lang="en-US" sz="1400" dirty="0">
                <a:solidFill>
                  <a:srgbClr val="344054"/>
                </a:solidFill>
              </a:rPr>
              <a:t> on Chrome (v147), Firefox (v149), and Edge (v147) on macOS.  </a:t>
            </a:r>
            <a:endParaRPr lang="tr-TR" sz="1400" dirty="0">
              <a:solidFill>
                <a:srgbClr val="344054"/>
              </a:solidFill>
            </a:endParaRPr>
          </a:p>
          <a:p>
            <a:pPr marL="139700" indent="-139700">
              <a:buSzPct val="100000"/>
              <a:buChar char="•"/>
            </a:pPr>
            <a:r>
              <a:rPr lang="en-US" sz="1400" dirty="0">
                <a:solidFill>
                  <a:srgbClr val="344054"/>
                </a:solidFill>
              </a:rPr>
              <a:t>Overall Compatibility Rating: 94% </a:t>
            </a:r>
            <a:endParaRPr lang="tr-TR" sz="1400" dirty="0">
              <a:solidFill>
                <a:srgbClr val="344054"/>
              </a:solidFill>
            </a:endParaRPr>
          </a:p>
          <a:p>
            <a:pPr marL="139700" indent="-139700">
              <a:buSzPct val="100000"/>
              <a:buChar char="•"/>
            </a:pPr>
            <a:r>
              <a:rPr lang="en-US" sz="1400" dirty="0">
                <a:solidFill>
                  <a:srgbClr val="344054"/>
                </a:solidFill>
              </a:rPr>
              <a:t>Core Stability:  Authentication &amp; Navigation: 100% stable logout redirection and invalid credential alerts across all platforms.  </a:t>
            </a:r>
            <a:endParaRPr lang="tr-TR" sz="1400" dirty="0">
              <a:solidFill>
                <a:srgbClr val="344054"/>
              </a:solidFill>
            </a:endParaRPr>
          </a:p>
          <a:p>
            <a:pPr marL="139700" indent="-139700">
              <a:buSzPct val="100000"/>
              <a:buChar char="•"/>
            </a:pPr>
            <a:r>
              <a:rPr lang="en-US" sz="1400" dirty="0">
                <a:solidFill>
                  <a:srgbClr val="344054"/>
                </a:solidFill>
              </a:rPr>
              <a:t>Responsiveness: Successful UI rearrangement (RWD) when browser viewports were minimized.  </a:t>
            </a:r>
            <a:endParaRPr lang="tr-TR" sz="1400" dirty="0">
              <a:solidFill>
                <a:srgbClr val="344054"/>
              </a:solidFill>
            </a:endParaRPr>
          </a:p>
          <a:p>
            <a:pPr marL="139700" indent="-139700">
              <a:buSzPct val="100000"/>
              <a:buChar char="•"/>
            </a:pPr>
            <a:r>
              <a:rPr lang="en-US" sz="1400" dirty="0">
                <a:solidFill>
                  <a:srgbClr val="344054"/>
                </a:solidFill>
              </a:rPr>
              <a:t>Defect Severity Ratio:  Critical/High: 0% (No functional blockers identified).  Medium/Low: 100% (Identified issues were purely visual or transient).</a:t>
            </a:r>
            <a:endParaRPr lang="en-US" sz="1400" dirty="0"/>
          </a:p>
        </p:txBody>
      </p:sp>
      <p:sp>
        <p:nvSpPr>
          <p:cNvPr id="25" name="Slide Number Placeholder 0">
            <a:extLst>
              <a:ext uri="{FF2B5EF4-FFF2-40B4-BE49-F238E27FC236}">
                <a16:creationId xmlns:a16="http://schemas.microsoft.com/office/drawing/2014/main" id="{14CF575E-1A24-C7FA-93F8-9E1F22A3E632}"/>
              </a:ext>
            </a:extLst>
          </p:cNvPr>
          <p:cNvSpPr>
            <a:spLocks noGrp="1"/>
          </p:cNvSpPr>
          <p:nvPr>
            <p:ph type="sldNum" sz="quarter" idx="4294967295"/>
          </p:nvPr>
        </p:nvSpPr>
        <p:spPr>
          <a:xfrm>
            <a:off x="11311128" y="6537960"/>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67085"/>
                </a:solidFill>
                <a:latin typeface="Aptos"/>
                <a:ea typeface="Aptos"/>
                <a:cs typeface="Aptos"/>
              </a:defRPr>
            </a:lvl1pPr>
          </a:lstStyle>
          <a:p>
            <a:r>
              <a:rPr sz="800" b="0">
                <a:solidFill>
                  <a:srgbClr val="FFFFFF"/>
                </a:solidFill>
              </a:rPr>
              <a:t>17</a:t>
            </a:r>
          </a:p>
        </p:txBody>
      </p:sp>
      <p:pic>
        <p:nvPicPr>
          <p:cNvPr id="8" name="Resim 7">
            <a:extLst>
              <a:ext uri="{FF2B5EF4-FFF2-40B4-BE49-F238E27FC236}">
                <a16:creationId xmlns:a16="http://schemas.microsoft.com/office/drawing/2014/main" id="{E921D50D-2CBA-3AA5-2B54-889BC53E2ECE}"/>
              </a:ext>
            </a:extLst>
          </p:cNvPr>
          <p:cNvPicPr>
            <a:picLocks noChangeAspect="1"/>
          </p:cNvPicPr>
          <p:nvPr/>
        </p:nvPicPr>
        <p:blipFill>
          <a:blip r:embed="rId3"/>
          <a:stretch>
            <a:fillRect/>
          </a:stretch>
        </p:blipFill>
        <p:spPr>
          <a:xfrm>
            <a:off x="7558783" y="122637"/>
            <a:ext cx="4552345" cy="2522728"/>
          </a:xfrm>
          <a:prstGeom prst="rect">
            <a:avLst/>
          </a:prstGeom>
        </p:spPr>
      </p:pic>
      <p:sp>
        <p:nvSpPr>
          <p:cNvPr id="11" name="Text 7">
            <a:extLst>
              <a:ext uri="{FF2B5EF4-FFF2-40B4-BE49-F238E27FC236}">
                <a16:creationId xmlns:a16="http://schemas.microsoft.com/office/drawing/2014/main" id="{7A6B27ED-2FCF-98D5-73AF-46DA565C6F28}"/>
              </a:ext>
            </a:extLst>
          </p:cNvPr>
          <p:cNvSpPr/>
          <p:nvPr/>
        </p:nvSpPr>
        <p:spPr>
          <a:xfrm>
            <a:off x="6096000" y="201168"/>
            <a:ext cx="1389888" cy="292608"/>
          </a:xfrm>
          <a:prstGeom prst="rect">
            <a:avLst/>
          </a:prstGeom>
          <a:solidFill>
            <a:srgbClr val="DBEAFE"/>
          </a:solidFill>
          <a:ln>
            <a:solidFill>
              <a:srgbClr val="DBEAFE"/>
            </a:solidFill>
          </a:ln>
        </p:spPr>
        <p:txBody>
          <a:bodyPr wrap="square" lIns="254" tIns="254" rIns="254" bIns="254" rtlCol="0" anchor="ctr"/>
          <a:lstStyle/>
          <a:p>
            <a:pPr marL="0" indent="0" algn="ctr">
              <a:buNone/>
            </a:pPr>
            <a:r>
              <a:rPr lang="en-US" sz="2000" b="1" dirty="0">
                <a:solidFill>
                  <a:srgbClr val="2563EB"/>
                </a:solidFill>
              </a:rPr>
              <a:t>Chrome:</a:t>
            </a:r>
            <a:endParaRPr lang="en-US" sz="2000" dirty="0"/>
          </a:p>
        </p:txBody>
      </p:sp>
      <p:sp>
        <p:nvSpPr>
          <p:cNvPr id="12" name="Text 8">
            <a:extLst>
              <a:ext uri="{FF2B5EF4-FFF2-40B4-BE49-F238E27FC236}">
                <a16:creationId xmlns:a16="http://schemas.microsoft.com/office/drawing/2014/main" id="{3425BBC0-1CEA-D4E7-1368-8CE52F9E9256}"/>
              </a:ext>
            </a:extLst>
          </p:cNvPr>
          <p:cNvSpPr/>
          <p:nvPr/>
        </p:nvSpPr>
        <p:spPr>
          <a:xfrm>
            <a:off x="191666" y="3731955"/>
            <a:ext cx="1143000" cy="292608"/>
          </a:xfrm>
          <a:prstGeom prst="rect">
            <a:avLst/>
          </a:prstGeom>
          <a:solidFill>
            <a:srgbClr val="DBEAFE"/>
          </a:solidFill>
          <a:ln>
            <a:solidFill>
              <a:srgbClr val="DBEAFE"/>
            </a:solidFill>
          </a:ln>
        </p:spPr>
        <p:txBody>
          <a:bodyPr wrap="square" lIns="254" tIns="254" rIns="254" bIns="254" rtlCol="0" anchor="ctr"/>
          <a:lstStyle/>
          <a:p>
            <a:pPr marL="0" indent="0" algn="ctr">
              <a:buNone/>
            </a:pPr>
            <a:r>
              <a:rPr lang="en-US" sz="2000" b="1" dirty="0">
                <a:solidFill>
                  <a:srgbClr val="2563EB"/>
                </a:solidFill>
              </a:rPr>
              <a:t>Edge:</a:t>
            </a:r>
            <a:endParaRPr lang="en-US" sz="2000" dirty="0"/>
          </a:p>
        </p:txBody>
      </p:sp>
      <p:sp>
        <p:nvSpPr>
          <p:cNvPr id="13" name="Text 9">
            <a:extLst>
              <a:ext uri="{FF2B5EF4-FFF2-40B4-BE49-F238E27FC236}">
                <a16:creationId xmlns:a16="http://schemas.microsoft.com/office/drawing/2014/main" id="{97FC5DA4-46A7-8458-F89C-3CF377845191}"/>
              </a:ext>
            </a:extLst>
          </p:cNvPr>
          <p:cNvSpPr/>
          <p:nvPr/>
        </p:nvSpPr>
        <p:spPr>
          <a:xfrm>
            <a:off x="6251448" y="3731955"/>
            <a:ext cx="1234440" cy="292608"/>
          </a:xfrm>
          <a:prstGeom prst="rect">
            <a:avLst/>
          </a:prstGeom>
          <a:solidFill>
            <a:srgbClr val="DCFCE7"/>
          </a:solidFill>
          <a:ln>
            <a:solidFill>
              <a:srgbClr val="DCFCE7"/>
            </a:solidFill>
          </a:ln>
        </p:spPr>
        <p:txBody>
          <a:bodyPr wrap="square" lIns="254" tIns="254" rIns="254" bIns="254" rtlCol="0" anchor="ctr"/>
          <a:lstStyle/>
          <a:p>
            <a:pPr marL="0" indent="0" algn="ctr">
              <a:buNone/>
            </a:pPr>
            <a:r>
              <a:rPr lang="en-US" sz="2000" b="1" dirty="0">
                <a:solidFill>
                  <a:srgbClr val="16A34A"/>
                </a:solidFill>
              </a:rPr>
              <a:t>Firefox:</a:t>
            </a:r>
            <a:endParaRPr lang="en-US" sz="2000" dirty="0"/>
          </a:p>
        </p:txBody>
      </p:sp>
      <p:pic>
        <p:nvPicPr>
          <p:cNvPr id="16" name="Resim 15">
            <a:extLst>
              <a:ext uri="{FF2B5EF4-FFF2-40B4-BE49-F238E27FC236}">
                <a16:creationId xmlns:a16="http://schemas.microsoft.com/office/drawing/2014/main" id="{322D5814-9741-087F-3F11-603A9BD51011}"/>
              </a:ext>
            </a:extLst>
          </p:cNvPr>
          <p:cNvPicPr>
            <a:picLocks noChangeAspect="1"/>
          </p:cNvPicPr>
          <p:nvPr/>
        </p:nvPicPr>
        <p:blipFill>
          <a:blip r:embed="rId4"/>
          <a:stretch>
            <a:fillRect/>
          </a:stretch>
        </p:blipFill>
        <p:spPr>
          <a:xfrm>
            <a:off x="7561360" y="3731955"/>
            <a:ext cx="4549768" cy="2499265"/>
          </a:xfrm>
          <a:prstGeom prst="rect">
            <a:avLst/>
          </a:prstGeom>
        </p:spPr>
      </p:pic>
      <p:pic>
        <p:nvPicPr>
          <p:cNvPr id="18" name="Resim 17">
            <a:extLst>
              <a:ext uri="{FF2B5EF4-FFF2-40B4-BE49-F238E27FC236}">
                <a16:creationId xmlns:a16="http://schemas.microsoft.com/office/drawing/2014/main" id="{AADA1253-97B9-EDA3-B802-C923C690153D}"/>
              </a:ext>
            </a:extLst>
          </p:cNvPr>
          <p:cNvPicPr>
            <a:picLocks noChangeAspect="1"/>
          </p:cNvPicPr>
          <p:nvPr/>
        </p:nvPicPr>
        <p:blipFill>
          <a:blip r:embed="rId5"/>
          <a:stretch>
            <a:fillRect/>
          </a:stretch>
        </p:blipFill>
        <p:spPr>
          <a:xfrm>
            <a:off x="1572260" y="3731955"/>
            <a:ext cx="4508081" cy="2499265"/>
          </a:xfrm>
          <a:prstGeom prst="rect">
            <a:avLst/>
          </a:prstGeom>
        </p:spPr>
      </p:pic>
    </p:spTree>
    <p:extLst>
      <p:ext uri="{BB962C8B-B14F-4D97-AF65-F5344CB8AC3E}">
        <p14:creationId xmlns:p14="http://schemas.microsoft.com/office/powerpoint/2010/main" val="9722844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A9D63-70FA-4E07-8CE1-0FBA654E78F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4D24A84-CF15-F7A2-7B78-AA7F24D10AF6}"/>
              </a:ext>
            </a:extLst>
          </p:cNvPr>
          <p:cNvSpPr/>
          <p:nvPr/>
        </p:nvSpPr>
        <p:spPr>
          <a:xfrm>
            <a:off x="502920" y="228600"/>
            <a:ext cx="4572000" cy="201168"/>
          </a:xfrm>
          <a:prstGeom prst="rect">
            <a:avLst/>
          </a:prstGeom>
          <a:noFill/>
          <a:ln/>
        </p:spPr>
        <p:txBody>
          <a:bodyPr wrap="square" lIns="0" tIns="0" rIns="0" bIns="0" rtlCol="0" anchor="ctr"/>
          <a:lstStyle/>
          <a:p>
            <a:pPr marL="0" indent="0">
              <a:buNone/>
            </a:pPr>
            <a:r>
              <a:rPr lang="en-US" sz="850" b="1" dirty="0">
                <a:solidFill>
                  <a:srgbClr val="F97316"/>
                </a:solidFill>
              </a:rPr>
              <a:t>SE 2226 TESTING PROJECT</a:t>
            </a:r>
            <a:endParaRPr lang="en-US" sz="850" dirty="0"/>
          </a:p>
        </p:txBody>
      </p:sp>
      <p:sp>
        <p:nvSpPr>
          <p:cNvPr id="3" name="Text 1">
            <a:extLst>
              <a:ext uri="{FF2B5EF4-FFF2-40B4-BE49-F238E27FC236}">
                <a16:creationId xmlns:a16="http://schemas.microsoft.com/office/drawing/2014/main" id="{37A3E4A7-9C21-98D0-C45F-24C32251B3B0}"/>
              </a:ext>
            </a:extLst>
          </p:cNvPr>
          <p:cNvSpPr/>
          <p:nvPr/>
        </p:nvSpPr>
        <p:spPr>
          <a:xfrm>
            <a:off x="502920" y="493776"/>
            <a:ext cx="8869680" cy="411480"/>
          </a:xfrm>
          <a:prstGeom prst="rect">
            <a:avLst/>
          </a:prstGeom>
          <a:noFill/>
          <a:ln/>
        </p:spPr>
        <p:txBody>
          <a:bodyPr wrap="square" lIns="0" tIns="0" rIns="0" bIns="0" rtlCol="0" anchor="ctr">
            <a:normAutofit/>
          </a:bodyPr>
          <a:lstStyle/>
          <a:p>
            <a:pPr marL="0" indent="0">
              <a:buNone/>
            </a:pPr>
            <a:r>
              <a:rPr lang="en-US" sz="2500" b="1" dirty="0">
                <a:solidFill>
                  <a:srgbClr val="101828"/>
                </a:solidFill>
              </a:rPr>
              <a:t>Compatibility Findings &amp; Technical Risks</a:t>
            </a:r>
            <a:endParaRPr lang="en-US" sz="2500" dirty="0"/>
          </a:p>
        </p:txBody>
      </p:sp>
      <p:sp>
        <p:nvSpPr>
          <p:cNvPr id="4" name="Text 2">
            <a:extLst>
              <a:ext uri="{FF2B5EF4-FFF2-40B4-BE49-F238E27FC236}">
                <a16:creationId xmlns:a16="http://schemas.microsoft.com/office/drawing/2014/main" id="{B26BBB16-35F2-2402-C524-672960C405D1}"/>
              </a:ext>
            </a:extLst>
          </p:cNvPr>
          <p:cNvSpPr/>
          <p:nvPr/>
        </p:nvSpPr>
        <p:spPr>
          <a:xfrm>
            <a:off x="502920" y="6519672"/>
            <a:ext cx="7772400" cy="146304"/>
          </a:xfrm>
          <a:prstGeom prst="rect">
            <a:avLst/>
          </a:prstGeom>
          <a:noFill/>
          <a:ln/>
        </p:spPr>
        <p:txBody>
          <a:bodyPr wrap="square" lIns="0" tIns="0" rIns="0" bIns="0" rtlCol="0" anchor="ctr"/>
          <a:lstStyle/>
          <a:p>
            <a:pPr marL="0" indent="0">
              <a:buNone/>
            </a:pPr>
            <a:r>
              <a:rPr lang="en-US" sz="750">
                <a:solidFill>
                  <a:srgbClr val="667085"/>
                </a:solidFill>
              </a:rPr>
              <a:t>5.Usability &amp; Cross-Browser Compatibility</a:t>
            </a:r>
            <a:endParaRPr lang="en-US" sz="750" dirty="0">
              <a:solidFill>
                <a:srgbClr val="667085"/>
              </a:solidFill>
            </a:endParaRPr>
          </a:p>
        </p:txBody>
      </p:sp>
      <p:sp>
        <p:nvSpPr>
          <p:cNvPr id="9" name="Text 5">
            <a:extLst>
              <a:ext uri="{FF2B5EF4-FFF2-40B4-BE49-F238E27FC236}">
                <a16:creationId xmlns:a16="http://schemas.microsoft.com/office/drawing/2014/main" id="{317A302D-4B5C-520B-5EB5-F3AD57551B1D}"/>
              </a:ext>
            </a:extLst>
          </p:cNvPr>
          <p:cNvSpPr/>
          <p:nvPr/>
        </p:nvSpPr>
        <p:spPr>
          <a:xfrm>
            <a:off x="502919" y="1060704"/>
            <a:ext cx="4571999" cy="493776"/>
          </a:xfrm>
          <a:prstGeom prst="rect">
            <a:avLst/>
          </a:prstGeom>
          <a:noFill/>
          <a:ln/>
        </p:spPr>
        <p:txBody>
          <a:bodyPr wrap="square" lIns="0" tIns="0" rIns="0" bIns="0" rtlCol="0" anchor="ctr"/>
          <a:lstStyle/>
          <a:p>
            <a:pPr marL="0" indent="0">
              <a:buNone/>
            </a:pPr>
            <a:r>
              <a:rPr lang="en-US" sz="2000" b="1" dirty="0">
                <a:solidFill>
                  <a:srgbClr val="F97316"/>
                </a:solidFill>
              </a:rPr>
              <a:t>Compatibility Anomalies &amp; Findings</a:t>
            </a:r>
            <a:endParaRPr lang="en-US" sz="2000" dirty="0"/>
          </a:p>
        </p:txBody>
      </p:sp>
      <p:sp>
        <p:nvSpPr>
          <p:cNvPr id="10" name="Text 6">
            <a:extLst>
              <a:ext uri="{FF2B5EF4-FFF2-40B4-BE49-F238E27FC236}">
                <a16:creationId xmlns:a16="http://schemas.microsoft.com/office/drawing/2014/main" id="{94272D40-3056-5710-2187-3B40591A9030}"/>
              </a:ext>
            </a:extLst>
          </p:cNvPr>
          <p:cNvSpPr/>
          <p:nvPr/>
        </p:nvSpPr>
        <p:spPr>
          <a:xfrm>
            <a:off x="502920" y="2040776"/>
            <a:ext cx="4779268" cy="3268342"/>
          </a:xfrm>
          <a:prstGeom prst="rect">
            <a:avLst/>
          </a:prstGeom>
          <a:noFill/>
          <a:ln/>
        </p:spPr>
        <p:txBody>
          <a:bodyPr wrap="square" lIns="381" tIns="381" rIns="381" bIns="381" rtlCol="0" anchor="t">
            <a:noAutofit/>
          </a:bodyPr>
          <a:lstStyle/>
          <a:p>
            <a:pPr marL="139700" indent="-139700">
              <a:buSzPct val="100000"/>
              <a:buChar char="•"/>
            </a:pPr>
            <a:r>
              <a:rPr lang="en-US" sz="1600" dirty="0">
                <a:solidFill>
                  <a:srgbClr val="344054"/>
                </a:solidFill>
              </a:rPr>
              <a:t>Engine-Specific Issues:  </a:t>
            </a:r>
            <a:endParaRPr lang="tr-TR" sz="1600" dirty="0">
              <a:solidFill>
                <a:srgbClr val="344054"/>
              </a:solidFill>
            </a:endParaRPr>
          </a:p>
          <a:p>
            <a:pPr marL="628650" lvl="1" indent="-171450">
              <a:buSzPct val="100000"/>
              <a:buFont typeface="Courier New" panose="02070309020205020404" pitchFamily="49" charset="0"/>
              <a:buChar char="o"/>
            </a:pPr>
            <a:r>
              <a:rPr lang="en-US" sz="1600" dirty="0">
                <a:solidFill>
                  <a:srgbClr val="344054"/>
                </a:solidFill>
              </a:rPr>
              <a:t>Firefox (Gecko Engine): Identified dimmed typography (lighter font tone) and 1-2px row height alignment shifts in tables.  </a:t>
            </a:r>
            <a:endParaRPr lang="tr-TR" sz="1600" dirty="0">
              <a:solidFill>
                <a:srgbClr val="344054"/>
              </a:solidFill>
            </a:endParaRPr>
          </a:p>
          <a:p>
            <a:pPr marL="628650" lvl="1" indent="-171450">
              <a:buSzPct val="100000"/>
              <a:buFont typeface="Courier New" panose="02070309020205020404" pitchFamily="49" charset="0"/>
              <a:buChar char="o"/>
            </a:pPr>
            <a:r>
              <a:rPr lang="en-US" sz="1600" dirty="0">
                <a:solidFill>
                  <a:srgbClr val="344054"/>
                </a:solidFill>
              </a:rPr>
              <a:t>Edge (Chromium): Observed a one-time dashboard chart rendering failure, resolved upon refresh.  </a:t>
            </a:r>
            <a:endParaRPr lang="tr-TR" sz="1600" dirty="0">
              <a:solidFill>
                <a:srgbClr val="344054"/>
              </a:solidFill>
            </a:endParaRPr>
          </a:p>
          <a:p>
            <a:pPr marL="139700" indent="-139700">
              <a:buSzPct val="100000"/>
              <a:buChar char="•"/>
            </a:pPr>
            <a:r>
              <a:rPr lang="en-US" sz="1600" dirty="0">
                <a:solidFill>
                  <a:srgbClr val="344054"/>
                </a:solidFill>
              </a:rPr>
              <a:t>External Data Volatility: Fluctuations in record counts (113 vs 111) and profile names were identified as Data Synchronization Risks from the shared demo environment, not browser defects.</a:t>
            </a:r>
            <a:endParaRPr lang="en-US" sz="1600" dirty="0"/>
          </a:p>
        </p:txBody>
      </p:sp>
      <p:sp>
        <p:nvSpPr>
          <p:cNvPr id="25" name="Slide Number Placeholder 0">
            <a:extLst>
              <a:ext uri="{FF2B5EF4-FFF2-40B4-BE49-F238E27FC236}">
                <a16:creationId xmlns:a16="http://schemas.microsoft.com/office/drawing/2014/main" id="{6CEE483E-BA9A-6643-F87F-68A5F075FEC8}"/>
              </a:ext>
            </a:extLst>
          </p:cNvPr>
          <p:cNvSpPr>
            <a:spLocks noGrp="1"/>
          </p:cNvSpPr>
          <p:nvPr>
            <p:ph type="sldNum" sz="quarter" idx="4294967295"/>
          </p:nvPr>
        </p:nvSpPr>
        <p:spPr>
          <a:xfrm>
            <a:off x="11311128"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67085"/>
                </a:solidFill>
                <a:latin typeface="Aptos"/>
                <a:ea typeface="Aptos"/>
                <a:cs typeface="Aptos"/>
              </a:defRPr>
            </a:lvl1pPr>
          </a:lstStyle>
          <a:p>
            <a:r>
              <a:rPr sz="800" b="0">
                <a:solidFill>
                  <a:srgbClr val="FFFFFF"/>
                </a:solidFill>
              </a:rPr>
              <a:t>18</a:t>
            </a:r>
          </a:p>
        </p:txBody>
      </p:sp>
      <p:pic>
        <p:nvPicPr>
          <p:cNvPr id="12" name="Resim 11">
            <a:extLst>
              <a:ext uri="{FF2B5EF4-FFF2-40B4-BE49-F238E27FC236}">
                <a16:creationId xmlns:a16="http://schemas.microsoft.com/office/drawing/2014/main" id="{4B1A3E2A-1731-D517-E298-1986CF8F089E}"/>
              </a:ext>
            </a:extLst>
          </p:cNvPr>
          <p:cNvPicPr>
            <a:picLocks noChangeAspect="1"/>
          </p:cNvPicPr>
          <p:nvPr/>
        </p:nvPicPr>
        <p:blipFill>
          <a:blip r:embed="rId3"/>
          <a:stretch>
            <a:fillRect/>
          </a:stretch>
        </p:blipFill>
        <p:spPr>
          <a:xfrm>
            <a:off x="7310120" y="2374357"/>
            <a:ext cx="3690300" cy="2063142"/>
          </a:xfrm>
          <a:prstGeom prst="rect">
            <a:avLst/>
          </a:prstGeom>
        </p:spPr>
      </p:pic>
      <p:pic>
        <p:nvPicPr>
          <p:cNvPr id="14" name="Resim 13">
            <a:extLst>
              <a:ext uri="{FF2B5EF4-FFF2-40B4-BE49-F238E27FC236}">
                <a16:creationId xmlns:a16="http://schemas.microsoft.com/office/drawing/2014/main" id="{1244EC78-368D-46AE-8627-EA6A31F20D85}"/>
              </a:ext>
            </a:extLst>
          </p:cNvPr>
          <p:cNvPicPr>
            <a:picLocks noChangeAspect="1"/>
          </p:cNvPicPr>
          <p:nvPr/>
        </p:nvPicPr>
        <p:blipFill>
          <a:blip r:embed="rId4"/>
          <a:stretch>
            <a:fillRect/>
          </a:stretch>
        </p:blipFill>
        <p:spPr>
          <a:xfrm>
            <a:off x="7315200" y="4581674"/>
            <a:ext cx="3781740" cy="2106286"/>
          </a:xfrm>
          <a:prstGeom prst="rect">
            <a:avLst/>
          </a:prstGeom>
        </p:spPr>
      </p:pic>
      <p:pic>
        <p:nvPicPr>
          <p:cNvPr id="16" name="Resim 15">
            <a:extLst>
              <a:ext uri="{FF2B5EF4-FFF2-40B4-BE49-F238E27FC236}">
                <a16:creationId xmlns:a16="http://schemas.microsoft.com/office/drawing/2014/main" id="{45491D96-B7CC-5BAE-BB49-F065645CFF6A}"/>
              </a:ext>
            </a:extLst>
          </p:cNvPr>
          <p:cNvPicPr>
            <a:picLocks noChangeAspect="1"/>
          </p:cNvPicPr>
          <p:nvPr/>
        </p:nvPicPr>
        <p:blipFill>
          <a:blip r:embed="rId5"/>
          <a:stretch>
            <a:fillRect/>
          </a:stretch>
        </p:blipFill>
        <p:spPr>
          <a:xfrm>
            <a:off x="7310120" y="170040"/>
            <a:ext cx="3690300" cy="2038158"/>
          </a:xfrm>
          <a:prstGeom prst="rect">
            <a:avLst/>
          </a:prstGeom>
        </p:spPr>
      </p:pic>
      <p:sp>
        <p:nvSpPr>
          <p:cNvPr id="17" name="Text 7">
            <a:extLst>
              <a:ext uri="{FF2B5EF4-FFF2-40B4-BE49-F238E27FC236}">
                <a16:creationId xmlns:a16="http://schemas.microsoft.com/office/drawing/2014/main" id="{8C869039-F2CF-5F30-1AD6-4FC73C66C9AB}"/>
              </a:ext>
            </a:extLst>
          </p:cNvPr>
          <p:cNvSpPr/>
          <p:nvPr/>
        </p:nvSpPr>
        <p:spPr>
          <a:xfrm>
            <a:off x="5727194" y="2404342"/>
            <a:ext cx="1389888" cy="292608"/>
          </a:xfrm>
          <a:prstGeom prst="rect">
            <a:avLst/>
          </a:prstGeom>
          <a:solidFill>
            <a:srgbClr val="DBEAFE"/>
          </a:solidFill>
          <a:ln>
            <a:solidFill>
              <a:srgbClr val="DBEAFE"/>
            </a:solidFill>
          </a:ln>
        </p:spPr>
        <p:txBody>
          <a:bodyPr wrap="square" lIns="254" tIns="254" rIns="254" bIns="254" rtlCol="0" anchor="ctr"/>
          <a:lstStyle/>
          <a:p>
            <a:pPr marL="0" indent="0" algn="ctr">
              <a:buNone/>
            </a:pPr>
            <a:r>
              <a:rPr lang="en-US" sz="2000" b="1" dirty="0">
                <a:solidFill>
                  <a:srgbClr val="2563EB"/>
                </a:solidFill>
              </a:rPr>
              <a:t>Chrome:</a:t>
            </a:r>
            <a:endParaRPr lang="en-US" sz="2000" dirty="0"/>
          </a:p>
        </p:txBody>
      </p:sp>
      <p:sp>
        <p:nvSpPr>
          <p:cNvPr id="18" name="Text 8">
            <a:extLst>
              <a:ext uri="{FF2B5EF4-FFF2-40B4-BE49-F238E27FC236}">
                <a16:creationId xmlns:a16="http://schemas.microsoft.com/office/drawing/2014/main" id="{FDBBACAA-9106-A072-E8DC-AD85329C0B66}"/>
              </a:ext>
            </a:extLst>
          </p:cNvPr>
          <p:cNvSpPr/>
          <p:nvPr/>
        </p:nvSpPr>
        <p:spPr>
          <a:xfrm>
            <a:off x="5727194" y="4551092"/>
            <a:ext cx="1143000" cy="292608"/>
          </a:xfrm>
          <a:prstGeom prst="rect">
            <a:avLst/>
          </a:prstGeom>
          <a:solidFill>
            <a:srgbClr val="DBEAFE"/>
          </a:solidFill>
          <a:ln>
            <a:solidFill>
              <a:srgbClr val="DBEAFE"/>
            </a:solidFill>
          </a:ln>
        </p:spPr>
        <p:txBody>
          <a:bodyPr wrap="square" lIns="254" tIns="254" rIns="254" bIns="254" rtlCol="0" anchor="ctr"/>
          <a:lstStyle/>
          <a:p>
            <a:pPr marL="0" indent="0" algn="ctr">
              <a:buNone/>
            </a:pPr>
            <a:r>
              <a:rPr lang="en-US" sz="2000" b="1" dirty="0">
                <a:solidFill>
                  <a:srgbClr val="2563EB"/>
                </a:solidFill>
              </a:rPr>
              <a:t>Edge:</a:t>
            </a:r>
            <a:endParaRPr lang="en-US" sz="2000" dirty="0"/>
          </a:p>
        </p:txBody>
      </p:sp>
      <p:sp>
        <p:nvSpPr>
          <p:cNvPr id="19" name="Text 9">
            <a:extLst>
              <a:ext uri="{FF2B5EF4-FFF2-40B4-BE49-F238E27FC236}">
                <a16:creationId xmlns:a16="http://schemas.microsoft.com/office/drawing/2014/main" id="{5D1ED494-B6BB-EE09-E8B8-E42323336E7F}"/>
              </a:ext>
            </a:extLst>
          </p:cNvPr>
          <p:cNvSpPr/>
          <p:nvPr/>
        </p:nvSpPr>
        <p:spPr>
          <a:xfrm>
            <a:off x="5727194" y="248605"/>
            <a:ext cx="1234440" cy="292608"/>
          </a:xfrm>
          <a:prstGeom prst="rect">
            <a:avLst/>
          </a:prstGeom>
          <a:solidFill>
            <a:srgbClr val="DCFCE7"/>
          </a:solidFill>
          <a:ln>
            <a:solidFill>
              <a:srgbClr val="DCFCE7"/>
            </a:solidFill>
          </a:ln>
        </p:spPr>
        <p:txBody>
          <a:bodyPr wrap="square" lIns="254" tIns="254" rIns="254" bIns="254" rtlCol="0" anchor="ctr"/>
          <a:lstStyle/>
          <a:p>
            <a:pPr marL="0" indent="0" algn="ctr">
              <a:buNone/>
            </a:pPr>
            <a:r>
              <a:rPr lang="en-US" sz="2000" b="1" dirty="0">
                <a:solidFill>
                  <a:srgbClr val="16A34A"/>
                </a:solidFill>
              </a:rPr>
              <a:t>Firefox:</a:t>
            </a:r>
            <a:endParaRPr lang="en-US" sz="2000" dirty="0"/>
          </a:p>
        </p:txBody>
      </p:sp>
    </p:spTree>
    <p:extLst>
      <p:ext uri="{BB962C8B-B14F-4D97-AF65-F5344CB8AC3E}">
        <p14:creationId xmlns:p14="http://schemas.microsoft.com/office/powerpoint/2010/main" val="9953459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228600"/>
            <a:ext cx="4572000" cy="201168"/>
          </a:xfrm>
          <a:prstGeom prst="rect">
            <a:avLst/>
          </a:prstGeom>
          <a:noFill/>
          <a:ln/>
        </p:spPr>
        <p:txBody>
          <a:bodyPr wrap="square" lIns="0" tIns="0" rIns="0" bIns="0" rtlCol="0" anchor="ctr"/>
          <a:lstStyle/>
          <a:p>
            <a:pPr marL="0" indent="0">
              <a:buNone/>
            </a:pPr>
            <a:r>
              <a:rPr lang="en-US" sz="850" b="1" dirty="0">
                <a:solidFill>
                  <a:srgbClr val="F97316"/>
                </a:solidFill>
              </a:rPr>
              <a:t>SE 2226 TESTING PROJECT</a:t>
            </a:r>
            <a:endParaRPr lang="en-US" sz="850" dirty="0"/>
          </a:p>
        </p:txBody>
      </p:sp>
      <p:sp>
        <p:nvSpPr>
          <p:cNvPr id="3" name="Text 1"/>
          <p:cNvSpPr/>
          <p:nvPr/>
        </p:nvSpPr>
        <p:spPr>
          <a:xfrm>
            <a:off x="502920" y="493776"/>
            <a:ext cx="8869680" cy="411480"/>
          </a:xfrm>
          <a:prstGeom prst="rect">
            <a:avLst/>
          </a:prstGeom>
          <a:noFill/>
          <a:ln/>
        </p:spPr>
        <p:txBody>
          <a:bodyPr wrap="square" lIns="0" tIns="0" rIns="0" bIns="0" rtlCol="0" anchor="ctr">
            <a:normAutofit/>
          </a:bodyPr>
          <a:lstStyle/>
          <a:p>
            <a:pPr marL="0" indent="0">
              <a:buNone/>
            </a:pPr>
            <a:r>
              <a:rPr lang="en-US" sz="2500" b="1" dirty="0">
                <a:solidFill>
                  <a:srgbClr val="101828"/>
                </a:solidFill>
              </a:rPr>
              <a:t>Main Findings &amp; Quality Assessment</a:t>
            </a:r>
            <a:endParaRPr lang="en-US" sz="2500" dirty="0"/>
          </a:p>
        </p:txBody>
      </p:sp>
      <p:sp>
        <p:nvSpPr>
          <p:cNvPr id="4" name="Text 2"/>
          <p:cNvSpPr/>
          <p:nvPr/>
        </p:nvSpPr>
        <p:spPr>
          <a:xfrm>
            <a:off x="502920" y="6519672"/>
            <a:ext cx="7772400" cy="146304"/>
          </a:xfrm>
          <a:prstGeom prst="rect">
            <a:avLst/>
          </a:prstGeom>
          <a:noFill/>
          <a:ln/>
        </p:spPr>
        <p:txBody>
          <a:bodyPr wrap="square" lIns="0" tIns="0" rIns="0" bIns="0" rtlCol="0" anchor="ctr"/>
          <a:lstStyle/>
          <a:p>
            <a:pPr marL="0" indent="0">
              <a:buNone/>
            </a:pPr>
            <a:r>
              <a:rPr lang="en-US" sz="750">
                <a:solidFill>
                  <a:srgbClr val="667085"/>
                </a:solidFill>
              </a:rPr>
              <a:t>Main Findings &amp; Quality Assessment</a:t>
            </a:r>
            <a:endParaRPr lang="en-US" sz="750" dirty="0">
              <a:solidFill>
                <a:srgbClr val="667085"/>
              </a:solidFill>
            </a:endParaRPr>
          </a:p>
        </p:txBody>
      </p:sp>
      <p:sp>
        <p:nvSpPr>
          <p:cNvPr id="5" name="Text 3"/>
          <p:cNvSpPr/>
          <p:nvPr/>
        </p:nvSpPr>
        <p:spPr>
          <a:xfrm>
            <a:off x="777240" y="1234440"/>
            <a:ext cx="2194560" cy="384048"/>
          </a:xfrm>
          <a:prstGeom prst="rect">
            <a:avLst/>
          </a:prstGeom>
          <a:solidFill>
            <a:srgbClr val="FFFFFF"/>
          </a:solidFill>
          <a:ln>
            <a:solidFill>
              <a:srgbClr val="EAECF0"/>
            </a:solidFill>
          </a:ln>
        </p:spPr>
        <p:txBody>
          <a:bodyPr wrap="square" lIns="1016" tIns="1016" rIns="1016" bIns="1016" rtlCol="0" anchor="ctr"/>
          <a:lstStyle/>
          <a:p>
            <a:pPr marL="0" indent="0">
              <a:buNone/>
            </a:pPr>
            <a:r>
              <a:rPr lang="en-US" sz="1150" b="1">
                <a:solidFill>
                  <a:srgbClr val="101828"/>
                </a:solidFill>
              </a:rPr>
              <a:t>Functional &amp; Automation:</a:t>
            </a:r>
            <a:endParaRPr lang="en-US" sz="1150" dirty="0"/>
          </a:p>
        </p:txBody>
      </p:sp>
      <p:sp>
        <p:nvSpPr>
          <p:cNvPr id="6" name="Text 4"/>
          <p:cNvSpPr/>
          <p:nvPr/>
        </p:nvSpPr>
        <p:spPr>
          <a:xfrm>
            <a:off x="2971800" y="1234440"/>
            <a:ext cx="6263640" cy="384048"/>
          </a:xfrm>
          <a:prstGeom prst="rect">
            <a:avLst/>
          </a:prstGeom>
          <a:solidFill>
            <a:srgbClr val="FFFFFF"/>
          </a:solidFill>
          <a:ln>
            <a:solidFill>
              <a:srgbClr val="EAECF0"/>
            </a:solidFill>
          </a:ln>
        </p:spPr>
        <p:txBody>
          <a:bodyPr wrap="square" lIns="1016" tIns="1016" rIns="1016" bIns="1016" rtlCol="0" anchor="ctr">
            <a:normAutofit/>
          </a:bodyPr>
          <a:lstStyle/>
          <a:p>
            <a:pPr marL="0" indent="0">
              <a:buNone/>
            </a:pPr>
            <a:r>
              <a:rPr lang="en-US" sz="1200" dirty="0">
                <a:solidFill>
                  <a:srgbClr val="344054"/>
                </a:solidFill>
              </a:rPr>
              <a:t>Core workflows like Login and PIM management are stable and 100% automated via Selenium.</a:t>
            </a:r>
            <a:endParaRPr lang="en-US" sz="1200" dirty="0"/>
          </a:p>
        </p:txBody>
      </p:sp>
      <p:sp>
        <p:nvSpPr>
          <p:cNvPr id="8" name="Text 6"/>
          <p:cNvSpPr/>
          <p:nvPr/>
        </p:nvSpPr>
        <p:spPr>
          <a:xfrm>
            <a:off x="777240" y="1947672"/>
            <a:ext cx="2194560" cy="384048"/>
          </a:xfrm>
          <a:prstGeom prst="rect">
            <a:avLst/>
          </a:prstGeom>
          <a:solidFill>
            <a:srgbClr val="F9FAFB"/>
          </a:solidFill>
          <a:ln>
            <a:solidFill>
              <a:srgbClr val="EAECF0"/>
            </a:solidFill>
          </a:ln>
        </p:spPr>
        <p:txBody>
          <a:bodyPr wrap="square" lIns="1016" tIns="1016" rIns="1016" bIns="1016" rtlCol="0" anchor="ctr"/>
          <a:lstStyle/>
          <a:p>
            <a:pPr marL="0" indent="0">
              <a:buNone/>
            </a:pPr>
            <a:r>
              <a:rPr lang="en-US" sz="1150" b="1">
                <a:solidFill>
                  <a:srgbClr val="101828"/>
                </a:solidFill>
              </a:rPr>
              <a:t>Compatibility:</a:t>
            </a:r>
            <a:endParaRPr lang="en-US" sz="1150" dirty="0"/>
          </a:p>
        </p:txBody>
      </p:sp>
      <p:sp>
        <p:nvSpPr>
          <p:cNvPr id="9" name="Text 7"/>
          <p:cNvSpPr/>
          <p:nvPr/>
        </p:nvSpPr>
        <p:spPr>
          <a:xfrm>
            <a:off x="2971800" y="1947672"/>
            <a:ext cx="6263640" cy="384048"/>
          </a:xfrm>
          <a:prstGeom prst="rect">
            <a:avLst/>
          </a:prstGeom>
          <a:solidFill>
            <a:srgbClr val="F9FAFB"/>
          </a:solidFill>
          <a:ln>
            <a:solidFill>
              <a:srgbClr val="EAECF0"/>
            </a:solidFill>
          </a:ln>
        </p:spPr>
        <p:txBody>
          <a:bodyPr wrap="square" lIns="1016" tIns="1016" rIns="1016" bIns="1016" rtlCol="0" anchor="ctr">
            <a:normAutofit/>
          </a:bodyPr>
          <a:lstStyle/>
          <a:p>
            <a:pPr marL="0" indent="0">
              <a:buNone/>
            </a:pPr>
            <a:r>
              <a:rPr lang="en-US" sz="1200" dirty="0">
                <a:solidFill>
                  <a:srgbClr val="344054"/>
                </a:solidFill>
              </a:rPr>
              <a:t>Achieved 94% compatibility, with minor visual rendering differences in Firefox.</a:t>
            </a:r>
            <a:endParaRPr lang="en-US" sz="1200" dirty="0"/>
          </a:p>
        </p:txBody>
      </p:sp>
      <p:sp>
        <p:nvSpPr>
          <p:cNvPr id="11" name="Text 9"/>
          <p:cNvSpPr/>
          <p:nvPr/>
        </p:nvSpPr>
        <p:spPr>
          <a:xfrm>
            <a:off x="777240" y="2660904"/>
            <a:ext cx="2194560" cy="384048"/>
          </a:xfrm>
          <a:prstGeom prst="rect">
            <a:avLst/>
          </a:prstGeom>
          <a:solidFill>
            <a:srgbClr val="FFFFFF"/>
          </a:solidFill>
          <a:ln>
            <a:solidFill>
              <a:srgbClr val="EAECF0"/>
            </a:solidFill>
          </a:ln>
        </p:spPr>
        <p:txBody>
          <a:bodyPr wrap="square" lIns="1016" tIns="1016" rIns="1016" bIns="1016" rtlCol="0" anchor="ctr"/>
          <a:lstStyle/>
          <a:p>
            <a:pPr marL="0" indent="0">
              <a:buNone/>
            </a:pPr>
            <a:r>
              <a:rPr lang="en-US" sz="1150" b="1">
                <a:solidFill>
                  <a:srgbClr val="101828"/>
                </a:solidFill>
              </a:rPr>
              <a:t>Performance Risk:</a:t>
            </a:r>
            <a:endParaRPr lang="en-US" sz="1150" dirty="0"/>
          </a:p>
        </p:txBody>
      </p:sp>
      <p:sp>
        <p:nvSpPr>
          <p:cNvPr id="12" name="Text 10"/>
          <p:cNvSpPr/>
          <p:nvPr/>
        </p:nvSpPr>
        <p:spPr>
          <a:xfrm>
            <a:off x="2971800" y="2660904"/>
            <a:ext cx="6263640" cy="384048"/>
          </a:xfrm>
          <a:prstGeom prst="rect">
            <a:avLst/>
          </a:prstGeom>
          <a:solidFill>
            <a:srgbClr val="FFFFFF"/>
          </a:solidFill>
          <a:ln>
            <a:solidFill>
              <a:srgbClr val="EAECF0"/>
            </a:solidFill>
          </a:ln>
        </p:spPr>
        <p:txBody>
          <a:bodyPr wrap="square" lIns="1016" tIns="1016" rIns="1016" bIns="1016" rtlCol="0" anchor="ctr">
            <a:normAutofit/>
          </a:bodyPr>
          <a:lstStyle/>
          <a:p>
            <a:pPr marL="0" indent="0">
              <a:buNone/>
            </a:pPr>
            <a:r>
              <a:rPr lang="en-US" sz="1200">
                <a:solidFill>
                  <a:srgbClr val="344054"/>
                </a:solidFill>
              </a:rPr>
              <a:t>High load (100+ users) causes UX degradation, with a critical breaking point at 300 users.</a:t>
            </a:r>
            <a:endParaRPr lang="en-US" sz="1200" dirty="0"/>
          </a:p>
        </p:txBody>
      </p:sp>
      <p:sp>
        <p:nvSpPr>
          <p:cNvPr id="14" name="Text 12"/>
          <p:cNvSpPr/>
          <p:nvPr/>
        </p:nvSpPr>
        <p:spPr>
          <a:xfrm>
            <a:off x="777240" y="3550049"/>
            <a:ext cx="2194560" cy="384048"/>
          </a:xfrm>
          <a:prstGeom prst="rect">
            <a:avLst/>
          </a:prstGeom>
          <a:solidFill>
            <a:srgbClr val="F9FAFB"/>
          </a:solidFill>
          <a:ln>
            <a:solidFill>
              <a:srgbClr val="EAECF0"/>
            </a:solidFill>
          </a:ln>
        </p:spPr>
        <p:txBody>
          <a:bodyPr wrap="square" lIns="1016" tIns="1016" rIns="1016" bIns="1016" rtlCol="0" anchor="ctr"/>
          <a:lstStyle/>
          <a:p>
            <a:pPr marL="0" indent="0">
              <a:buNone/>
            </a:pPr>
            <a:r>
              <a:rPr lang="en-US" sz="1150" b="1">
                <a:solidFill>
                  <a:srgbClr val="101828"/>
                </a:solidFill>
              </a:rPr>
              <a:t>Structural Integrity:</a:t>
            </a:r>
            <a:endParaRPr lang="en-US" sz="1150" dirty="0"/>
          </a:p>
        </p:txBody>
      </p:sp>
      <p:sp>
        <p:nvSpPr>
          <p:cNvPr id="15" name="Text 13"/>
          <p:cNvSpPr/>
          <p:nvPr/>
        </p:nvSpPr>
        <p:spPr>
          <a:xfrm>
            <a:off x="2971800" y="3550049"/>
            <a:ext cx="6263640" cy="384048"/>
          </a:xfrm>
          <a:prstGeom prst="rect">
            <a:avLst/>
          </a:prstGeom>
          <a:solidFill>
            <a:srgbClr val="F9FAFB"/>
          </a:solidFill>
          <a:ln>
            <a:solidFill>
              <a:srgbClr val="EAECF0"/>
            </a:solidFill>
          </a:ln>
        </p:spPr>
        <p:txBody>
          <a:bodyPr wrap="square" lIns="1016" tIns="1016" rIns="1016" bIns="1016" rtlCol="0" anchor="ctr">
            <a:normAutofit/>
          </a:bodyPr>
          <a:lstStyle/>
          <a:p>
            <a:pPr marL="0" indent="0">
              <a:buNone/>
            </a:pPr>
            <a:r>
              <a:rPr lang="en-US" sz="1200" dirty="0">
                <a:solidFill>
                  <a:srgbClr val="344054"/>
                </a:solidFill>
              </a:rPr>
              <a:t>Excellent unit test coverage (95% statements) and a robust 91.45% mutation score.</a:t>
            </a:r>
            <a:endParaRPr lang="en-US" sz="1200" dirty="0"/>
          </a:p>
        </p:txBody>
      </p:sp>
      <p:sp>
        <p:nvSpPr>
          <p:cNvPr id="17" name="Text 15"/>
          <p:cNvSpPr/>
          <p:nvPr/>
        </p:nvSpPr>
        <p:spPr>
          <a:xfrm>
            <a:off x="777240" y="4263281"/>
            <a:ext cx="2194560" cy="384048"/>
          </a:xfrm>
          <a:prstGeom prst="rect">
            <a:avLst/>
          </a:prstGeom>
          <a:solidFill>
            <a:srgbClr val="FFFFFF"/>
          </a:solidFill>
          <a:ln>
            <a:solidFill>
              <a:srgbClr val="EAECF0"/>
            </a:solidFill>
          </a:ln>
        </p:spPr>
        <p:txBody>
          <a:bodyPr wrap="square" lIns="1016" tIns="1016" rIns="1016" bIns="1016" rtlCol="0" anchor="ctr"/>
          <a:lstStyle/>
          <a:p>
            <a:pPr marL="0" indent="0">
              <a:buNone/>
            </a:pPr>
            <a:r>
              <a:rPr lang="en-US" sz="1150" b="1">
                <a:solidFill>
                  <a:srgbClr val="101828"/>
                </a:solidFill>
              </a:rPr>
              <a:t>Security:</a:t>
            </a:r>
            <a:endParaRPr lang="en-US" sz="1150" dirty="0"/>
          </a:p>
        </p:txBody>
      </p:sp>
      <p:sp>
        <p:nvSpPr>
          <p:cNvPr id="18" name="Text 16"/>
          <p:cNvSpPr/>
          <p:nvPr/>
        </p:nvSpPr>
        <p:spPr>
          <a:xfrm>
            <a:off x="2971800" y="4263281"/>
            <a:ext cx="6263640" cy="384048"/>
          </a:xfrm>
          <a:prstGeom prst="rect">
            <a:avLst/>
          </a:prstGeom>
          <a:solidFill>
            <a:srgbClr val="FFFFFF"/>
          </a:solidFill>
          <a:ln>
            <a:solidFill>
              <a:srgbClr val="EAECF0"/>
            </a:solidFill>
          </a:ln>
        </p:spPr>
        <p:txBody>
          <a:bodyPr wrap="square" lIns="1016" tIns="1016" rIns="1016" bIns="1016" rtlCol="0" anchor="ctr">
            <a:normAutofit/>
          </a:bodyPr>
          <a:lstStyle/>
          <a:p>
            <a:pPr marL="0" indent="0">
              <a:buNone/>
            </a:pPr>
            <a:r>
              <a:rPr lang="en-US" sz="1200">
                <a:solidFill>
                  <a:srgbClr val="344054"/>
                </a:solidFill>
              </a:rPr>
              <a:t>Successfully verified "Graceful Error Handling" to prevent data leaks.</a:t>
            </a:r>
            <a:endParaRPr lang="en-US" sz="1200" dirty="0"/>
          </a:p>
        </p:txBody>
      </p:sp>
      <p:sp>
        <p:nvSpPr>
          <p:cNvPr id="25" name="Slide Number Placeholder 0"/>
          <p:cNvSpPr>
            <a:spLocks noGrp="1"/>
          </p:cNvSpPr>
          <p:nvPr>
            <p:ph type="sldNum" sz="quarter" idx="4294967295"/>
          </p:nvPr>
        </p:nvSpPr>
        <p:spPr>
          <a:xfrm>
            <a:off x="11311128"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67085"/>
                </a:solidFill>
                <a:latin typeface="Aptos"/>
                <a:ea typeface="Aptos"/>
                <a:cs typeface="Aptos"/>
              </a:defRPr>
            </a:lvl1pPr>
          </a:lstStyle>
          <a:p>
            <a:r>
              <a:rPr sz="800" b="0">
                <a:solidFill>
                  <a:srgbClr val="FFFFFF"/>
                </a:solidFill>
              </a:rPr>
              <a:t>19</a:t>
            </a:r>
          </a:p>
        </p:txBody>
      </p:sp>
      <p:sp>
        <p:nvSpPr>
          <p:cNvPr id="21" name="Text 3">
            <a:extLst>
              <a:ext uri="{FF2B5EF4-FFF2-40B4-BE49-F238E27FC236}">
                <a16:creationId xmlns:a16="http://schemas.microsoft.com/office/drawing/2014/main" id="{F1A716A7-5A32-E0DA-3DB2-DD9EBC8ECB95}"/>
              </a:ext>
            </a:extLst>
          </p:cNvPr>
          <p:cNvSpPr/>
          <p:nvPr/>
        </p:nvSpPr>
        <p:spPr>
          <a:xfrm>
            <a:off x="777240" y="941832"/>
            <a:ext cx="3657600" cy="256032"/>
          </a:xfrm>
          <a:prstGeom prst="rect">
            <a:avLst/>
          </a:prstGeom>
          <a:noFill/>
          <a:ln/>
        </p:spPr>
        <p:txBody>
          <a:bodyPr wrap="square" lIns="0" tIns="0" rIns="0" bIns="0" rtlCol="0" anchor="ctr"/>
          <a:lstStyle/>
          <a:p>
            <a:pPr marL="0" indent="0">
              <a:buNone/>
            </a:pPr>
            <a:r>
              <a:rPr lang="en-US" sz="1500" b="1" dirty="0">
                <a:solidFill>
                  <a:srgbClr val="F97316"/>
                </a:solidFill>
              </a:rPr>
              <a:t>SUT 1 (</a:t>
            </a:r>
            <a:r>
              <a:rPr lang="en-US" sz="1500" b="1" dirty="0" err="1">
                <a:solidFill>
                  <a:srgbClr val="F97316"/>
                </a:solidFill>
              </a:rPr>
              <a:t>OrangeHRM</a:t>
            </a:r>
            <a:r>
              <a:rPr lang="en-US" sz="1500" b="1" dirty="0">
                <a:solidFill>
                  <a:srgbClr val="F97316"/>
                </a:solidFill>
              </a:rPr>
              <a:t>) Summary:</a:t>
            </a:r>
            <a:endParaRPr lang="en-US" sz="1500" dirty="0"/>
          </a:p>
        </p:txBody>
      </p:sp>
      <p:sp>
        <p:nvSpPr>
          <p:cNvPr id="22" name="Text 3">
            <a:extLst>
              <a:ext uri="{FF2B5EF4-FFF2-40B4-BE49-F238E27FC236}">
                <a16:creationId xmlns:a16="http://schemas.microsoft.com/office/drawing/2014/main" id="{F64EFBC5-11DB-4E2C-9C52-282B6E9B4433}"/>
              </a:ext>
            </a:extLst>
          </p:cNvPr>
          <p:cNvSpPr/>
          <p:nvPr/>
        </p:nvSpPr>
        <p:spPr>
          <a:xfrm>
            <a:off x="777240" y="3257441"/>
            <a:ext cx="3657600" cy="256032"/>
          </a:xfrm>
          <a:prstGeom prst="rect">
            <a:avLst/>
          </a:prstGeom>
          <a:noFill/>
          <a:ln/>
        </p:spPr>
        <p:txBody>
          <a:bodyPr wrap="square" lIns="0" tIns="0" rIns="0" bIns="0" rtlCol="0" anchor="ctr"/>
          <a:lstStyle/>
          <a:p>
            <a:pPr marL="0" indent="0">
              <a:buNone/>
            </a:pPr>
            <a:r>
              <a:rPr lang="en-US" sz="1500" b="1" dirty="0">
                <a:solidFill>
                  <a:srgbClr val="F97316"/>
                </a:solidFill>
              </a:rPr>
              <a:t>SUT 2 (Library-DB-Express) Summary:</a:t>
            </a:r>
            <a:endParaRPr lang="en-US" sz="1500" dirty="0"/>
          </a:p>
        </p:txBody>
      </p:sp>
      <p:sp>
        <p:nvSpPr>
          <p:cNvPr id="23" name="Text 15">
            <a:extLst>
              <a:ext uri="{FF2B5EF4-FFF2-40B4-BE49-F238E27FC236}">
                <a16:creationId xmlns:a16="http://schemas.microsoft.com/office/drawing/2014/main" id="{B9E4B679-6D64-0DC7-733A-893EA4ACD533}"/>
              </a:ext>
            </a:extLst>
          </p:cNvPr>
          <p:cNvSpPr/>
          <p:nvPr/>
        </p:nvSpPr>
        <p:spPr>
          <a:xfrm>
            <a:off x="731520" y="4902121"/>
            <a:ext cx="2194560" cy="384048"/>
          </a:xfrm>
          <a:prstGeom prst="rect">
            <a:avLst/>
          </a:prstGeom>
          <a:solidFill>
            <a:srgbClr val="FFFFFF"/>
          </a:solidFill>
          <a:ln>
            <a:solidFill>
              <a:srgbClr val="EAECF0"/>
            </a:solidFill>
          </a:ln>
        </p:spPr>
        <p:txBody>
          <a:bodyPr wrap="square" lIns="1016" tIns="1016" rIns="1016" bIns="1016" rtlCol="0" anchor="ctr"/>
          <a:lstStyle/>
          <a:p>
            <a:pPr marL="0" indent="0">
              <a:buNone/>
            </a:pPr>
            <a:r>
              <a:rPr lang="en-US" sz="1150" b="1">
                <a:solidFill>
                  <a:srgbClr val="101828"/>
                </a:solidFill>
              </a:rPr>
              <a:t>Usability Verdict:</a:t>
            </a:r>
            <a:endParaRPr lang="en-US" sz="1150" dirty="0"/>
          </a:p>
        </p:txBody>
      </p:sp>
      <p:sp>
        <p:nvSpPr>
          <p:cNvPr id="24" name="Text 16">
            <a:extLst>
              <a:ext uri="{FF2B5EF4-FFF2-40B4-BE49-F238E27FC236}">
                <a16:creationId xmlns:a16="http://schemas.microsoft.com/office/drawing/2014/main" id="{2587BC54-A6CF-8A6F-355A-42105DCDEEF7}"/>
              </a:ext>
            </a:extLst>
          </p:cNvPr>
          <p:cNvSpPr/>
          <p:nvPr/>
        </p:nvSpPr>
        <p:spPr>
          <a:xfrm>
            <a:off x="2926080" y="4902121"/>
            <a:ext cx="6263640" cy="384048"/>
          </a:xfrm>
          <a:prstGeom prst="rect">
            <a:avLst/>
          </a:prstGeom>
          <a:solidFill>
            <a:srgbClr val="FFFFFF"/>
          </a:solidFill>
          <a:ln>
            <a:solidFill>
              <a:srgbClr val="EAECF0"/>
            </a:solidFill>
          </a:ln>
        </p:spPr>
        <p:txBody>
          <a:bodyPr wrap="square" lIns="1016" tIns="1016" rIns="1016" bIns="1016" rtlCol="0" anchor="ctr">
            <a:normAutofit/>
          </a:bodyPr>
          <a:lstStyle/>
          <a:p>
            <a:pPr marL="0" indent="0">
              <a:buNone/>
            </a:pPr>
            <a:r>
              <a:rPr lang="en-US" sz="1200">
                <a:solidFill>
                  <a:srgbClr val="344054"/>
                </a:solidFill>
              </a:rPr>
              <a:t>85% score; functionally intuitive but requires aesthetic minimalism in crowded modules.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228600"/>
            <a:ext cx="4572000" cy="201168"/>
          </a:xfrm>
          <a:prstGeom prst="rect">
            <a:avLst/>
          </a:prstGeom>
          <a:noFill/>
          <a:ln/>
        </p:spPr>
        <p:txBody>
          <a:bodyPr wrap="square" lIns="0" tIns="0" rIns="0" bIns="0" rtlCol="0" anchor="ctr"/>
          <a:lstStyle/>
          <a:p>
            <a:pPr marL="0" indent="0">
              <a:buNone/>
            </a:pPr>
            <a:r>
              <a:rPr lang="en-US" sz="850" b="1" dirty="0">
                <a:solidFill>
                  <a:srgbClr val="F97316"/>
                </a:solidFill>
              </a:rPr>
              <a:t>SE 2226 TESTING PROJECT</a:t>
            </a:r>
            <a:endParaRPr lang="en-US" sz="850" dirty="0"/>
          </a:p>
        </p:txBody>
      </p:sp>
      <p:sp>
        <p:nvSpPr>
          <p:cNvPr id="3" name="Text 1"/>
          <p:cNvSpPr/>
          <p:nvPr/>
        </p:nvSpPr>
        <p:spPr>
          <a:xfrm>
            <a:off x="502920" y="791881"/>
            <a:ext cx="8869680" cy="411480"/>
          </a:xfrm>
          <a:prstGeom prst="rect">
            <a:avLst/>
          </a:prstGeom>
          <a:noFill/>
          <a:ln/>
        </p:spPr>
        <p:txBody>
          <a:bodyPr wrap="square" lIns="0" tIns="0" rIns="0" bIns="0" rtlCol="0" anchor="ctr">
            <a:normAutofit/>
          </a:bodyPr>
          <a:lstStyle/>
          <a:p>
            <a:pPr marL="0" indent="0">
              <a:buNone/>
            </a:pPr>
            <a:r>
              <a:rPr lang="tr-TR" sz="2500" b="1" dirty="0">
                <a:solidFill>
                  <a:srgbClr val="101828"/>
                </a:solidFill>
              </a:rPr>
              <a:t>5.</a:t>
            </a:r>
            <a:r>
              <a:rPr lang="en-US" sz="2500" b="1" dirty="0">
                <a:solidFill>
                  <a:srgbClr val="101828"/>
                </a:solidFill>
              </a:rPr>
              <a:t>Final Verdict &amp; Future Recommendations</a:t>
            </a:r>
            <a:endParaRPr lang="en-US" sz="2500" dirty="0"/>
          </a:p>
        </p:txBody>
      </p:sp>
      <p:sp>
        <p:nvSpPr>
          <p:cNvPr id="6" name="Text 4"/>
          <p:cNvSpPr/>
          <p:nvPr/>
        </p:nvSpPr>
        <p:spPr>
          <a:xfrm>
            <a:off x="1003872" y="1550308"/>
            <a:ext cx="9235440" cy="256032"/>
          </a:xfrm>
          <a:prstGeom prst="rect">
            <a:avLst/>
          </a:prstGeom>
          <a:noFill/>
          <a:ln/>
        </p:spPr>
        <p:txBody>
          <a:bodyPr wrap="square" lIns="0" tIns="0" rIns="0" bIns="0" rtlCol="0" anchor="ctr"/>
          <a:lstStyle/>
          <a:p>
            <a:pPr marL="0" indent="0">
              <a:buNone/>
            </a:pPr>
            <a:r>
              <a:rPr lang="en-US" sz="2000" b="1" dirty="0">
                <a:solidFill>
                  <a:srgbClr val="101828"/>
                </a:solidFill>
              </a:rPr>
              <a:t>Critical Constraints:</a:t>
            </a:r>
            <a:endParaRPr lang="en-US" sz="2000" dirty="0"/>
          </a:p>
        </p:txBody>
      </p:sp>
      <p:sp>
        <p:nvSpPr>
          <p:cNvPr id="7" name="Text 5"/>
          <p:cNvSpPr/>
          <p:nvPr/>
        </p:nvSpPr>
        <p:spPr>
          <a:xfrm>
            <a:off x="1003872" y="1994448"/>
            <a:ext cx="9235440" cy="530815"/>
          </a:xfrm>
          <a:prstGeom prst="rect">
            <a:avLst/>
          </a:prstGeom>
          <a:noFill/>
          <a:ln/>
        </p:spPr>
        <p:txBody>
          <a:bodyPr wrap="square" lIns="0" tIns="0" rIns="0" bIns="0" rtlCol="0" anchor="ctr">
            <a:noAutofit/>
          </a:bodyPr>
          <a:lstStyle/>
          <a:p>
            <a:pPr marL="0" indent="0">
              <a:buNone/>
            </a:pPr>
            <a:r>
              <a:rPr lang="en-US" sz="1600" dirty="0">
                <a:solidFill>
                  <a:srgbClr val="667085"/>
                </a:solidFill>
              </a:rPr>
              <a:t>Environment Stability: The public demo database creates data instability during concurrent testing.</a:t>
            </a:r>
            <a:endParaRPr lang="tr-TR" sz="1600" dirty="0">
              <a:solidFill>
                <a:srgbClr val="667085"/>
              </a:solidFill>
            </a:endParaRPr>
          </a:p>
          <a:p>
            <a:pPr marL="0" indent="0">
              <a:buNone/>
            </a:pPr>
            <a:r>
              <a:rPr lang="en-US" sz="1600" dirty="0">
                <a:solidFill>
                  <a:srgbClr val="667085"/>
                </a:solidFill>
              </a:rPr>
              <a:t>Scalability: Current server architecture is not suitable for high-traffic or long-term endurance.</a:t>
            </a:r>
            <a:endParaRPr lang="en-US" sz="1600" dirty="0"/>
          </a:p>
        </p:txBody>
      </p:sp>
      <p:sp>
        <p:nvSpPr>
          <p:cNvPr id="10" name="Text 8"/>
          <p:cNvSpPr/>
          <p:nvPr/>
        </p:nvSpPr>
        <p:spPr>
          <a:xfrm>
            <a:off x="1003872" y="2851198"/>
            <a:ext cx="9235440" cy="256032"/>
          </a:xfrm>
          <a:prstGeom prst="rect">
            <a:avLst/>
          </a:prstGeom>
          <a:noFill/>
          <a:ln/>
        </p:spPr>
        <p:txBody>
          <a:bodyPr wrap="square" lIns="0" tIns="0" rIns="0" bIns="0" rtlCol="0" anchor="ctr"/>
          <a:lstStyle/>
          <a:p>
            <a:pPr marL="0" indent="0">
              <a:buNone/>
            </a:pPr>
            <a:r>
              <a:rPr lang="en-US" sz="2000" b="1" dirty="0">
                <a:solidFill>
                  <a:srgbClr val="101828"/>
                </a:solidFill>
              </a:rPr>
              <a:t>Recommended Improvements:</a:t>
            </a:r>
            <a:endParaRPr lang="en-US" sz="2000" dirty="0"/>
          </a:p>
        </p:txBody>
      </p:sp>
      <p:sp>
        <p:nvSpPr>
          <p:cNvPr id="11" name="Text 9"/>
          <p:cNvSpPr/>
          <p:nvPr/>
        </p:nvSpPr>
        <p:spPr>
          <a:xfrm>
            <a:off x="1003872" y="3063640"/>
            <a:ext cx="9235440" cy="1374262"/>
          </a:xfrm>
          <a:prstGeom prst="rect">
            <a:avLst/>
          </a:prstGeom>
          <a:noFill/>
          <a:ln/>
        </p:spPr>
        <p:txBody>
          <a:bodyPr wrap="square" lIns="0" tIns="0" rIns="0" bIns="0" rtlCol="0" anchor="ctr">
            <a:noAutofit/>
          </a:bodyPr>
          <a:lstStyle/>
          <a:p>
            <a:pPr marL="0" indent="0">
              <a:buNone/>
            </a:pPr>
            <a:r>
              <a:rPr lang="en-US" sz="1600" dirty="0">
                <a:solidFill>
                  <a:srgbClr val="667085"/>
                </a:solidFill>
              </a:rPr>
              <a:t>Optimize backend resource management to prevent memory leaks identified in endurance </a:t>
            </a:r>
            <a:r>
              <a:rPr lang="en-US" sz="1600" dirty="0" err="1">
                <a:solidFill>
                  <a:srgbClr val="667085"/>
                </a:solidFill>
              </a:rPr>
              <a:t>tests.Refine</a:t>
            </a:r>
            <a:r>
              <a:rPr lang="en-US" sz="1600" dirty="0">
                <a:solidFill>
                  <a:srgbClr val="667085"/>
                </a:solidFill>
              </a:rPr>
              <a:t> UI consistency across browser engines, focusing on Firefox typography.  Implement explicit waits in automation scripts to handle dynamic field loading more reliably.</a:t>
            </a:r>
            <a:endParaRPr lang="en-US" sz="1600" dirty="0"/>
          </a:p>
        </p:txBody>
      </p:sp>
      <p:sp>
        <p:nvSpPr>
          <p:cNvPr id="25" name="Slide Number Placeholder 0"/>
          <p:cNvSpPr>
            <a:spLocks noGrp="1"/>
          </p:cNvSpPr>
          <p:nvPr>
            <p:ph type="sldNum" sz="quarter" idx="4294967295"/>
          </p:nvPr>
        </p:nvSpPr>
        <p:spPr>
          <a:xfrm>
            <a:off x="11311128"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67085"/>
                </a:solidFill>
                <a:latin typeface="Aptos"/>
                <a:ea typeface="Aptos"/>
                <a:cs typeface="Aptos"/>
              </a:defRPr>
            </a:lvl1pPr>
          </a:lstStyle>
          <a:p>
            <a:r>
              <a:rPr sz="800" b="0">
                <a:solidFill>
                  <a:srgbClr val="FFFFFF"/>
                </a:solidFill>
              </a:rPr>
              <a:t>20</a:t>
            </a:r>
          </a:p>
        </p:txBody>
      </p:sp>
      <p:sp>
        <p:nvSpPr>
          <p:cNvPr id="4" name="Text 8">
            <a:extLst>
              <a:ext uri="{FF2B5EF4-FFF2-40B4-BE49-F238E27FC236}">
                <a16:creationId xmlns:a16="http://schemas.microsoft.com/office/drawing/2014/main" id="{40B63265-189A-C149-8B10-8ECFA494C439}"/>
              </a:ext>
            </a:extLst>
          </p:cNvPr>
          <p:cNvSpPr/>
          <p:nvPr/>
        </p:nvSpPr>
        <p:spPr>
          <a:xfrm>
            <a:off x="1003872" y="4923645"/>
            <a:ext cx="9235440" cy="256032"/>
          </a:xfrm>
          <a:prstGeom prst="rect">
            <a:avLst/>
          </a:prstGeom>
          <a:noFill/>
          <a:ln/>
        </p:spPr>
        <p:txBody>
          <a:bodyPr wrap="square" lIns="0" tIns="0" rIns="0" bIns="0" rtlCol="0" anchor="ctr"/>
          <a:lstStyle/>
          <a:p>
            <a:pPr marL="0" indent="0">
              <a:buNone/>
            </a:pPr>
            <a:r>
              <a:rPr lang="en-US" sz="2000" b="1" dirty="0">
                <a:solidFill>
                  <a:srgbClr val="101828"/>
                </a:solidFill>
              </a:rPr>
              <a:t>Test Evidence Playlist</a:t>
            </a:r>
            <a:r>
              <a:rPr lang="tr-TR" sz="2000" b="1" dirty="0">
                <a:solidFill>
                  <a:srgbClr val="101828"/>
                </a:solidFill>
              </a:rPr>
              <a:t>:</a:t>
            </a:r>
            <a:endParaRPr lang="en-US" sz="2000" dirty="0"/>
          </a:p>
        </p:txBody>
      </p:sp>
      <p:sp>
        <p:nvSpPr>
          <p:cNvPr id="5" name="Text 8">
            <a:extLst>
              <a:ext uri="{FF2B5EF4-FFF2-40B4-BE49-F238E27FC236}">
                <a16:creationId xmlns:a16="http://schemas.microsoft.com/office/drawing/2014/main" id="{636CB768-9B7C-7753-2130-18461BAF5C04}"/>
              </a:ext>
            </a:extLst>
          </p:cNvPr>
          <p:cNvSpPr/>
          <p:nvPr/>
        </p:nvSpPr>
        <p:spPr>
          <a:xfrm>
            <a:off x="1003872" y="5413187"/>
            <a:ext cx="9235440" cy="652931"/>
          </a:xfrm>
          <a:prstGeom prst="rect">
            <a:avLst/>
          </a:prstGeom>
          <a:noFill/>
          <a:ln/>
        </p:spPr>
        <p:txBody>
          <a:bodyPr wrap="square" lIns="0" tIns="0" rIns="0" bIns="0" rtlCol="0" anchor="ctr"/>
          <a:lstStyle/>
          <a:p>
            <a:pPr marL="0" indent="0">
              <a:buNone/>
            </a:pPr>
            <a:r>
              <a:rPr lang="en-US" sz="2000" dirty="0">
                <a:solidFill>
                  <a:srgbClr val="101828"/>
                </a:solidFill>
                <a:hlinkClick r:id="rId3"/>
              </a:rPr>
              <a:t>https://www.youtube.com/playlist?list=PLA7jdNyJUyh9hd5oqIkwVSdPIk4ItsIv5&amp;jct=_6cF2tXdfKcUY7WDy-uSRg</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4572000" cy="201168"/>
          </a:xfrm>
          <a:prstGeom prst="rect">
            <a:avLst/>
          </a:prstGeom>
          <a:noFill/>
          <a:ln/>
        </p:spPr>
        <p:txBody>
          <a:bodyPr wrap="square" lIns="0" tIns="0" rIns="0" bIns="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F97316"/>
                </a:solidFill>
                <a:effectLst/>
                <a:uLnTx/>
                <a:uFillTx/>
                <a:latin typeface="Calibri" panose="020F0502020204030204"/>
                <a:ea typeface="+mn-ea"/>
                <a:cs typeface="+mn-cs"/>
              </a:rPr>
              <a:t>SE 2226 TESTING PROJECT</a:t>
            </a:r>
            <a:endParaRPr kumimoji="0" lang="en-US" sz="85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5" name="Slide Number Placeholder 0"/>
          <p:cNvSpPr>
            <a:spLocks noGrp="1"/>
          </p:cNvSpPr>
          <p:nvPr>
            <p:ph type="sldNum" sz="quarter" idx="4294967295"/>
          </p:nvPr>
        </p:nvSpPr>
        <p:spPr>
          <a:xfrm>
            <a:off x="11311128" y="6537960"/>
            <a:ext cx="800000" cy="3000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67085"/>
                </a:solidFill>
                <a:latin typeface="Aptos"/>
                <a:ea typeface="Aptos"/>
                <a:cs typeface="Aptos"/>
              </a:defRPr>
            </a:lvl1pPr>
          </a:lstStyle>
          <a:p>
            <a:r>
              <a:rPr sz="800" b="0">
                <a:solidFill>
                  <a:srgbClr val="FFFFFF"/>
                </a:solidFill>
              </a:rPr>
              <a:t>21</a:t>
            </a:r>
          </a:p>
        </p:txBody>
      </p:sp>
      <p:sp>
        <p:nvSpPr>
          <p:cNvPr id="26" name="Oval 25"/>
          <p:cNvSpPr/>
          <p:nvPr/>
        </p:nvSpPr>
        <p:spPr>
          <a:xfrm>
            <a:off x="10287000" y="548640"/>
            <a:ext cx="731520" cy="731520"/>
          </a:xfrm>
          <a:prstGeom prst="ellipse">
            <a:avLst/>
          </a:prstGeom>
          <a:solidFill>
            <a:srgbClr val="F8FAFC"/>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TextBox 26"/>
          <p:cNvSpPr txBox="1"/>
          <p:nvPr/>
        </p:nvSpPr>
        <p:spPr>
          <a:xfrm>
            <a:off x="2130963" y="1938528"/>
            <a:ext cx="7945317" cy="677108"/>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4400" b="1" i="0" u="none" strike="noStrike" kern="1200" cap="none" spc="0" normalizeH="0" baseline="0" noProof="0" dirty="0">
                <a:ln>
                  <a:noFill/>
                </a:ln>
                <a:solidFill>
                  <a:srgbClr val="101828"/>
                </a:solidFill>
                <a:effectLst/>
                <a:uLnTx/>
                <a:uFillTx/>
                <a:latin typeface="Calibri" panose="020F0502020204030204"/>
                <a:ea typeface="+mn-ea"/>
                <a:cs typeface="+mn-cs"/>
              </a:rPr>
              <a:t>THANK YOU</a:t>
            </a:r>
            <a:r>
              <a:rPr kumimoji="0" lang="tr-TR" sz="4400" b="1" i="0" u="none" strike="noStrike" kern="1200" cap="none" spc="0" normalizeH="0" baseline="0" noProof="0" dirty="0">
                <a:ln>
                  <a:noFill/>
                </a:ln>
                <a:solidFill>
                  <a:srgbClr val="101828"/>
                </a:solidFill>
                <a:effectLst/>
                <a:uLnTx/>
                <a:uFillTx/>
                <a:latin typeface="Calibri" panose="020F0502020204030204"/>
                <a:ea typeface="+mn-ea"/>
                <a:cs typeface="+mn-cs"/>
              </a:rPr>
              <a:t> FOR YOUR LISTENING</a:t>
            </a:r>
            <a:endParaRPr kumimoji="0" sz="4400" b="1" i="0" u="none" strike="noStrike" kern="1200" cap="none" spc="0" normalizeH="0" baseline="0" noProof="0" dirty="0">
              <a:ln>
                <a:noFill/>
              </a:ln>
              <a:solidFill>
                <a:srgbClr val="101828"/>
              </a:solidFill>
              <a:effectLst/>
              <a:uLnTx/>
              <a:uFillTx/>
              <a:latin typeface="Calibri" panose="020F0502020204030204"/>
              <a:ea typeface="+mn-ea"/>
              <a:cs typeface="+mn-cs"/>
            </a:endParaRPr>
          </a:p>
        </p:txBody>
      </p:sp>
      <p:sp>
        <p:nvSpPr>
          <p:cNvPr id="28" name="TextBox 27"/>
          <p:cNvSpPr txBox="1"/>
          <p:nvPr/>
        </p:nvSpPr>
        <p:spPr>
          <a:xfrm>
            <a:off x="2880360" y="2679192"/>
            <a:ext cx="6446520" cy="411480"/>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2300" b="1" i="0" u="none" strike="noStrike" kern="1200" cap="none" spc="0" normalizeH="0" baseline="0" noProof="0">
                <a:ln>
                  <a:noFill/>
                </a:ln>
                <a:solidFill>
                  <a:srgbClr val="F97316"/>
                </a:solidFill>
                <a:effectLst/>
                <a:uLnTx/>
                <a:uFillTx/>
                <a:latin typeface="Calibri" panose="020F0502020204030204"/>
                <a:ea typeface="+mn-ea"/>
                <a:cs typeface="+mn-cs"/>
              </a:rPr>
              <a:t>Questions?</a:t>
            </a:r>
          </a:p>
        </p:txBody>
      </p:sp>
      <p:sp>
        <p:nvSpPr>
          <p:cNvPr id="29" name="Rectangle 28"/>
          <p:cNvSpPr/>
          <p:nvPr/>
        </p:nvSpPr>
        <p:spPr>
          <a:xfrm>
            <a:off x="3794760" y="3255264"/>
            <a:ext cx="960120" cy="3657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ectangle 29"/>
          <p:cNvSpPr/>
          <p:nvPr/>
        </p:nvSpPr>
        <p:spPr>
          <a:xfrm>
            <a:off x="4892040" y="3246120"/>
            <a:ext cx="2423160" cy="54864"/>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Rectangle 30"/>
          <p:cNvSpPr/>
          <p:nvPr/>
        </p:nvSpPr>
        <p:spPr>
          <a:xfrm>
            <a:off x="7452360" y="3255264"/>
            <a:ext cx="960120" cy="3657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TextBox 31"/>
          <p:cNvSpPr txBox="1"/>
          <p:nvPr/>
        </p:nvSpPr>
        <p:spPr>
          <a:xfrm>
            <a:off x="2743200" y="3611880"/>
            <a:ext cx="6720840" cy="320040"/>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700" b="1" i="0" u="none" strike="noStrike" kern="1200" cap="none" spc="0" normalizeH="0" baseline="0" noProof="0">
                <a:ln>
                  <a:noFill/>
                </a:ln>
                <a:solidFill>
                  <a:srgbClr val="101828"/>
                </a:solidFill>
                <a:effectLst/>
                <a:uLnTx/>
                <a:uFillTx/>
                <a:latin typeface="Calibri" panose="020F0502020204030204"/>
                <a:ea typeface="+mn-ea"/>
                <a:cs typeface="+mn-cs"/>
              </a:rPr>
              <a:t>SE 2226 Software Testing Project</a:t>
            </a:r>
          </a:p>
        </p:txBody>
      </p:sp>
      <p:sp>
        <p:nvSpPr>
          <p:cNvPr id="33" name="TextBox 32"/>
          <p:cNvSpPr txBox="1"/>
          <p:nvPr/>
        </p:nvSpPr>
        <p:spPr>
          <a:xfrm>
            <a:off x="2286000" y="3986784"/>
            <a:ext cx="7635240" cy="320040"/>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500" b="0" i="0" u="none" strike="noStrike" kern="1200" cap="none" spc="0" normalizeH="0" baseline="0" noProof="0">
                <a:ln>
                  <a:noFill/>
                </a:ln>
                <a:solidFill>
                  <a:srgbClr val="667085"/>
                </a:solidFill>
                <a:effectLst/>
                <a:uLnTx/>
                <a:uFillTx/>
                <a:latin typeface="Calibri" panose="020F0502020204030204"/>
                <a:ea typeface="+mn-ea"/>
                <a:cs typeface="+mn-cs"/>
              </a:rPr>
              <a:t>OrangeHRM Automation + Quality Evaluation</a:t>
            </a:r>
          </a:p>
        </p:txBody>
      </p:sp>
      <p:sp>
        <p:nvSpPr>
          <p:cNvPr id="34" name="TextBox 33"/>
          <p:cNvSpPr txBox="1"/>
          <p:nvPr/>
        </p:nvSpPr>
        <p:spPr>
          <a:xfrm>
            <a:off x="1600200" y="4663440"/>
            <a:ext cx="9006840" cy="292608"/>
          </a:xfrm>
          <a:prstGeom prst="rect">
            <a:avLst/>
          </a:prstGeom>
          <a:noFill/>
        </p:spPr>
        <p:txBody>
          <a:bodyPr wrap="none" lIns="0" tIns="0" rIns="0" bIns="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250" b="0" i="0" u="none" strike="noStrike" kern="1200" cap="none" spc="0" normalizeH="0" baseline="0" noProof="0">
                <a:ln>
                  <a:noFill/>
                </a:ln>
                <a:solidFill>
                  <a:srgbClr val="667085"/>
                </a:solidFill>
                <a:effectLst/>
                <a:uLnTx/>
                <a:uFillTx/>
                <a:latin typeface="Calibri" panose="020F0502020204030204"/>
                <a:ea typeface="+mn-ea"/>
                <a:cs typeface="+mn-cs"/>
              </a:rPr>
              <a:t>Deniz Berfin Acar  •  Aslı Zeynep Akhan  •  Helin Güler  •  Şevval Demir</a:t>
            </a:r>
          </a:p>
        </p:txBody>
      </p:sp>
    </p:spTree>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1330</TotalTime>
  <Words>2378</Words>
  <Application>Microsoft Office PowerPoint</Application>
  <PresentationFormat>Geniş ekran</PresentationFormat>
  <Paragraphs>507</Paragraphs>
  <Slides>19</Slides>
  <Notes>14</Notes>
  <HiddenSlides>0</HiddenSlides>
  <MMClips>0</MMClips>
  <ScaleCrop>false</ScaleCrop>
  <HeadingPairs>
    <vt:vector size="6" baseType="variant">
      <vt:variant>
        <vt:lpstr>Kullanılan Yazı Tipleri</vt:lpstr>
      </vt:variant>
      <vt:variant>
        <vt:i4>6</vt:i4>
      </vt:variant>
      <vt:variant>
        <vt:lpstr>Tema</vt:lpstr>
      </vt:variant>
      <vt:variant>
        <vt:i4>1</vt:i4>
      </vt:variant>
      <vt:variant>
        <vt:lpstr>Slayt Başlıkları</vt:lpstr>
      </vt:variant>
      <vt:variant>
        <vt:i4>19</vt:i4>
      </vt:variant>
    </vt:vector>
  </HeadingPairs>
  <TitlesOfParts>
    <vt:vector size="26" baseType="lpstr">
      <vt:lpstr>Aptos</vt:lpstr>
      <vt:lpstr>Arial</vt:lpstr>
      <vt:lpstr>Calibri</vt:lpstr>
      <vt:lpstr>Calibri Light</vt:lpstr>
      <vt:lpstr>Courier New</vt:lpstr>
      <vt:lpstr>Google Sans Text</vt:lpstr>
      <vt:lpstr>Office Teması</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Yaşar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 2226 Software Testing Project</dc:title>
  <dc:subject>SE 2226 Software Testing Project Presentation</dc:subject>
  <dc:creator>OpenAI</dc:creator>
  <cp:lastModifiedBy>DENİZ BERFİN ACAR</cp:lastModifiedBy>
  <cp:revision>22</cp:revision>
  <dcterms:created xsi:type="dcterms:W3CDTF">2026-05-02T17:06:41Z</dcterms:created>
  <dcterms:modified xsi:type="dcterms:W3CDTF">2026-05-04T16:42:57Z</dcterms:modified>
</cp:coreProperties>
</file>